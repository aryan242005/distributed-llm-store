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ccb0d69f514a2b" /><Relationship Type="http://schemas.openxmlformats.org/officeDocument/2006/relationships/extended-properties" Target="/docProps/app.xml" Id="Ra758d9b550274608" /><Relationship Type="http://schemas.openxmlformats.org/officeDocument/2006/relationships/officeDocument" Target="/ppt/presentation.xml" Id="R7d76f49c78184853" /></Relationships>
</file>

<file path=ppt/presentation.xml><?xml version="1.0" encoding="utf-8"?>
<p:presentation xmlns:p="http://schemas.openxmlformats.org/presentationml/2006/main">
  <p:sldMasterIdLst>
    <p:sldMasterId xmlns:r="http://schemas.openxmlformats.org/officeDocument/2006/relationships" id="2147483648" r:id="R86e787fe162a499e"/>
  </p:sldMasterIdLst>
  <p:notesMasterIdLst>
    <p:notesMasterId xmlns:r="http://schemas.openxmlformats.org/officeDocument/2006/relationships" r:id="R849e190422d84d7b"/>
  </p:notesMasterIdLst>
  <p:sldIdLst>
    <p:sldId xmlns:r="http://schemas.openxmlformats.org/officeDocument/2006/relationships" id="256" r:id="Rbde8c7744c9c4480"/>
    <p:sldId xmlns:r="http://schemas.openxmlformats.org/officeDocument/2006/relationships" id="257" r:id="R2c22244febd54d3b"/>
    <p:sldId xmlns:r="http://schemas.openxmlformats.org/officeDocument/2006/relationships" id="258" r:id="Rcbd5278b4c1a4a34"/>
    <p:sldId xmlns:r="http://schemas.openxmlformats.org/officeDocument/2006/relationships" id="259" r:id="Rf7d5dcac9af44b95"/>
    <p:sldId xmlns:r="http://schemas.openxmlformats.org/officeDocument/2006/relationships" id="260" r:id="R77f055c2f15f4902"/>
    <p:sldId xmlns:r="http://schemas.openxmlformats.org/officeDocument/2006/relationships" id="261" r:id="R29d9e7dae8d34e93"/>
    <p:sldId xmlns:r="http://schemas.openxmlformats.org/officeDocument/2006/relationships" id="262" r:id="R06f20c0aa3e94c19"/>
    <p:sldId xmlns:r="http://schemas.openxmlformats.org/officeDocument/2006/relationships" id="263" r:id="R096699e06a76448c"/>
    <p:sldId xmlns:r="http://schemas.openxmlformats.org/officeDocument/2006/relationships" id="264" r:id="Rfc4abe4aee3d4f88"/>
    <p:sldId xmlns:r="http://schemas.openxmlformats.org/officeDocument/2006/relationships" id="265" r:id="Rd10296adc9594e57"/>
    <p:sldId xmlns:r="http://schemas.openxmlformats.org/officeDocument/2006/relationships" id="266" r:id="R562631de870041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1e0815ec6049d8" /><Relationship Type="http://schemas.openxmlformats.org/officeDocument/2006/relationships/slideMaster" Target="/ppt/slideMasters/slideMaster1.xml" Id="R86e787fe162a499e" /><Relationship Type="http://schemas.openxmlformats.org/officeDocument/2006/relationships/notesMaster" Target="/ppt/notesMasters/notesMaster1.xml" Id="R849e190422d84d7b" /><Relationship Type="http://schemas.openxmlformats.org/officeDocument/2006/relationships/presProps" Target="/ppt/presProps.xml" Id="R36618546c1534c10" /><Relationship Type="http://schemas.openxmlformats.org/officeDocument/2006/relationships/tableStyles" Target="/ppt/tableStyles.xml" Id="R446bfb42064c4339" /><Relationship Type="http://schemas.openxmlformats.org/officeDocument/2006/relationships/slide" Target="/ppt/slides/slide1.xml" Id="Rbde8c7744c9c4480" /><Relationship Type="http://schemas.openxmlformats.org/officeDocument/2006/relationships/slide" Target="/ppt/slides/slide2.xml" Id="R2c22244febd54d3b" /><Relationship Type="http://schemas.openxmlformats.org/officeDocument/2006/relationships/slide" Target="/ppt/slides/slide3.xml" Id="Rcbd5278b4c1a4a34" /><Relationship Type="http://schemas.openxmlformats.org/officeDocument/2006/relationships/slide" Target="/ppt/slides/slide4.xml" Id="Rf7d5dcac9af44b95" /><Relationship Type="http://schemas.openxmlformats.org/officeDocument/2006/relationships/slide" Target="/ppt/slides/slide5.xml" Id="R77f055c2f15f4902" /><Relationship Type="http://schemas.openxmlformats.org/officeDocument/2006/relationships/slide" Target="/ppt/slides/slide6.xml" Id="R29d9e7dae8d34e93" /><Relationship Type="http://schemas.openxmlformats.org/officeDocument/2006/relationships/slide" Target="/ppt/slides/slide7.xml" Id="R06f20c0aa3e94c19" /><Relationship Type="http://schemas.openxmlformats.org/officeDocument/2006/relationships/slide" Target="/ppt/slides/slide8.xml" Id="R096699e06a76448c" /><Relationship Type="http://schemas.openxmlformats.org/officeDocument/2006/relationships/slide" Target="/ppt/slides/slide9.xml" Id="Rfc4abe4aee3d4f88" /><Relationship Type="http://schemas.openxmlformats.org/officeDocument/2006/relationships/slide" Target="/ppt/slides/slide10.xml" Id="Rd10296adc9594e57" /><Relationship Type="http://schemas.openxmlformats.org/officeDocument/2006/relationships/slide" Target="/ppt/slides/slide11.xml" Id="R562631de870041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c50fe3c0e748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odel Repository">
      <a:dk1>
        <a:srgbClr val="000000"/>
      </a:dk1>
      <a:lt1>
        <a:srgbClr val="FFFFFF"/>
      </a:lt1>
      <a:dk2>
        <a:srgbClr val="0A1220"/>
      </a:dk2>
      <a:lt2>
        <a:srgbClr val="E5EEF4"/>
      </a:lt2>
      <a:accent1>
        <a:srgbClr val="27D3B2"/>
      </a:accent1>
      <a:accent2>
        <a:srgbClr val="F4B860"/>
      </a:accent2>
      <a:accent3>
        <a:srgbClr val="6FB7FF"/>
      </a:accent3>
      <a:accent4>
        <a:srgbClr val="B5A2FF"/>
      </a:accent4>
      <a:accent5>
        <a:srgbClr val="F17676"/>
      </a:accent5>
      <a:accent6>
        <a:srgbClr val="FFFFFF"/>
      </a:accent6>
      <a:hlink>
        <a:srgbClr val="27D3B2"/>
      </a:hlink>
      <a:folHlink>
        <a:srgbClr val="B5A2FF"/>
      </a:folHlink>
    </a:clrScheme>
    <a:fontScheme name="">
      <a:majorFont>
        <a:latin typeface="Aptos"/>
        <a:ea typeface=""/>
        <a:cs typeface=""/>
      </a:majorFont>
      <a:minorFont>
        <a:latin typeface="Aptos"/>
        <a:ea typeface=""/>
        <a:cs typeface=""/>
      </a:minorFont>
    </a:fontScheme>
    <a:fmtScheme name="Model Repositor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e44780c3504b38" /><Relationship Type="http://schemas.openxmlformats.org/officeDocument/2006/relationships/notesMaster" Target="/ppt/notesMasters/notesMaster1.xml" Id="R39830f690dee4c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4ea83fca954f1d" /><Relationship Type="http://schemas.openxmlformats.org/officeDocument/2006/relationships/notesMaster" Target="/ppt/notesMasters/notesMaster1.xml" Id="Ra645ce8b950c40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d653a8c25e4fec" /><Relationship Type="http://schemas.openxmlformats.org/officeDocument/2006/relationships/notesMaster" Target="/ppt/notesMasters/notesMaster1.xml" Id="Rd65d9f0f48d542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a972e5ceef4186" /><Relationship Type="http://schemas.openxmlformats.org/officeDocument/2006/relationships/notesMaster" Target="/ppt/notesMasters/notesMaster1.xml" Id="R57dc3b7c33b046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dc1f118a234850" /><Relationship Type="http://schemas.openxmlformats.org/officeDocument/2006/relationships/notesMaster" Target="/ppt/notesMasters/notesMaster1.xml" Id="R05f6737319ad4d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11865dbeb4456e" /><Relationship Type="http://schemas.openxmlformats.org/officeDocument/2006/relationships/notesMaster" Target="/ppt/notesMasters/notesMaster1.xml" Id="R900279050a5a4f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a6066bfada44df" /><Relationship Type="http://schemas.openxmlformats.org/officeDocument/2006/relationships/notesMaster" Target="/ppt/notesMasters/notesMaster1.xml" Id="Rda4251104d4246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5f074da5f94d2a" /><Relationship Type="http://schemas.openxmlformats.org/officeDocument/2006/relationships/notesMaster" Target="/ppt/notesMasters/notesMaster1.xml" Id="R228b841fe63a48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40e2c8f69e4994" /><Relationship Type="http://schemas.openxmlformats.org/officeDocument/2006/relationships/notesMaster" Target="/ppt/notesMasters/notesMaster1.xml" Id="R0215b499f6c046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ae23435f1c4866" /><Relationship Type="http://schemas.openxmlformats.org/officeDocument/2006/relationships/notesMaster" Target="/ppt/notesMasters/notesMaster1.xml" Id="R8faf4b8c78274d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78c2c4ca8840ef" /><Relationship Type="http://schemas.openxmlformats.org/officeDocument/2006/relationships/notesMaster" Target="/ppt/notesMasters/notesMaster1.xml" Id="Red6f6837d8ad4b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a distributed storage prototype focused on streaming, integrity and replication. The sample generator creates synthetic test bytes; it does not download or contain real model weights.</a:t>
            </a:r>
          </a:p>
          <a:p xmlns:a="http://schemas.openxmlformats.org/drawingml/2006/main">
            <a:r>
              <a:t/>
            </a:r>
          </a:p>
          <a:p xmlns:a="http://schemas.openxmlformats.org/drawingml/2006/main">
            <a:r>
              <a:t>Project sources: D:/BTech/DS/DS_Project/README.md; D:/BTech/DS/DS_Project/docker-compose.yml; D:/BTech/DS/DS_Project/scripts/seed-sample-model.js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motivation without claiming this is production scale: the project is a working demonstration of the problems around large-file storage and replication.</a:t>
            </a:r>
          </a:p>
          <a:p xmlns:a="http://schemas.openxmlformats.org/drawingml/2006/main">
            <a:r>
              <a:t/>
            </a:r>
          </a:p>
          <a:p xmlns:a="http://schemas.openxmlformats.org/drawingml/2006/main">
            <a:r>
              <a:t>Project sources: D:/BTech/DS/DS_Project/README.md; D:/BTech/DS/DS_Project/backend/src/coordinator/coordinator.js; D:/BTech/DS/DS_Project/backend/src/storage/checksum.js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talks HTTP to the Coordinator. The Coordinator owns placement and metadata. Model bytes stream to a primary node, then the primary pushes replicas directly to peers over gRPC. PostgreSQL stores metadata; NATS carries lifecycle events.</a:t>
            </a:r>
          </a:p>
          <a:p xmlns:a="http://schemas.openxmlformats.org/drawingml/2006/main">
            <a:r>
              <a:t/>
            </a:r>
          </a:p>
          <a:p xmlns:a="http://schemas.openxmlformats.org/drawingml/2006/main">
            <a:r>
              <a:t>Project sources: D:/BTech/DS/DS_Project/README.md; D:/BTech/DS/DS_Project/backend/src/api/server.js; D:/BTech/DS/DS_Project/backend/src/coordinator/coordinator.js; D:/BTech/DS/DS_Project/backend/src/storage/storageNode.js; D:/BTech/DS/DS_Project/docker-compose.yml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node selector sorts online nodes using stored model count plus in-flight reservations, with used bytes as a tie-breaker. Replication factor defaults to three but is limited to online node count. The coordinator asynchronously asks the primary to replicate.</a:t>
            </a:r>
          </a:p>
          <a:p xmlns:a="http://schemas.openxmlformats.org/drawingml/2006/main">
            <a:r>
              <a:t/>
            </a:r>
          </a:p>
          <a:p xmlns:a="http://schemas.openxmlformats.org/drawingml/2006/main">
            <a:r>
              <a:t>Project sources: D:/BTech/DS/DS_Project/backend/src/coordinator/nodeSelector.js; D:/BTech/DS/DS_Project/backend/src/coordinator/coordinator.js; D:/BTech/DS/DS_Project/backend/src/replication/replicationManager.js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64 KB is the configuration default, overridable through CHUNK_SIZE. The coordinator, primary and replica nodes calculate streaming hashes. The helper exposes a comparison method, but the upload and replication flows do not call it: hashes are recorded, not mismatch-enforced. This supports bounded-memory transfer, not a throughput benchmark.</a:t>
            </a:r>
          </a:p>
          <a:p xmlns:a="http://schemas.openxmlformats.org/drawingml/2006/main">
            <a:r>
              <a:t/>
            </a:r>
          </a:p>
          <a:p xmlns:a="http://schemas.openxmlformats.org/drawingml/2006/main">
            <a:r>
              <a:t>Project sources: D:/BTech/DS/DS_Project/backend/src/config/config.js; D:/BTech/DS/DS_Project/backend/src/coordinator/coordinator.js; D:/BTech/DS/DS_Project/backend/src/storage/storageNode.js; D:/BTech/DS/DS_Project/backend/src/storage/checksum.js; D:/BTech/DS/DS_Project/backend/src/storage/fileManager.js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actual behavior: health poll interval is five seconds. The download router uses round robin across available synced replicas and can skip offline nodes. The README explicitly says there is no automatic re-replication after permanent node loss.</a:t>
            </a:r>
          </a:p>
          <a:p xmlns:a="http://schemas.openxmlformats.org/drawingml/2006/main">
            <a:r>
              <a:t/>
            </a:r>
          </a:p>
          <a:p xmlns:a="http://schemas.openxmlformats.org/drawingml/2006/main">
            <a:r>
              <a:t>Project sources: D:/BTech/DS/DS_Project/backend/src/coordinator/coordinator.js; D:/BTech/DS/DS_Project/backend/src/coordinator/nodeSelector.js; D:/BTech/DS/DS_Project/backend/src/coordinator/requestRouter.js; D:/BTech/DS/DS_Project/README.md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 contract defines client streaming StoreChunkStream, server streaming RetrieveChunkStream, unary control and health RPCs, and ReplicateToNode. NATS event names include node.events, system.events and replication.events. Communication log is displayed on the Requests page.</a:t>
            </a:r>
          </a:p>
          <a:p xmlns:a="http://schemas.openxmlformats.org/drawingml/2006/main">
            <a:r>
              <a:t/>
            </a:r>
          </a:p>
          <a:p xmlns:a="http://schemas.openxmlformats.org/drawingml/2006/main">
            <a:r>
              <a:t>Project sources: D:/BTech/DS/DS_Project/proto/storage.proto; D:/BTech/DS/DS_Project/backend/src/communication/nats/natsClient.js; D:/BTech/DS/DS_Project/backend/src/communication/logger.js; D:/BTech/DS/DS_Project/frontend/src/pages/Requests.jsx; D:/BTech/DS/DS_Project/README.md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actual React routes and UI pages. Do not claim a captured live screenshot or sample values; it is a product map rather than runtime evidence.</a:t>
            </a:r>
          </a:p>
          <a:p xmlns:a="http://schemas.openxmlformats.org/drawingml/2006/main">
            <a:r>
              <a:t/>
            </a:r>
          </a:p>
          <a:p xmlns:a="http://schemas.openxmlformats.org/drawingml/2006/main">
            <a:r>
              <a:t>Project sources: D:/BTech/DS/DS_Project/frontend/src/App.jsx; D:/BTech/DS/DS_Project/frontend/src/pages/Dashboard.jsx; D:/BTech/DS/DS_Project/frontend/src/pages/Models.jsx; D:/BTech/DS/DS_Project/frontend/src/pages/StorageNodes.jsx; D:/BTech/DS/DS_Project/frontend/src/pages/Replication.jsx; D:/BTech/DS/DS_Project/frontend/src/pages/Requests.jsx; D:/BTech/DS/DS_Project/frontend/src/pages/UploadModel.jsx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Docker's role: the same backend image is run with different commands/env vars for the coordinator and three identical node instances; Compose DNS names wire the services. The frontend is built separately. `docker compose down` stops containers but keeps the named volume and bind-mounted node files; avoid -v unless deletion is intended.</a:t>
            </a:r>
          </a:p>
          <a:p xmlns:a="http://schemas.openxmlformats.org/drawingml/2006/main">
            <a:r>
              <a:t/>
            </a:r>
          </a:p>
          <a:p xmlns:a="http://schemas.openxmlformats.org/drawingml/2006/main">
            <a:r>
              <a:t>Project sources: D:/BTech/DS/DS_Project/docker-compose.yml; D:/BTech/DS/DS_Project/backend/Dockerfile; D:/BTech/DS/DS_Project/frontend/Dockerfile; D:/BTech/DS/DS_Project/README.md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steps mirror the README and the seed script. The script creates a 5 MB synthetic payload, uploads it with replication factor three, and prints the returned model ID, primary and replica nodes, and checksum. Actual result depends on a successful run; do not state benchmark values.</a:t>
            </a:r>
          </a:p>
          <a:p xmlns:a="http://schemas.openxmlformats.org/drawingml/2006/main">
            <a:r>
              <a:t/>
            </a:r>
          </a:p>
          <a:p xmlns:a="http://schemas.openxmlformats.org/drawingml/2006/main">
            <a:r>
              <a:t>Project sources: D:/BTech/DS/DS_Project/README.md; D:/BTech/DS/DS_Project/scripts/seed-sample-model.js; D:/BTech/DS/DS_Project/frontend/src/pages/UploadModel.jsx; D:/BTech/DS/DS_Project/frontend/src/pages/Replication.jsx; D:/BTech/DS/DS_Project/frontend/src/pages/Requests.jsx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implemented behavior from future work. The README describes checksum verification, but source inspection found that the upload path calculates coordinator and node hashes without comparing them, while replication records the target hash without rejecting a mismatch. This deck describes the implementation accurately. The repository contains Docker Compose but no Kubernetes manifests.</a:t>
            </a:r>
          </a:p>
          <a:p xmlns:a="http://schemas.openxmlformats.org/drawingml/2006/main">
            <a:r>
              <a:t/>
            </a:r>
          </a:p>
          <a:p xmlns:a="http://schemas.openxmlformats.org/drawingml/2006/main">
            <a:r>
              <a:t>Project sources: D:/BTech/DS/DS_Project/README.md; D:/BTech/DS/DS_Project/backend/src/coordinator/coordinator.js; D:/BTech/DS/DS_Project/backend/src/coordinator/requestRouter.js; D:/BTech/DS/DS_Project/docker-compose.yml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76511cc64941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a4fcbf0f6c46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3fe8ef713d44d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e2b3280d7042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cb74efd01442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3e31f6827e4c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25158C-89C8-4758-A224-8DAE38954A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436209-6C2B-4ECF-96E9-367EF22E88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9D74AC9-6434-4318-8FCB-5145594E715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EB1B78-0692-4154-8506-12CBABE6CE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2787E5C-3C22-4C4D-926C-5497C6385D4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8ADCC4-5291-4A37-829C-6972B3EEDA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31CD56-7640-4725-AE7A-B6BA042BA9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6C65094-DA3D-43E8-A0A8-0295A0DA65C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471FC7-22DC-4ED4-B4E4-4083BA4FA3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14DE83-D395-4553-9027-1D016DB1EA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c1c2b368954513" /><Relationship Type="http://schemas.openxmlformats.org/officeDocument/2006/relationships/slideLayout" Target="/ppt/slideLayouts/slideLayout1.xml" Id="Rdd98b041c1904134" /><Relationship Type="http://schemas.openxmlformats.org/officeDocument/2006/relationships/slideLayout" Target="/ppt/slideLayouts/slideLayout2.xml" Id="R4da9169472f2411b" /><Relationship Type="http://schemas.openxmlformats.org/officeDocument/2006/relationships/slideLayout" Target="/ppt/slideLayouts/slideLayout3.xml" Id="R45542e1c6682447b" /><Relationship Type="http://schemas.openxmlformats.org/officeDocument/2006/relationships/slideLayout" Target="/ppt/slideLayouts/slideLayout4.xml" Id="R0b4ef419d5af4a7f" /><Relationship Type="http://schemas.openxmlformats.org/officeDocument/2006/relationships/slideLayout" Target="/ppt/slideLayouts/slideLayout5.xml" Id="Rca7c92513a33488c" /><Relationship Type="http://schemas.openxmlformats.org/officeDocument/2006/relationships/slideLayout" Target="/ppt/slideLayouts/slideLayout6.xml" Id="R1df3d37b1edc43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98b041c1904134"/>
    <p:sldLayoutId xmlns:r="http://schemas.openxmlformats.org/officeDocument/2006/relationships" id="2147483650" r:id="R4da9169472f2411b"/>
    <p:sldLayoutId xmlns:r="http://schemas.openxmlformats.org/officeDocument/2006/relationships" id="2147483651" r:id="R45542e1c6682447b"/>
    <p:sldLayoutId xmlns:r="http://schemas.openxmlformats.org/officeDocument/2006/relationships" id="2147483652" r:id="R0b4ef419d5af4a7f"/>
    <p:sldLayoutId xmlns:r="http://schemas.openxmlformats.org/officeDocument/2006/relationships" id="2147483653" r:id="Rca7c92513a33488c"/>
    <p:sldLayoutId xmlns:r="http://schemas.openxmlformats.org/officeDocument/2006/relationships" id="2147483654" r:id="R1df3d37b1edc43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odel Repository">
      <a:dk1>
        <a:srgbClr val="000000"/>
      </a:dk1>
      <a:lt1>
        <a:srgbClr val="FFFFFF"/>
      </a:lt1>
      <a:dk2>
        <a:srgbClr val="0A1220"/>
      </a:dk2>
      <a:lt2>
        <a:srgbClr val="E5EEF4"/>
      </a:lt2>
      <a:accent1>
        <a:srgbClr val="27D3B2"/>
      </a:accent1>
      <a:accent2>
        <a:srgbClr val="F4B860"/>
      </a:accent2>
      <a:accent3>
        <a:srgbClr val="6FB7FF"/>
      </a:accent3>
      <a:accent4>
        <a:srgbClr val="B5A2FF"/>
      </a:accent4>
      <a:accent5>
        <a:srgbClr val="F17676"/>
      </a:accent5>
      <a:accent6>
        <a:srgbClr val="FFFFFF"/>
      </a:accent6>
      <a:hlink>
        <a:srgbClr val="27D3B2"/>
      </a:hlink>
      <a:folHlink>
        <a:srgbClr val="B5A2FF"/>
      </a:folHlink>
    </a:clrScheme>
    <a:fontScheme name="">
      <a:majorFont>
        <a:latin typeface="Aptos"/>
        <a:ea typeface=""/>
        <a:cs typeface=""/>
      </a:majorFont>
      <a:minorFont>
        <a:latin typeface="Aptos"/>
        <a:ea typeface=""/>
        <a:cs typeface=""/>
      </a:minorFont>
    </a:fontScheme>
    <a:fmtScheme name="Model Repositor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536f1bab8a4a91" /><Relationship Type="http://schemas.openxmlformats.org/officeDocument/2006/relationships/notesSlide" Target="/ppt/notesSlides/notesSlide1.xml" Id="R0b7e7a38ff1641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a96033700634947" /><Relationship Type="http://schemas.openxmlformats.org/officeDocument/2006/relationships/notesSlide" Target="/ppt/notesSlides/notesSlide2.xml" Id="Rfdfd5a444f434b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42c1f17e6354b76" /><Relationship Type="http://schemas.openxmlformats.org/officeDocument/2006/relationships/notesSlide" Target="/ppt/notesSlides/notesSlide3.xml" Id="R0a83a05437a749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f469a328ea410b" /><Relationship Type="http://schemas.openxmlformats.org/officeDocument/2006/relationships/notesSlide" Target="/ppt/notesSlides/notesSlide4.xml" Id="R668253a228bf49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77340e3754847bc" /><Relationship Type="http://schemas.openxmlformats.org/officeDocument/2006/relationships/notesSlide" Target="/ppt/notesSlides/notesSlide5.xml" Id="Rbf1666f7e81843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c02a50247f433e" /><Relationship Type="http://schemas.openxmlformats.org/officeDocument/2006/relationships/notesSlide" Target="/ppt/notesSlides/notesSlide6.xml" Id="Re78fe47ef4e841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cc80163beb646ce" /><Relationship Type="http://schemas.openxmlformats.org/officeDocument/2006/relationships/notesSlide" Target="/ppt/notesSlides/notesSlide7.xml" Id="Rae24985f1d4a4b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a41b69e64f4f70" /><Relationship Type="http://schemas.openxmlformats.org/officeDocument/2006/relationships/notesSlide" Target="/ppt/notesSlides/notesSlide8.xml" Id="R4ca897181aed46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ea5342fed164afb" /><Relationship Type="http://schemas.openxmlformats.org/officeDocument/2006/relationships/notesSlide" Target="/ppt/notesSlides/notesSlide9.xml" Id="R2b34995fec6b41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c8795635b6448dc" /><Relationship Type="http://schemas.openxmlformats.org/officeDocument/2006/relationships/notesSlide" Target="/ppt/notesSlides/notesSlide10.xml" Id="Racc416a08d5e4e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5fc8c289c5b4e80" /><Relationship Type="http://schemas.openxmlformats.org/officeDocument/2006/relationships/notesSlide" Target="/ppt/notesSlides/notesSlide11.xml" Id="R39bd50917105407e" /></Relationships>
</file>

<file path=ppt/slides/slide1.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cxnSp>
        <p:nvCxnSpPr>
          <p:cNvPr id="29" name="">
            <a:extLst xmlns:a="http://schemas.openxmlformats.org/drawingml/2006/main">
              <a:ext uri="{FF2B5EF4-FFF2-40B4-BE49-F238E27FC236}">
                <a16:creationId xmlns:a16="http://schemas.microsoft.com/office/drawing/2014/main" id="{F6272356-D1C8-4340-B25A-598E0D18CAB6}"/>
              </a:ext>
            </a:extLst>
          </p:cNvPr>
          <p:cNvCxnSpPr>
            <a:stCxn xmlns:a="http://schemas.openxmlformats.org/drawingml/2006/main" id="15" idx="2"/>
            <a:endCxn xmlns:a="http://schemas.openxmlformats.org/drawingml/2006/main" id="23" idx="0"/>
          </p:cNvCxnSpPr>
          <p:nvPr/>
        </p:nvCxnSpPr>
        <p:spPr>
          <a:xfrm xmlns:a="http://schemas.openxmlformats.org/drawingml/2006/main">
            <a:off x="9129713" y="4314825"/>
            <a:ext cx="742950" cy="371475"/>
          </a:xfrm>
          <a:prstGeom xmlns:a="http://schemas.openxmlformats.org/drawingml/2006/main" prst="straightConnector1">
            <a:avLst/>
          </a:prstGeom>
          <a:ln xmlns:a="http://schemas.openxmlformats.org/drawingml/2006/main" w="19050">
            <a:solidFill>
              <a:srgbClr val="6FB7FF"/>
            </a:solidFill>
            <a:prstDash val="solid"/>
            <a:tailEnd type="triangle" w="sm" len="sm"/>
          </a:ln>
        </p:spPr>
      </p:cxnSp>
      <p:cxnSp>
        <p:nvCxnSpPr>
          <p:cNvPr id="28" name="">
            <a:extLst xmlns:a="http://schemas.openxmlformats.org/drawingml/2006/main">
              <a:ext uri="{FF2B5EF4-FFF2-40B4-BE49-F238E27FC236}">
                <a16:creationId xmlns:a16="http://schemas.microsoft.com/office/drawing/2014/main" id="{E24D1CFD-D78B-4331-97BC-8CF4D34896D8}"/>
              </a:ext>
            </a:extLst>
          </p:cNvPr>
          <p:cNvCxnSpPr>
            <a:stCxn xmlns:a="http://schemas.openxmlformats.org/drawingml/2006/main" id="15" idx="3"/>
            <a:endCxn xmlns:a="http://schemas.openxmlformats.org/drawingml/2006/main" id="19" idx="1"/>
          </p:cNvCxnSpPr>
          <p:nvPr/>
        </p:nvCxnSpPr>
        <p:spPr>
          <a:xfrm xmlns:a="http://schemas.openxmlformats.org/drawingml/2006/main">
            <a:off x="9782175" y="3919538"/>
            <a:ext cx="190500" cy="0"/>
          </a:xfrm>
          <a:prstGeom xmlns:a="http://schemas.openxmlformats.org/drawingml/2006/main" prst="straightConnector1">
            <a:avLst/>
          </a:prstGeom>
          <a:ln xmlns:a="http://schemas.openxmlformats.org/drawingml/2006/main" w="19050">
            <a:solidFill>
              <a:srgbClr val="27D3B2"/>
            </a:solidFill>
            <a:prstDash val="solid"/>
            <a:tailEnd type="triangle" w="sm" len="sm"/>
          </a:ln>
        </p:spPr>
      </p:cxnSp>
      <p:cxnSp>
        <p:nvCxnSpPr>
          <p:cNvPr id="27" name="">
            <a:extLst xmlns:a="http://schemas.openxmlformats.org/drawingml/2006/main">
              <a:ext uri="{FF2B5EF4-FFF2-40B4-BE49-F238E27FC236}">
                <a16:creationId xmlns:a16="http://schemas.microsoft.com/office/drawing/2014/main" id="{59996C7E-BA2F-42C2-92D3-584AD970504B}"/>
              </a:ext>
            </a:extLst>
          </p:cNvPr>
          <p:cNvCxnSpPr>
            <a:stCxn xmlns:a="http://schemas.openxmlformats.org/drawingml/2006/main" id="11" idx="2"/>
            <a:endCxn xmlns:a="http://schemas.openxmlformats.org/drawingml/2006/main" id="15" idx="0"/>
          </p:cNvCxnSpPr>
          <p:nvPr/>
        </p:nvCxnSpPr>
        <p:spPr>
          <a:xfrm xmlns:a="http://schemas.openxmlformats.org/drawingml/2006/main" flipH="1">
            <a:off x="9129713" y="2686050"/>
            <a:ext cx="1038225" cy="838200"/>
          </a:xfrm>
          <a:prstGeom xmlns:a="http://schemas.openxmlformats.org/drawingml/2006/main" prst="straightConnector1">
            <a:avLst/>
          </a:prstGeom>
          <a:ln xmlns:a="http://schemas.openxmlformats.org/drawingml/2006/main" w="19050">
            <a:solidFill>
              <a:srgbClr val="F4B860"/>
            </a:solidFill>
            <a:prstDash val="solid"/>
            <a:tailEnd type="triangle" w="sm" len="sm"/>
          </a:ln>
        </p:spPr>
      </p:cxnSp>
      <p:sp>
        <p:nvSpPr>
          <p:cNvPr id="32" name="">
            <a:extLst xmlns:a="http://schemas.openxmlformats.org/drawingml/2006/main">
              <a:ext uri="{FF2B5EF4-FFF2-40B4-BE49-F238E27FC236}">
                <a16:creationId xmlns:a16="http://schemas.microsoft.com/office/drawing/2014/main" id="{25BF0863-1EDC-4023-BDF6-7FE3E820458B}"/>
              </a:ext>
            </a:extLst>
          </p:cNvPr>
          <p:cNvSpPr>
            <a:spLocks xmlns:a="http://schemas.openxmlformats.org/drawingml/2006/main" noGrp="1"/>
          </p:cNvSpPr>
          <p:nvPr/>
        </p:nvSpPr>
        <p:spPr>
          <a:xfrm xmlns:a="http://schemas.openxmlformats.org/drawingml/2006/main">
            <a:off x="781050" y="895350"/>
            <a:ext cx="5715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7D3B2"/>
                </a:solidFill>
                <a:latin typeface="Arial"/>
                <a:ea typeface="Arial"/>
                <a:cs typeface="Arial"/>
              </a:defRPr>
            </a:defPPr>
          </a:lstStyle>
          <a:p xmlns:a="http://schemas.openxmlformats.org/drawingml/2006/main">
            <a:pPr algn="l">
              <a:defRPr sz="975" b="1">
                <a:solidFill>
                  <a:srgbClr val="27D3B2"/>
                </a:solidFill>
                <a:latin typeface="Arial"/>
                <a:ea typeface="Arial"/>
                <a:cs typeface="Arial"/>
              </a:defRPr>
            </a:pPr>
            <a:r>
              <a:rPr sz="975" b="1">
                <a:solidFill>
                  <a:srgbClr val="27D3B2"/>
                </a:solidFill>
                <a:latin typeface="Arial"/>
                <a:ea typeface="Arial"/>
                <a:cs typeface="Arial"/>
              </a:rPr>
              <a:t>DISTRIBUTED SYSTEMS PROJECT</a:t>
            </a:r>
          </a:p>
        </p:txBody>
      </p:sp>
      <p:sp>
        <p:nvSpPr>
          <p:cNvPr id="2" name="">
            <a:extLst xmlns:a="http://schemas.openxmlformats.org/drawingml/2006/main">
              <a:ext uri="{FF2B5EF4-FFF2-40B4-BE49-F238E27FC236}">
                <a16:creationId xmlns:a16="http://schemas.microsoft.com/office/drawing/2014/main" id="{5823B095-6AD8-4B75-80A4-85AEDB4A5173}"/>
              </a:ext>
            </a:extLst>
          </p:cNvPr>
          <p:cNvSpPr>
            <a:spLocks xmlns:a="http://schemas.openxmlformats.org/drawingml/2006/main" noGrp="1"/>
          </p:cNvSpPr>
          <p:nvPr/>
        </p:nvSpPr>
        <p:spPr>
          <a:xfrm xmlns:a="http://schemas.openxmlformats.org/drawingml/2006/main">
            <a:off x="742950" y="1381125"/>
            <a:ext cx="7334250"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F3F7FA"/>
                </a:solidFill>
                <a:latin typeface="Arial"/>
                <a:ea typeface="Arial"/>
                <a:cs typeface="Arial"/>
              </a:defRPr>
            </a:defPPr>
          </a:lstStyle>
          <a:p xmlns:a="http://schemas.openxmlformats.org/drawingml/2006/main">
            <a:pPr algn="l">
              <a:defRPr sz="4950" b="1">
                <a:solidFill>
                  <a:srgbClr val="F3F7FA"/>
                </a:solidFill>
                <a:latin typeface="Arial"/>
                <a:ea typeface="Arial"/>
                <a:cs typeface="Arial"/>
              </a:defRPr>
            </a:pPr>
            <a:r>
              <a:rPr sz="4950" b="1">
                <a:solidFill>
                  <a:srgbClr val="F3F7FA"/>
                </a:solidFill>
                <a:latin typeface="Arial"/>
                <a:ea typeface="Arial"/>
                <a:cs typeface="Arial"/>
              </a:rPr>
              <a:t>Distributed</a:t>
            </a:r>
          </a:p>
          <a:p xmlns:a="http://schemas.openxmlformats.org/drawingml/2006/main">
            <a:pPr algn="l">
              <a:defRPr sz="4950" b="1">
                <a:solidFill>
                  <a:srgbClr val="F3F7FA"/>
                </a:solidFill>
                <a:latin typeface="Arial"/>
                <a:ea typeface="Arial"/>
                <a:cs typeface="Arial"/>
              </a:defRPr>
            </a:pPr>
            <a:r>
              <a:rPr sz="4950" b="1">
                <a:solidFill>
                  <a:srgbClr val="F3F7FA"/>
                </a:solidFill>
                <a:latin typeface="Arial"/>
                <a:ea typeface="Arial"/>
                <a:cs typeface="Arial"/>
              </a:rPr>
              <a:t>Model Repository</a:t>
            </a:r>
          </a:p>
        </p:txBody>
      </p:sp>
      <p:sp>
        <p:nvSpPr>
          <p:cNvPr id="3" name="">
            <a:extLst xmlns:a="http://schemas.openxmlformats.org/drawingml/2006/main">
              <a:ext uri="{FF2B5EF4-FFF2-40B4-BE49-F238E27FC236}">
                <a16:creationId xmlns:a16="http://schemas.microsoft.com/office/drawing/2014/main" id="{6A555168-36C1-4ADF-BEB8-ABFF8D9B7DD6}"/>
              </a:ext>
            </a:extLst>
          </p:cNvPr>
          <p:cNvSpPr>
            <a:spLocks xmlns:a="http://schemas.openxmlformats.org/drawingml/2006/main" noGrp="1"/>
          </p:cNvSpPr>
          <p:nvPr/>
        </p:nvSpPr>
        <p:spPr>
          <a:xfrm xmlns:a="http://schemas.openxmlformats.org/drawingml/2006/main">
            <a:off x="790575" y="3257550"/>
            <a:ext cx="685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A8BDCC"/>
                </a:solidFill>
                <a:latin typeface="Arial"/>
                <a:ea typeface="Arial"/>
                <a:cs typeface="Arial"/>
              </a:defRPr>
            </a:defPPr>
          </a:lstStyle>
          <a:p xmlns:a="http://schemas.openxmlformats.org/drawingml/2006/main">
            <a:pPr algn="l">
              <a:defRPr sz="1875" b="0">
                <a:solidFill>
                  <a:srgbClr val="A8BDCC"/>
                </a:solidFill>
                <a:latin typeface="Arial"/>
                <a:ea typeface="Arial"/>
                <a:cs typeface="Arial"/>
              </a:defRPr>
            </a:pPr>
            <a:r>
              <a:rPr sz="1875" b="0">
                <a:solidFill>
                  <a:srgbClr val="A8BDCC"/>
                </a:solidFill>
                <a:latin typeface="Arial"/>
                <a:ea typeface="Arial"/>
                <a:cs typeface="Arial"/>
              </a:rPr>
              <a:t>Streaming storage and replication for machine learning model files</a:t>
            </a:r>
          </a:p>
        </p:txBody>
      </p:sp>
      <p:sp>
        <p:nvSpPr>
          <p:cNvPr id="4" name="">
            <a:extLst xmlns:a="http://schemas.openxmlformats.org/drawingml/2006/main">
              <a:ext uri="{FF2B5EF4-FFF2-40B4-BE49-F238E27FC236}">
                <a16:creationId xmlns:a16="http://schemas.microsoft.com/office/drawing/2014/main" id="{50B58F75-48A6-4F51-9E73-E606EA140882}"/>
              </a:ext>
            </a:extLst>
          </p:cNvPr>
          <p:cNvSpPr>
            <a:spLocks xmlns:a="http://schemas.openxmlformats.org/drawingml/2006/main" noGrp="1"/>
          </p:cNvSpPr>
          <p:nvPr/>
        </p:nvSpPr>
        <p:spPr>
          <a:xfrm xmlns:a="http://schemas.openxmlformats.org/drawingml/2006/main">
            <a:off x="790575" y="4257675"/>
            <a:ext cx="7620000" cy="0"/>
          </a:xfrm>
          <a:prstGeom xmlns:a="http://schemas.openxmlformats.org/drawingml/2006/main" prst="line">
            <a:avLst/>
          </a:prstGeom>
          <a:noFill xmlns:a="http://schemas.openxmlformats.org/drawingml/2006/main"/>
          <a:ln xmlns:a="http://schemas.openxmlformats.org/drawingml/2006/main" w="19050">
            <a:solidFill>
              <a:srgbClr val="29465B"/>
            </a:solidFill>
            <a:prstDash val="solid"/>
          </a:ln>
        </p:spPr>
      </p:sp>
      <p:sp>
        <p:nvSpPr>
          <p:cNvPr id="5" name="">
            <a:extLst xmlns:a="http://schemas.openxmlformats.org/drawingml/2006/main">
              <a:ext uri="{FF2B5EF4-FFF2-40B4-BE49-F238E27FC236}">
                <a16:creationId xmlns:a16="http://schemas.microsoft.com/office/drawing/2014/main" id="{F49310FB-0471-4DCD-A9AF-0F170F45D16C}"/>
              </a:ext>
            </a:extLst>
          </p:cNvPr>
          <p:cNvSpPr>
            <a:spLocks xmlns:a="http://schemas.openxmlformats.org/drawingml/2006/main" noGrp="1"/>
          </p:cNvSpPr>
          <p:nvPr/>
        </p:nvSpPr>
        <p:spPr>
          <a:xfrm xmlns:a="http://schemas.openxmlformats.org/drawingml/2006/main">
            <a:off x="819150" y="4591050"/>
            <a:ext cx="1809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27D3B2"/>
                </a:solidFill>
                <a:latin typeface="Arial"/>
                <a:ea typeface="Arial"/>
                <a:cs typeface="Arial"/>
              </a:defRPr>
            </a:defPPr>
          </a:lstStyle>
          <a:p xmlns:a="http://schemas.openxmlformats.org/drawingml/2006/main">
            <a:pPr algn="l">
              <a:defRPr sz="2325" b="1">
                <a:solidFill>
                  <a:srgbClr val="27D3B2"/>
                </a:solidFill>
                <a:latin typeface="Arial"/>
                <a:ea typeface="Arial"/>
                <a:cs typeface="Arial"/>
              </a:defRPr>
            </a:pPr>
            <a:r>
              <a:rPr sz="2325" b="1">
                <a:solidFill>
                  <a:srgbClr val="27D3B2"/>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6AA184C1-FEEC-49E3-8E86-840C21C2D329}"/>
              </a:ext>
            </a:extLst>
          </p:cNvPr>
          <p:cNvSpPr>
            <a:spLocks xmlns:a="http://schemas.openxmlformats.org/drawingml/2006/main" noGrp="1"/>
          </p:cNvSpPr>
          <p:nvPr/>
        </p:nvSpPr>
        <p:spPr>
          <a:xfrm xmlns:a="http://schemas.openxmlformats.org/drawingml/2006/main">
            <a:off x="819150" y="50673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storage nodes</a:t>
            </a:r>
          </a:p>
        </p:txBody>
      </p:sp>
      <p:sp>
        <p:nvSpPr>
          <p:cNvPr id="7" name="">
            <a:extLst xmlns:a="http://schemas.openxmlformats.org/drawingml/2006/main">
              <a:ext uri="{FF2B5EF4-FFF2-40B4-BE49-F238E27FC236}">
                <a16:creationId xmlns:a16="http://schemas.microsoft.com/office/drawing/2014/main" id="{564BE010-5CD9-4C79-8A8F-1EB58FFDC2C3}"/>
              </a:ext>
            </a:extLst>
          </p:cNvPr>
          <p:cNvSpPr>
            <a:spLocks xmlns:a="http://schemas.openxmlformats.org/drawingml/2006/main" noGrp="1"/>
          </p:cNvSpPr>
          <p:nvPr/>
        </p:nvSpPr>
        <p:spPr>
          <a:xfrm xmlns:a="http://schemas.openxmlformats.org/drawingml/2006/main">
            <a:off x="3295650" y="4591050"/>
            <a:ext cx="1809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27D3B2"/>
                </a:solidFill>
                <a:latin typeface="Arial"/>
                <a:ea typeface="Arial"/>
                <a:cs typeface="Arial"/>
              </a:defRPr>
            </a:defPPr>
          </a:lstStyle>
          <a:p xmlns:a="http://schemas.openxmlformats.org/drawingml/2006/main">
            <a:pPr algn="l">
              <a:defRPr sz="2325" b="1">
                <a:solidFill>
                  <a:srgbClr val="27D3B2"/>
                </a:solidFill>
                <a:latin typeface="Arial"/>
                <a:ea typeface="Arial"/>
                <a:cs typeface="Arial"/>
              </a:defRPr>
            </a:pPr>
            <a:r>
              <a:rPr sz="2325" b="1">
                <a:solidFill>
                  <a:srgbClr val="27D3B2"/>
                </a:solidFill>
                <a:latin typeface="Arial"/>
                <a:ea typeface="Arial"/>
                <a:cs typeface="Arial"/>
              </a:rPr>
              <a:t>64 KB</a:t>
            </a:r>
          </a:p>
        </p:txBody>
      </p:sp>
      <p:sp>
        <p:nvSpPr>
          <p:cNvPr id="8" name="">
            <a:extLst xmlns:a="http://schemas.openxmlformats.org/drawingml/2006/main">
              <a:ext uri="{FF2B5EF4-FFF2-40B4-BE49-F238E27FC236}">
                <a16:creationId xmlns:a16="http://schemas.microsoft.com/office/drawing/2014/main" id="{7C704118-5A61-4A7D-8E5E-20FE33D17922}"/>
              </a:ext>
            </a:extLst>
          </p:cNvPr>
          <p:cNvSpPr>
            <a:spLocks xmlns:a="http://schemas.openxmlformats.org/drawingml/2006/main" noGrp="1"/>
          </p:cNvSpPr>
          <p:nvPr/>
        </p:nvSpPr>
        <p:spPr>
          <a:xfrm xmlns:a="http://schemas.openxmlformats.org/drawingml/2006/main">
            <a:off x="3295650" y="50673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streaming chunks</a:t>
            </a:r>
          </a:p>
        </p:txBody>
      </p:sp>
      <p:sp>
        <p:nvSpPr>
          <p:cNvPr id="9" name="">
            <a:extLst xmlns:a="http://schemas.openxmlformats.org/drawingml/2006/main">
              <a:ext uri="{FF2B5EF4-FFF2-40B4-BE49-F238E27FC236}">
                <a16:creationId xmlns:a16="http://schemas.microsoft.com/office/drawing/2014/main" id="{0D261D46-41FD-48DA-BDA7-9F08B23BD44F}"/>
              </a:ext>
            </a:extLst>
          </p:cNvPr>
          <p:cNvSpPr>
            <a:spLocks xmlns:a="http://schemas.openxmlformats.org/drawingml/2006/main" noGrp="1"/>
          </p:cNvSpPr>
          <p:nvPr/>
        </p:nvSpPr>
        <p:spPr>
          <a:xfrm xmlns:a="http://schemas.openxmlformats.org/drawingml/2006/main">
            <a:off x="5772150" y="4591050"/>
            <a:ext cx="1809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27D3B2"/>
                </a:solidFill>
                <a:latin typeface="Arial"/>
                <a:ea typeface="Arial"/>
                <a:cs typeface="Arial"/>
              </a:defRPr>
            </a:defPPr>
          </a:lstStyle>
          <a:p xmlns:a="http://schemas.openxmlformats.org/drawingml/2006/main">
            <a:pPr algn="l">
              <a:defRPr sz="2325" b="1">
                <a:solidFill>
                  <a:srgbClr val="27D3B2"/>
                </a:solidFill>
                <a:latin typeface="Arial"/>
                <a:ea typeface="Arial"/>
                <a:cs typeface="Arial"/>
              </a:defRPr>
            </a:pPr>
            <a:r>
              <a:rPr sz="2325" b="1">
                <a:solidFill>
                  <a:srgbClr val="27D3B2"/>
                </a:solidFill>
                <a:latin typeface="Arial"/>
                <a:ea typeface="Arial"/>
                <a:cs typeface="Arial"/>
              </a:rPr>
              <a:t>SHA-256</a:t>
            </a:r>
          </a:p>
        </p:txBody>
      </p:sp>
      <p:sp>
        <p:nvSpPr>
          <p:cNvPr id="10" name="">
            <a:extLst xmlns:a="http://schemas.openxmlformats.org/drawingml/2006/main">
              <a:ext uri="{FF2B5EF4-FFF2-40B4-BE49-F238E27FC236}">
                <a16:creationId xmlns:a16="http://schemas.microsoft.com/office/drawing/2014/main" id="{D48B3B24-9B13-4353-A20C-576622C43BCF}"/>
              </a:ext>
            </a:extLst>
          </p:cNvPr>
          <p:cNvSpPr>
            <a:spLocks xmlns:a="http://schemas.openxmlformats.org/drawingml/2006/main" noGrp="1"/>
          </p:cNvSpPr>
          <p:nvPr/>
        </p:nvSpPr>
        <p:spPr>
          <a:xfrm xmlns:a="http://schemas.openxmlformats.org/drawingml/2006/main">
            <a:off x="5772150" y="50673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integrity check</a:t>
            </a:r>
          </a:p>
        </p:txBody>
      </p:sp>
      <p:sp>
        <p:nvSpPr>
          <p:cNvPr id="11" name="coordinator">
            <a:extLst xmlns:a="http://schemas.openxmlformats.org/drawingml/2006/main">
              <a:ext uri="{FF2B5EF4-FFF2-40B4-BE49-F238E27FC236}">
                <a16:creationId xmlns:a16="http://schemas.microsoft.com/office/drawing/2014/main" id="{2ACDF04B-014E-4FD4-B007-AAC2B4BE27A5}"/>
              </a:ext>
            </a:extLst>
          </p:cNvPr>
          <p:cNvSpPr>
            <a:spLocks xmlns:a="http://schemas.openxmlformats.org/drawingml/2006/main" noGrp="1"/>
          </p:cNvSpPr>
          <p:nvPr/>
        </p:nvSpPr>
        <p:spPr>
          <a:xfrm xmlns:a="http://schemas.openxmlformats.org/drawingml/2006/main">
            <a:off x="8991600" y="1866900"/>
            <a:ext cx="2352675" cy="819150"/>
          </a:xfrm>
          <a:prstGeom xmlns:a="http://schemas.openxmlformats.org/drawingml/2006/main" prst="roundRect">
            <a:avLst>
              <a:gd name="adj" fmla="val 11628"/>
            </a:avLst>
          </a:prstGeom>
          <a:solidFill xmlns:a="http://schemas.openxmlformats.org/drawingml/2006/main">
            <a:srgbClr val="111E2D"/>
          </a:solidFill>
          <a:ln xmlns:a="http://schemas.openxmlformats.org/drawingml/2006/main" w="9525">
            <a:solidFill>
              <a:srgbClr val="29465B"/>
            </a:solidFill>
            <a:prstDash val="solid"/>
          </a:ln>
        </p:spPr>
      </p:sp>
      <p:sp>
        <p:nvSpPr>
          <p:cNvPr id="12" name="">
            <a:extLst xmlns:a="http://schemas.openxmlformats.org/drawingml/2006/main">
              <a:ext uri="{FF2B5EF4-FFF2-40B4-BE49-F238E27FC236}">
                <a16:creationId xmlns:a16="http://schemas.microsoft.com/office/drawing/2014/main" id="{509FD884-27DD-467B-A8B5-15B2B8ACDD5C}"/>
              </a:ext>
            </a:extLst>
          </p:cNvPr>
          <p:cNvSpPr>
            <a:spLocks xmlns:a="http://schemas.openxmlformats.org/drawingml/2006/main" noGrp="1"/>
          </p:cNvSpPr>
          <p:nvPr/>
        </p:nvSpPr>
        <p:spPr>
          <a:xfrm xmlns:a="http://schemas.openxmlformats.org/drawingml/2006/main">
            <a:off x="9115425" y="1990725"/>
            <a:ext cx="47625" cy="571500"/>
          </a:xfrm>
          <a:prstGeom xmlns:a="http://schemas.openxmlformats.org/drawingml/2006/main" prst="roundRect">
            <a:avLst>
              <a:gd name="adj" fmla="val 40000"/>
            </a:avLst>
          </a:prstGeom>
          <a:solidFill xmlns:a="http://schemas.openxmlformats.org/drawingml/2006/main">
            <a:srgbClr val="F4B860"/>
          </a:solidFill>
          <a:ln xmlns:a="http://schemas.openxmlformats.org/drawingml/2006/main" w="9525">
            <a:solidFill>
              <a:srgbClr val="F4B860"/>
            </a:solidFill>
            <a:prstDash val="solid"/>
          </a:ln>
        </p:spPr>
      </p:sp>
      <p:sp>
        <p:nvSpPr>
          <p:cNvPr id="13" name="">
            <a:extLst xmlns:a="http://schemas.openxmlformats.org/drawingml/2006/main">
              <a:ext uri="{FF2B5EF4-FFF2-40B4-BE49-F238E27FC236}">
                <a16:creationId xmlns:a16="http://schemas.microsoft.com/office/drawing/2014/main" id="{A3F6A3BB-2AF7-430B-BE36-1C7341D49994}"/>
              </a:ext>
            </a:extLst>
          </p:cNvPr>
          <p:cNvSpPr>
            <a:spLocks xmlns:a="http://schemas.openxmlformats.org/drawingml/2006/main" noGrp="1"/>
          </p:cNvSpPr>
          <p:nvPr/>
        </p:nvSpPr>
        <p:spPr>
          <a:xfrm xmlns:a="http://schemas.openxmlformats.org/drawingml/2006/main">
            <a:off x="9277350" y="2009775"/>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Coordinator</a:t>
            </a:r>
          </a:p>
        </p:txBody>
      </p:sp>
      <p:sp>
        <p:nvSpPr>
          <p:cNvPr id="14" name="">
            <a:extLst xmlns:a="http://schemas.openxmlformats.org/drawingml/2006/main">
              <a:ext uri="{FF2B5EF4-FFF2-40B4-BE49-F238E27FC236}">
                <a16:creationId xmlns:a16="http://schemas.microsoft.com/office/drawing/2014/main" id="{F8814C0E-7820-47A5-8D7F-96A05D3BD8FD}"/>
              </a:ext>
            </a:extLst>
          </p:cNvPr>
          <p:cNvSpPr>
            <a:spLocks xmlns:a="http://schemas.openxmlformats.org/drawingml/2006/main" noGrp="1"/>
          </p:cNvSpPr>
          <p:nvPr/>
        </p:nvSpPr>
        <p:spPr>
          <a:xfrm xmlns:a="http://schemas.openxmlformats.org/drawingml/2006/main">
            <a:off x="9277350" y="2343150"/>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Placement + metadata</a:t>
            </a:r>
          </a:p>
        </p:txBody>
      </p:sp>
      <p:sp>
        <p:nvSpPr>
          <p:cNvPr id="15" name="node-1">
            <a:extLst xmlns:a="http://schemas.openxmlformats.org/drawingml/2006/main">
              <a:ext uri="{FF2B5EF4-FFF2-40B4-BE49-F238E27FC236}">
                <a16:creationId xmlns:a16="http://schemas.microsoft.com/office/drawing/2014/main" id="{D9A05CB3-A2A1-4DE7-9A93-8EFA8E4F21D3}"/>
              </a:ext>
            </a:extLst>
          </p:cNvPr>
          <p:cNvSpPr>
            <a:spLocks xmlns:a="http://schemas.openxmlformats.org/drawingml/2006/main" noGrp="1"/>
          </p:cNvSpPr>
          <p:nvPr/>
        </p:nvSpPr>
        <p:spPr>
          <a:xfrm xmlns:a="http://schemas.openxmlformats.org/drawingml/2006/main">
            <a:off x="8477250" y="3524250"/>
            <a:ext cx="1304925" cy="790575"/>
          </a:xfrm>
          <a:prstGeom xmlns:a="http://schemas.openxmlformats.org/drawingml/2006/main" prst="roundRect">
            <a:avLst>
              <a:gd name="adj" fmla="val 12048"/>
            </a:avLst>
          </a:prstGeom>
          <a:solidFill xmlns:a="http://schemas.openxmlformats.org/drawingml/2006/main">
            <a:srgbClr val="111E2D"/>
          </a:solidFill>
          <a:ln xmlns:a="http://schemas.openxmlformats.org/drawingml/2006/main" w="9525">
            <a:solidFill>
              <a:srgbClr val="29465B"/>
            </a:solidFill>
            <a:prstDash val="solid"/>
          </a:ln>
        </p:spPr>
      </p:sp>
      <p:sp>
        <p:nvSpPr>
          <p:cNvPr id="16" name="">
            <a:extLst xmlns:a="http://schemas.openxmlformats.org/drawingml/2006/main">
              <a:ext uri="{FF2B5EF4-FFF2-40B4-BE49-F238E27FC236}">
                <a16:creationId xmlns:a16="http://schemas.microsoft.com/office/drawing/2014/main" id="{FE0C5177-85DE-4B0B-A657-6B08F54F0ED4}"/>
              </a:ext>
            </a:extLst>
          </p:cNvPr>
          <p:cNvSpPr>
            <a:spLocks xmlns:a="http://schemas.openxmlformats.org/drawingml/2006/main" noGrp="1"/>
          </p:cNvSpPr>
          <p:nvPr/>
        </p:nvSpPr>
        <p:spPr>
          <a:xfrm xmlns:a="http://schemas.openxmlformats.org/drawingml/2006/main">
            <a:off x="8601075" y="3648075"/>
            <a:ext cx="47625" cy="542925"/>
          </a:xfrm>
          <a:prstGeom xmlns:a="http://schemas.openxmlformats.org/drawingml/2006/main" prst="roundRect">
            <a:avLst>
              <a:gd name="adj" fmla="val 40000"/>
            </a:avLst>
          </a:prstGeom>
          <a:solidFill xmlns:a="http://schemas.openxmlformats.org/drawingml/2006/main">
            <a:srgbClr val="27D3B2"/>
          </a:solidFill>
          <a:ln xmlns:a="http://schemas.openxmlformats.org/drawingml/2006/main" w="9525">
            <a:solidFill>
              <a:srgbClr val="27D3B2"/>
            </a:solidFill>
            <a:prstDash val="solid"/>
          </a:ln>
        </p:spPr>
      </p:sp>
      <p:sp>
        <p:nvSpPr>
          <p:cNvPr id="17" name="">
            <a:extLst xmlns:a="http://schemas.openxmlformats.org/drawingml/2006/main">
              <a:ext uri="{FF2B5EF4-FFF2-40B4-BE49-F238E27FC236}">
                <a16:creationId xmlns:a16="http://schemas.microsoft.com/office/drawing/2014/main" id="{5C93D8C7-4C49-4B4E-B06F-3B0CE41CFAB4}"/>
              </a:ext>
            </a:extLst>
          </p:cNvPr>
          <p:cNvSpPr>
            <a:spLocks xmlns:a="http://schemas.openxmlformats.org/drawingml/2006/main" noGrp="1"/>
          </p:cNvSpPr>
          <p:nvPr/>
        </p:nvSpPr>
        <p:spPr>
          <a:xfrm xmlns:a="http://schemas.openxmlformats.org/drawingml/2006/main">
            <a:off x="8763000" y="3667125"/>
            <a:ext cx="904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Node 1</a:t>
            </a:r>
          </a:p>
        </p:txBody>
      </p:sp>
      <p:sp>
        <p:nvSpPr>
          <p:cNvPr id="18" name="">
            <a:extLst xmlns:a="http://schemas.openxmlformats.org/drawingml/2006/main">
              <a:ext uri="{FF2B5EF4-FFF2-40B4-BE49-F238E27FC236}">
                <a16:creationId xmlns:a16="http://schemas.microsoft.com/office/drawing/2014/main" id="{B7F79034-96F3-4513-A3CD-799EA1F4655B}"/>
              </a:ext>
            </a:extLst>
          </p:cNvPr>
          <p:cNvSpPr>
            <a:spLocks xmlns:a="http://schemas.openxmlformats.org/drawingml/2006/main" noGrp="1"/>
          </p:cNvSpPr>
          <p:nvPr/>
        </p:nvSpPr>
        <p:spPr>
          <a:xfrm xmlns:a="http://schemas.openxmlformats.org/drawingml/2006/main">
            <a:off x="8763000" y="4000500"/>
            <a:ext cx="904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Primary</a:t>
            </a:r>
          </a:p>
        </p:txBody>
      </p:sp>
      <p:sp>
        <p:nvSpPr>
          <p:cNvPr id="19" name="node-2">
            <a:extLst xmlns:a="http://schemas.openxmlformats.org/drawingml/2006/main">
              <a:ext uri="{FF2B5EF4-FFF2-40B4-BE49-F238E27FC236}">
                <a16:creationId xmlns:a16="http://schemas.microsoft.com/office/drawing/2014/main" id="{B1BBC17D-A358-49BD-9B5D-6C5D714F770F}"/>
              </a:ext>
            </a:extLst>
          </p:cNvPr>
          <p:cNvSpPr>
            <a:spLocks xmlns:a="http://schemas.openxmlformats.org/drawingml/2006/main" noGrp="1"/>
          </p:cNvSpPr>
          <p:nvPr/>
        </p:nvSpPr>
        <p:spPr>
          <a:xfrm xmlns:a="http://schemas.openxmlformats.org/drawingml/2006/main">
            <a:off x="9972675" y="3524250"/>
            <a:ext cx="1304925" cy="790575"/>
          </a:xfrm>
          <a:prstGeom xmlns:a="http://schemas.openxmlformats.org/drawingml/2006/main" prst="roundRect">
            <a:avLst>
              <a:gd name="adj" fmla="val 12048"/>
            </a:avLst>
          </a:prstGeom>
          <a:solidFill xmlns:a="http://schemas.openxmlformats.org/drawingml/2006/main">
            <a:srgbClr val="111E2D"/>
          </a:solidFill>
          <a:ln xmlns:a="http://schemas.openxmlformats.org/drawingml/2006/main" w="9525">
            <a:solidFill>
              <a:srgbClr val="29465B"/>
            </a:solidFill>
            <a:prstDash val="solid"/>
          </a:ln>
        </p:spPr>
      </p:sp>
      <p:sp>
        <p:nvSpPr>
          <p:cNvPr id="20" name="">
            <a:extLst xmlns:a="http://schemas.openxmlformats.org/drawingml/2006/main">
              <a:ext uri="{FF2B5EF4-FFF2-40B4-BE49-F238E27FC236}">
                <a16:creationId xmlns:a16="http://schemas.microsoft.com/office/drawing/2014/main" id="{D318F45A-9870-4854-A293-F69C768FF149}"/>
              </a:ext>
            </a:extLst>
          </p:cNvPr>
          <p:cNvSpPr>
            <a:spLocks xmlns:a="http://schemas.openxmlformats.org/drawingml/2006/main" noGrp="1"/>
          </p:cNvSpPr>
          <p:nvPr/>
        </p:nvSpPr>
        <p:spPr>
          <a:xfrm xmlns:a="http://schemas.openxmlformats.org/drawingml/2006/main">
            <a:off x="10096500" y="3648075"/>
            <a:ext cx="47625" cy="542925"/>
          </a:xfrm>
          <a:prstGeom xmlns:a="http://schemas.openxmlformats.org/drawingml/2006/main" prst="roundRect">
            <a:avLst>
              <a:gd name="adj" fmla="val 40000"/>
            </a:avLst>
          </a:prstGeom>
          <a:solidFill xmlns:a="http://schemas.openxmlformats.org/drawingml/2006/main">
            <a:srgbClr val="6FB7FF"/>
          </a:solidFill>
          <a:ln xmlns:a="http://schemas.openxmlformats.org/drawingml/2006/main" w="9525">
            <a:solidFill>
              <a:srgbClr val="6FB7FF"/>
            </a:solidFill>
            <a:prstDash val="solid"/>
          </a:ln>
        </p:spPr>
      </p:sp>
      <p:sp>
        <p:nvSpPr>
          <p:cNvPr id="21" name="">
            <a:extLst xmlns:a="http://schemas.openxmlformats.org/drawingml/2006/main">
              <a:ext uri="{FF2B5EF4-FFF2-40B4-BE49-F238E27FC236}">
                <a16:creationId xmlns:a16="http://schemas.microsoft.com/office/drawing/2014/main" id="{799F1627-7D89-4C87-9D85-1527621CFBE7}"/>
              </a:ext>
            </a:extLst>
          </p:cNvPr>
          <p:cNvSpPr>
            <a:spLocks xmlns:a="http://schemas.openxmlformats.org/drawingml/2006/main" noGrp="1"/>
          </p:cNvSpPr>
          <p:nvPr/>
        </p:nvSpPr>
        <p:spPr>
          <a:xfrm xmlns:a="http://schemas.openxmlformats.org/drawingml/2006/main">
            <a:off x="10258425" y="3667125"/>
            <a:ext cx="904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Node 2</a:t>
            </a:r>
          </a:p>
        </p:txBody>
      </p:sp>
      <p:sp>
        <p:nvSpPr>
          <p:cNvPr id="22" name="">
            <a:extLst xmlns:a="http://schemas.openxmlformats.org/drawingml/2006/main">
              <a:ext uri="{FF2B5EF4-FFF2-40B4-BE49-F238E27FC236}">
                <a16:creationId xmlns:a16="http://schemas.microsoft.com/office/drawing/2014/main" id="{84F269D2-68DA-436C-9170-84227E86AA8A}"/>
              </a:ext>
            </a:extLst>
          </p:cNvPr>
          <p:cNvSpPr>
            <a:spLocks xmlns:a="http://schemas.openxmlformats.org/drawingml/2006/main" noGrp="1"/>
          </p:cNvSpPr>
          <p:nvPr/>
        </p:nvSpPr>
        <p:spPr>
          <a:xfrm xmlns:a="http://schemas.openxmlformats.org/drawingml/2006/main">
            <a:off x="10258425" y="4000500"/>
            <a:ext cx="904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Replica</a:t>
            </a:r>
          </a:p>
        </p:txBody>
      </p:sp>
      <p:sp>
        <p:nvSpPr>
          <p:cNvPr id="23" name="node-3">
            <a:extLst xmlns:a="http://schemas.openxmlformats.org/drawingml/2006/main">
              <a:ext uri="{FF2B5EF4-FFF2-40B4-BE49-F238E27FC236}">
                <a16:creationId xmlns:a16="http://schemas.microsoft.com/office/drawing/2014/main" id="{1F412157-03DB-4FB4-978E-AB00B6C9C1A2}"/>
              </a:ext>
            </a:extLst>
          </p:cNvPr>
          <p:cNvSpPr>
            <a:spLocks xmlns:a="http://schemas.openxmlformats.org/drawingml/2006/main" noGrp="1"/>
          </p:cNvSpPr>
          <p:nvPr/>
        </p:nvSpPr>
        <p:spPr>
          <a:xfrm xmlns:a="http://schemas.openxmlformats.org/drawingml/2006/main">
            <a:off x="9220200" y="4686300"/>
            <a:ext cx="1304925" cy="790575"/>
          </a:xfrm>
          <a:prstGeom xmlns:a="http://schemas.openxmlformats.org/drawingml/2006/main" prst="roundRect">
            <a:avLst>
              <a:gd name="adj" fmla="val 12048"/>
            </a:avLst>
          </a:prstGeom>
          <a:solidFill xmlns:a="http://schemas.openxmlformats.org/drawingml/2006/main">
            <a:srgbClr val="111E2D"/>
          </a:solidFill>
          <a:ln xmlns:a="http://schemas.openxmlformats.org/drawingml/2006/main" w="9525">
            <a:solidFill>
              <a:srgbClr val="29465B"/>
            </a:solidFill>
            <a:prstDash val="solid"/>
          </a:ln>
        </p:spPr>
      </p:sp>
      <p:sp>
        <p:nvSpPr>
          <p:cNvPr id="24" name="">
            <a:extLst xmlns:a="http://schemas.openxmlformats.org/drawingml/2006/main">
              <a:ext uri="{FF2B5EF4-FFF2-40B4-BE49-F238E27FC236}">
                <a16:creationId xmlns:a16="http://schemas.microsoft.com/office/drawing/2014/main" id="{FA04FB98-02C1-4CB6-AD55-45D7D54534CF}"/>
              </a:ext>
            </a:extLst>
          </p:cNvPr>
          <p:cNvSpPr>
            <a:spLocks xmlns:a="http://schemas.openxmlformats.org/drawingml/2006/main" noGrp="1"/>
          </p:cNvSpPr>
          <p:nvPr/>
        </p:nvSpPr>
        <p:spPr>
          <a:xfrm xmlns:a="http://schemas.openxmlformats.org/drawingml/2006/main">
            <a:off x="9344025" y="4810125"/>
            <a:ext cx="47625" cy="542925"/>
          </a:xfrm>
          <a:prstGeom xmlns:a="http://schemas.openxmlformats.org/drawingml/2006/main" prst="roundRect">
            <a:avLst>
              <a:gd name="adj" fmla="val 40000"/>
            </a:avLst>
          </a:prstGeom>
          <a:solidFill xmlns:a="http://schemas.openxmlformats.org/drawingml/2006/main">
            <a:srgbClr val="B5A2FF"/>
          </a:solidFill>
          <a:ln xmlns:a="http://schemas.openxmlformats.org/drawingml/2006/main" w="9525">
            <a:solidFill>
              <a:srgbClr val="B5A2FF"/>
            </a:solidFill>
            <a:prstDash val="solid"/>
          </a:ln>
        </p:spPr>
      </p:sp>
      <p:sp>
        <p:nvSpPr>
          <p:cNvPr id="25" name="">
            <a:extLst xmlns:a="http://schemas.openxmlformats.org/drawingml/2006/main">
              <a:ext uri="{FF2B5EF4-FFF2-40B4-BE49-F238E27FC236}">
                <a16:creationId xmlns:a16="http://schemas.microsoft.com/office/drawing/2014/main" id="{364EA86B-BEF8-4648-8BF7-0039C5F208F9}"/>
              </a:ext>
            </a:extLst>
          </p:cNvPr>
          <p:cNvSpPr>
            <a:spLocks xmlns:a="http://schemas.openxmlformats.org/drawingml/2006/main" noGrp="1"/>
          </p:cNvSpPr>
          <p:nvPr/>
        </p:nvSpPr>
        <p:spPr>
          <a:xfrm xmlns:a="http://schemas.openxmlformats.org/drawingml/2006/main">
            <a:off x="9505950" y="4829175"/>
            <a:ext cx="904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Node 3</a:t>
            </a:r>
          </a:p>
        </p:txBody>
      </p:sp>
      <p:sp>
        <p:nvSpPr>
          <p:cNvPr id="26" name="">
            <a:extLst xmlns:a="http://schemas.openxmlformats.org/drawingml/2006/main">
              <a:ext uri="{FF2B5EF4-FFF2-40B4-BE49-F238E27FC236}">
                <a16:creationId xmlns:a16="http://schemas.microsoft.com/office/drawing/2014/main" id="{41188689-29A6-47F8-A7F5-888CAE4A3D7C}"/>
              </a:ext>
            </a:extLst>
          </p:cNvPr>
          <p:cNvSpPr>
            <a:spLocks xmlns:a="http://schemas.openxmlformats.org/drawingml/2006/main" noGrp="1"/>
          </p:cNvSpPr>
          <p:nvPr/>
        </p:nvSpPr>
        <p:spPr>
          <a:xfrm xmlns:a="http://schemas.openxmlformats.org/drawingml/2006/main">
            <a:off x="9505950" y="5162550"/>
            <a:ext cx="904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Replica</a:t>
            </a:r>
          </a:p>
        </p:txBody>
      </p:sp>
      <p:sp>
        <p:nvSpPr>
          <p:cNvPr id="30" name="">
            <a:extLst xmlns:a="http://schemas.openxmlformats.org/drawingml/2006/main">
              <a:ext uri="{FF2B5EF4-FFF2-40B4-BE49-F238E27FC236}">
                <a16:creationId xmlns:a16="http://schemas.microsoft.com/office/drawing/2014/main" id="{C0A2BC65-AB59-43A7-A033-25E273A4C7DA}"/>
              </a:ext>
            </a:extLst>
          </p:cNvPr>
          <p:cNvSpPr>
            <a:spLocks xmlns:a="http://schemas.openxmlformats.org/drawingml/2006/main" noGrp="1"/>
          </p:cNvSpPr>
          <p:nvPr/>
        </p:nvSpPr>
        <p:spPr>
          <a:xfrm xmlns:a="http://schemas.openxmlformats.org/drawingml/2006/main">
            <a:off x="8382000" y="56007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a:solidFill>
                  <a:srgbClr val="7892A6"/>
                </a:solidFill>
                <a:latin typeface="Arial"/>
                <a:ea typeface="Arial"/>
                <a:cs typeface="Arial"/>
              </a:defRPr>
            </a:defPPr>
          </a:lstStyle>
          <a:p xmlns:a="http://schemas.openxmlformats.org/drawingml/2006/main">
            <a:pPr algn="ctr">
              <a:defRPr sz="1050" b="0">
                <a:solidFill>
                  <a:srgbClr val="7892A6"/>
                </a:solidFill>
                <a:latin typeface="Arial"/>
                <a:ea typeface="Arial"/>
                <a:cs typeface="Arial"/>
              </a:defRPr>
            </a:pPr>
            <a:r>
              <a:rPr sz="1050" b="0">
                <a:solidFill>
                  <a:srgbClr val="7892A6"/>
                </a:solidFill>
                <a:latin typeface="Arial"/>
                <a:ea typeface="Arial"/>
                <a:cs typeface="Arial"/>
              </a:rPr>
              <a:t>Example topology · role selection is dynamic</a:t>
            </a:r>
          </a:p>
        </p:txBody>
      </p:sp>
      <p:sp>
        <p:nvSpPr>
          <p:cNvPr id="31" name="">
            <a:extLst xmlns:a="http://schemas.openxmlformats.org/drawingml/2006/main">
              <a:ext uri="{FF2B5EF4-FFF2-40B4-BE49-F238E27FC236}">
                <a16:creationId xmlns:a16="http://schemas.microsoft.com/office/drawing/2014/main" id="{94E074AE-C02B-4117-A7A6-43F53D804CD4}"/>
              </a:ext>
            </a:extLst>
          </p:cNvPr>
          <p:cNvSpPr>
            <a:spLocks xmlns:a="http://schemas.openxmlformats.org/drawingml/2006/main" noGrp="1"/>
          </p:cNvSpPr>
          <p:nvPr/>
        </p:nvSpPr>
        <p:spPr>
          <a:xfrm xmlns:a="http://schemas.openxmlformats.org/drawingml/2006/main">
            <a:off x="809625" y="588645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7892A6"/>
                </a:solidFill>
                <a:latin typeface="Arial"/>
                <a:ea typeface="Arial"/>
                <a:cs typeface="Arial"/>
              </a:defRPr>
            </a:defPPr>
          </a:lstStyle>
          <a:p xmlns:a="http://schemas.openxmlformats.org/drawingml/2006/main">
            <a:pPr algn="l">
              <a:defRPr sz="1275" b="0">
                <a:solidFill>
                  <a:srgbClr val="7892A6"/>
                </a:solidFill>
                <a:latin typeface="Arial"/>
                <a:ea typeface="Arial"/>
                <a:cs typeface="Arial"/>
              </a:defRPr>
            </a:pPr>
            <a:r>
              <a:rPr sz="1275" b="0">
                <a:solidFill>
                  <a:srgbClr val="7892A6"/>
                </a:solidFill>
                <a:latin typeface="Arial"/>
                <a:ea typeface="Arial"/>
                <a:cs typeface="Arial"/>
              </a:rPr>
              <a:t>Docker Compose demo</a:t>
            </a:r>
          </a:p>
        </p:txBody>
      </p:sp>
    </p:spTree>
    <p:extLst>
      <p:ext uri="{BB962C8B-B14F-4D97-AF65-F5344CB8AC3E}">
        <p14:creationId xmlns:p14="http://schemas.microsoft.com/office/powerpoint/2010/main" val="574180127"/>
      </p:ext>
    </p:extLst>
  </p:cSld>
</p:sld>
</file>

<file path=ppt/slides/slide2.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4" name="title-2">
            <a:extLst xmlns:a="http://schemas.openxmlformats.org/drawingml/2006/main">
              <a:ext uri="{FF2B5EF4-FFF2-40B4-BE49-F238E27FC236}">
                <a16:creationId xmlns:a16="http://schemas.microsoft.com/office/drawing/2014/main" id="{AA7F98A4-0D67-4A0E-8215-37B2A538589C}"/>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3F7FA"/>
                </a:solidFill>
                <a:latin typeface="Arial"/>
                <a:ea typeface="Arial"/>
                <a:cs typeface="Arial"/>
              </a:defRPr>
            </a:defPPr>
          </a:lstStyle>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Why a distributed model repository</a:t>
            </a:r>
          </a:p>
        </p:txBody>
      </p:sp>
      <p:sp>
        <p:nvSpPr>
          <p:cNvPr id="2" name="">
            <a:extLst xmlns:a="http://schemas.openxmlformats.org/drawingml/2006/main">
              <a:ext uri="{FF2B5EF4-FFF2-40B4-BE49-F238E27FC236}">
                <a16:creationId xmlns:a16="http://schemas.microsoft.com/office/drawing/2014/main" id="{2314D1E6-D440-4F52-AB84-BE7B0E67429A}"/>
              </a:ext>
            </a:extLst>
          </p:cNvPr>
          <p:cNvSpPr>
            <a:spLocks xmlns:a="http://schemas.openxmlformats.org/drawingml/2006/main" noGrp="1"/>
          </p:cNvSpPr>
          <p:nvPr/>
        </p:nvSpPr>
        <p:spPr>
          <a:xfrm xmlns:a="http://schemas.openxmlformats.org/drawingml/2006/main">
            <a:off x="704850" y="962025"/>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A8BDCC"/>
                </a:solidFill>
                <a:latin typeface="Arial"/>
                <a:ea typeface="Arial"/>
                <a:cs typeface="Arial"/>
              </a:defRPr>
            </a:defPPr>
          </a:lstStyle>
          <a:p xmlns:a="http://schemas.openxmlformats.org/drawingml/2006/main">
            <a:pPr algn="l">
              <a:defRPr sz="1425" b="0">
                <a:solidFill>
                  <a:srgbClr val="A8BDCC"/>
                </a:solidFill>
                <a:latin typeface="Arial"/>
                <a:ea typeface="Arial"/>
                <a:cs typeface="Arial"/>
              </a:defRPr>
            </a:pPr>
            <a:r>
              <a:rPr sz="1425" b="0">
                <a:solidFill>
                  <a:srgbClr val="A8BDCC"/>
                </a:solidFill>
                <a:latin typeface="Arial"/>
                <a:ea typeface="Arial"/>
                <a:cs typeface="Arial"/>
              </a:rPr>
              <a:t>Large model files make storage, transfer and recovery part of the application design.</a:t>
            </a:r>
          </a:p>
        </p:txBody>
      </p:sp>
      <p:sp>
        <p:nvSpPr>
          <p:cNvPr id="3" name="">
            <a:extLst xmlns:a="http://schemas.openxmlformats.org/drawingml/2006/main">
              <a:ext uri="{FF2B5EF4-FFF2-40B4-BE49-F238E27FC236}">
                <a16:creationId xmlns:a16="http://schemas.microsoft.com/office/drawing/2014/main" id="{C876EFF5-5B5F-4AAC-8EF8-AD02852C758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0374A"/>
            </a:solidFill>
            <a:prstDash val="solid"/>
          </a:ln>
        </p:spPr>
      </p:sp>
      <p:sp>
        <p:nvSpPr>
          <p:cNvPr id="4" name="">
            <a:extLst xmlns:a="http://schemas.openxmlformats.org/drawingml/2006/main">
              <a:ext uri="{FF2B5EF4-FFF2-40B4-BE49-F238E27FC236}">
                <a16:creationId xmlns:a16="http://schemas.microsoft.com/office/drawing/2014/main" id="{9F4C8753-34A8-4DDB-BD04-7C24960CF957}"/>
              </a:ext>
            </a:extLst>
          </p:cNvPr>
          <p:cNvSpPr>
            <a:spLocks xmlns:a="http://schemas.openxmlformats.org/drawingml/2006/main" noGrp="1"/>
          </p:cNvSpPr>
          <p:nvPr/>
        </p:nvSpPr>
        <p:spPr>
          <a:xfrm xmlns:a="http://schemas.openxmlformats.org/drawingml/2006/main">
            <a:off x="704850" y="64960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892A6"/>
                </a:solidFill>
                <a:latin typeface="Arial"/>
                <a:ea typeface="Arial"/>
                <a:cs typeface="Arial"/>
              </a:defRPr>
            </a:defPPr>
          </a:lstStyle>
          <a:p xmlns:a="http://schemas.openxmlformats.org/drawingml/2006/main">
            <a:pPr algn="l">
              <a:defRPr sz="900" b="0">
                <a:solidFill>
                  <a:srgbClr val="7892A6"/>
                </a:solidFill>
                <a:latin typeface="Arial"/>
                <a:ea typeface="Arial"/>
                <a:cs typeface="Arial"/>
              </a:defRPr>
            </a:pPr>
            <a:r>
              <a:rPr sz="900" b="0">
                <a:solidFill>
                  <a:srgbClr val="7892A6"/>
                </a:solidFill>
                <a:latin typeface="Arial"/>
                <a:ea typeface="Arial"/>
                <a:cs typeface="Arial"/>
              </a:rPr>
              <a:t>DISTRIBUTED MODEL REPOSITORY  /  PROJECT WALKTHROUGH</a:t>
            </a:r>
          </a:p>
        </p:txBody>
      </p:sp>
      <p:sp>
        <p:nvSpPr>
          <p:cNvPr id="5" name="">
            <a:extLst xmlns:a="http://schemas.openxmlformats.org/drawingml/2006/main">
              <a:ext uri="{FF2B5EF4-FFF2-40B4-BE49-F238E27FC236}">
                <a16:creationId xmlns:a16="http://schemas.microsoft.com/office/drawing/2014/main" id="{2DBFC184-8B72-46E2-9641-74EE7F59B14B}"/>
              </a:ext>
            </a:extLst>
          </p:cNvPr>
          <p:cNvSpPr>
            <a:spLocks xmlns:a="http://schemas.openxmlformats.org/drawingml/2006/main" noGrp="1"/>
          </p:cNvSpPr>
          <p:nvPr/>
        </p:nvSpPr>
        <p:spPr>
          <a:xfrm xmlns:a="http://schemas.openxmlformats.org/drawingml/2006/main">
            <a:off x="11049000" y="64865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7892A6"/>
                </a:solidFill>
                <a:latin typeface="Arial"/>
                <a:ea typeface="Arial"/>
                <a:cs typeface="Arial"/>
              </a:defRPr>
            </a:defPPr>
          </a:lstStyle>
          <a:p xmlns:a="http://schemas.openxmlformats.org/drawingml/2006/main">
            <a:pPr algn="r">
              <a:defRPr sz="975" b="0">
                <a:solidFill>
                  <a:srgbClr val="7892A6"/>
                </a:solidFill>
                <a:latin typeface="Arial"/>
                <a:ea typeface="Arial"/>
                <a:cs typeface="Arial"/>
              </a:defRPr>
            </a:pPr>
            <a:r>
              <a:rPr sz="975" b="0">
                <a:solidFill>
                  <a:srgbClr val="7892A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34645767-3D64-44BE-A143-7428F96C563C}"/>
              </a:ext>
            </a:extLst>
          </p:cNvPr>
          <p:cNvSpPr>
            <a:spLocks xmlns:a="http://schemas.openxmlformats.org/drawingml/2006/main" noGrp="1"/>
          </p:cNvSpPr>
          <p:nvPr/>
        </p:nvSpPr>
        <p:spPr>
          <a:xfrm xmlns:a="http://schemas.openxmlformats.org/drawingml/2006/main">
            <a:off x="762000" y="1685925"/>
            <a:ext cx="4095750" cy="1838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3F7FA"/>
                </a:solidFill>
                <a:latin typeface="Arial"/>
                <a:ea typeface="Arial"/>
                <a:cs typeface="Arial"/>
              </a:defRPr>
            </a:defPPr>
          </a:lstStyle>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One upload</a:t>
            </a:r>
          </a:p>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creates several</a:t>
            </a:r>
          </a:p>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systems problems.</a:t>
            </a:r>
          </a:p>
        </p:txBody>
      </p:sp>
      <p:sp>
        <p:nvSpPr>
          <p:cNvPr id="7" name="">
            <a:extLst xmlns:a="http://schemas.openxmlformats.org/drawingml/2006/main">
              <a:ext uri="{FF2B5EF4-FFF2-40B4-BE49-F238E27FC236}">
                <a16:creationId xmlns:a16="http://schemas.microsoft.com/office/drawing/2014/main" id="{C15F8FDC-649F-418D-9DDE-7064346CEE70}"/>
              </a:ext>
            </a:extLst>
          </p:cNvPr>
          <p:cNvSpPr>
            <a:spLocks xmlns:a="http://schemas.openxmlformats.org/drawingml/2006/main" noGrp="1"/>
          </p:cNvSpPr>
          <p:nvPr/>
        </p:nvSpPr>
        <p:spPr>
          <a:xfrm xmlns:a="http://schemas.openxmlformats.org/drawingml/2006/main">
            <a:off x="790575" y="3829050"/>
            <a:ext cx="40195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8BDCC"/>
                </a:solidFill>
                <a:latin typeface="Arial"/>
                <a:ea typeface="Arial"/>
                <a:cs typeface="Arial"/>
              </a:defRPr>
            </a:defPPr>
          </a:lstStyle>
          <a:p xmlns:a="http://schemas.openxmlformats.org/drawingml/2006/main">
            <a:pPr algn="l">
              <a:defRPr sz="1575" b="0">
                <a:solidFill>
                  <a:srgbClr val="A8BDCC"/>
                </a:solidFill>
                <a:latin typeface="Arial"/>
                <a:ea typeface="Arial"/>
                <a:cs typeface="Arial"/>
              </a:defRPr>
            </a:pPr>
            <a:r>
              <a:rPr sz="1575" b="0">
                <a:solidFill>
                  <a:srgbClr val="A8BDCC"/>
                </a:solidFill>
                <a:latin typeface="Arial"/>
                <a:ea typeface="Arial"/>
                <a:cs typeface="Arial"/>
              </a:rPr>
              <a:t>A single endpoint can accept a file. A repository must also place it, transfer it safely, calculate its checksum and keep it available from replicas.</a:t>
            </a:r>
          </a:p>
        </p:txBody>
      </p:sp>
      <p:sp>
        <p:nvSpPr>
          <p:cNvPr id="8" name="">
            <a:extLst xmlns:a="http://schemas.openxmlformats.org/drawingml/2006/main">
              <a:ext uri="{FF2B5EF4-FFF2-40B4-BE49-F238E27FC236}">
                <a16:creationId xmlns:a16="http://schemas.microsoft.com/office/drawing/2014/main" id="{49D0C04B-A68F-4E6D-BB99-FACD5A579572}"/>
              </a:ext>
            </a:extLst>
          </p:cNvPr>
          <p:cNvSpPr>
            <a:spLocks xmlns:a="http://schemas.openxmlformats.org/drawingml/2006/main" noGrp="1"/>
          </p:cNvSpPr>
          <p:nvPr/>
        </p:nvSpPr>
        <p:spPr>
          <a:xfrm xmlns:a="http://schemas.openxmlformats.org/drawingml/2006/main">
            <a:off x="5429250" y="1571625"/>
            <a:ext cx="590550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9" name="">
            <a:extLst xmlns:a="http://schemas.openxmlformats.org/drawingml/2006/main">
              <a:ext uri="{FF2B5EF4-FFF2-40B4-BE49-F238E27FC236}">
                <a16:creationId xmlns:a16="http://schemas.microsoft.com/office/drawing/2014/main" id="{3BDCE9D0-F4BD-4E3A-95A6-E38F24B8C3B0}"/>
              </a:ext>
            </a:extLst>
          </p:cNvPr>
          <p:cNvSpPr>
            <a:spLocks xmlns:a="http://schemas.openxmlformats.org/drawingml/2006/main" noGrp="1"/>
          </p:cNvSpPr>
          <p:nvPr/>
        </p:nvSpPr>
        <p:spPr>
          <a:xfrm xmlns:a="http://schemas.openxmlformats.org/drawingml/2006/main">
            <a:off x="5476875" y="1781175"/>
            <a:ext cx="76200" cy="628650"/>
          </a:xfrm>
          <a:prstGeom xmlns:a="http://schemas.openxmlformats.org/drawingml/2006/main" prst="roundRect">
            <a:avLst>
              <a:gd name="adj" fmla="val 25000"/>
            </a:avLst>
          </a:prstGeom>
          <a:solidFill xmlns:a="http://schemas.openxmlformats.org/drawingml/2006/main">
            <a:srgbClr val="27D3B2"/>
          </a:solidFill>
          <a:ln xmlns:a="http://schemas.openxmlformats.org/drawingml/2006/main" w="9525">
            <a:solidFill>
              <a:srgbClr val="27D3B2"/>
            </a:solidFill>
            <a:prstDash val="solid"/>
          </a:ln>
        </p:spPr>
      </p:sp>
      <p:sp>
        <p:nvSpPr>
          <p:cNvPr id="10" name="">
            <a:extLst xmlns:a="http://schemas.openxmlformats.org/drawingml/2006/main">
              <a:ext uri="{FF2B5EF4-FFF2-40B4-BE49-F238E27FC236}">
                <a16:creationId xmlns:a16="http://schemas.microsoft.com/office/drawing/2014/main" id="{DF4F3E6C-7C4D-4220-B825-EF5A4EF39063}"/>
              </a:ext>
            </a:extLst>
          </p:cNvPr>
          <p:cNvSpPr>
            <a:spLocks xmlns:a="http://schemas.openxmlformats.org/drawingml/2006/main" noGrp="1"/>
          </p:cNvSpPr>
          <p:nvPr/>
        </p:nvSpPr>
        <p:spPr>
          <a:xfrm xmlns:a="http://schemas.openxmlformats.org/drawingml/2006/main">
            <a:off x="5772150" y="1771650"/>
            <a:ext cx="1809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3F7FA"/>
                </a:solidFill>
                <a:latin typeface="Arial"/>
                <a:ea typeface="Arial"/>
                <a:cs typeface="Arial"/>
              </a:defRPr>
            </a:defPPr>
          </a:lstStyle>
          <a:p xmlns:a="http://schemas.openxmlformats.org/drawingml/2006/main">
            <a:pPr algn="l">
              <a:defRPr sz="1650" b="1">
                <a:solidFill>
                  <a:srgbClr val="F3F7FA"/>
                </a:solidFill>
                <a:latin typeface="Arial"/>
                <a:ea typeface="Arial"/>
                <a:cs typeface="Arial"/>
              </a:defRPr>
            </a:pPr>
            <a:r>
              <a:rPr sz="1650" b="1">
                <a:solidFill>
                  <a:srgbClr val="F3F7FA"/>
                </a:solidFill>
                <a:latin typeface="Arial"/>
                <a:ea typeface="Arial"/>
                <a:cs typeface="Arial"/>
              </a:rPr>
              <a:t>Placement</a:t>
            </a:r>
          </a:p>
        </p:txBody>
      </p:sp>
      <p:sp>
        <p:nvSpPr>
          <p:cNvPr id="11" name="">
            <a:extLst xmlns:a="http://schemas.openxmlformats.org/drawingml/2006/main">
              <a:ext uri="{FF2B5EF4-FFF2-40B4-BE49-F238E27FC236}">
                <a16:creationId xmlns:a16="http://schemas.microsoft.com/office/drawing/2014/main" id="{60CD3F77-BD6D-4535-8B04-3AD443EABD95}"/>
              </a:ext>
            </a:extLst>
          </p:cNvPr>
          <p:cNvSpPr>
            <a:spLocks xmlns:a="http://schemas.openxmlformats.org/drawingml/2006/main" noGrp="1"/>
          </p:cNvSpPr>
          <p:nvPr/>
        </p:nvSpPr>
        <p:spPr>
          <a:xfrm xmlns:a="http://schemas.openxmlformats.org/drawingml/2006/main">
            <a:off x="7667625" y="1752600"/>
            <a:ext cx="352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DCC"/>
                </a:solidFill>
                <a:latin typeface="Arial"/>
                <a:ea typeface="Arial"/>
                <a:cs typeface="Arial"/>
              </a:defRPr>
            </a:defPPr>
          </a:lstStyle>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Choose a primary and replicas based on node load.</a:t>
            </a:r>
          </a:p>
        </p:txBody>
      </p:sp>
      <p:sp>
        <p:nvSpPr>
          <p:cNvPr id="12" name="">
            <a:extLst xmlns:a="http://schemas.openxmlformats.org/drawingml/2006/main">
              <a:ext uri="{FF2B5EF4-FFF2-40B4-BE49-F238E27FC236}">
                <a16:creationId xmlns:a16="http://schemas.microsoft.com/office/drawing/2014/main" id="{562DB92E-7FAC-4E30-9DFF-04F887FE6221}"/>
              </a:ext>
            </a:extLst>
          </p:cNvPr>
          <p:cNvSpPr>
            <a:spLocks xmlns:a="http://schemas.openxmlformats.org/drawingml/2006/main" noGrp="1"/>
          </p:cNvSpPr>
          <p:nvPr/>
        </p:nvSpPr>
        <p:spPr>
          <a:xfrm xmlns:a="http://schemas.openxmlformats.org/drawingml/2006/main">
            <a:off x="5429250" y="2686050"/>
            <a:ext cx="590550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3" name="">
            <a:extLst xmlns:a="http://schemas.openxmlformats.org/drawingml/2006/main">
              <a:ext uri="{FF2B5EF4-FFF2-40B4-BE49-F238E27FC236}">
                <a16:creationId xmlns:a16="http://schemas.microsoft.com/office/drawing/2014/main" id="{7A69E149-84EB-4F00-BC2E-27FF6CD712DC}"/>
              </a:ext>
            </a:extLst>
          </p:cNvPr>
          <p:cNvSpPr>
            <a:spLocks xmlns:a="http://schemas.openxmlformats.org/drawingml/2006/main" noGrp="1"/>
          </p:cNvSpPr>
          <p:nvPr/>
        </p:nvSpPr>
        <p:spPr>
          <a:xfrm xmlns:a="http://schemas.openxmlformats.org/drawingml/2006/main">
            <a:off x="5476875" y="2895600"/>
            <a:ext cx="76200" cy="628650"/>
          </a:xfrm>
          <a:prstGeom xmlns:a="http://schemas.openxmlformats.org/drawingml/2006/main" prst="roundRect">
            <a:avLst>
              <a:gd name="adj" fmla="val 25000"/>
            </a:avLst>
          </a:prstGeom>
          <a:solidFill xmlns:a="http://schemas.openxmlformats.org/drawingml/2006/main">
            <a:srgbClr val="F4B860"/>
          </a:solidFill>
          <a:ln xmlns:a="http://schemas.openxmlformats.org/drawingml/2006/main" w="9525">
            <a:solidFill>
              <a:srgbClr val="F4B860"/>
            </a:solidFill>
            <a:prstDash val="solid"/>
          </a:ln>
        </p:spPr>
      </p:sp>
      <p:sp>
        <p:nvSpPr>
          <p:cNvPr id="14" name="">
            <a:extLst xmlns:a="http://schemas.openxmlformats.org/drawingml/2006/main">
              <a:ext uri="{FF2B5EF4-FFF2-40B4-BE49-F238E27FC236}">
                <a16:creationId xmlns:a16="http://schemas.microsoft.com/office/drawing/2014/main" id="{5CF5A41C-0569-4EFD-87BB-09339825FD1A}"/>
              </a:ext>
            </a:extLst>
          </p:cNvPr>
          <p:cNvSpPr>
            <a:spLocks xmlns:a="http://schemas.openxmlformats.org/drawingml/2006/main" noGrp="1"/>
          </p:cNvSpPr>
          <p:nvPr/>
        </p:nvSpPr>
        <p:spPr>
          <a:xfrm xmlns:a="http://schemas.openxmlformats.org/drawingml/2006/main">
            <a:off x="5772150" y="2886075"/>
            <a:ext cx="1809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3F7FA"/>
                </a:solidFill>
                <a:latin typeface="Arial"/>
                <a:ea typeface="Arial"/>
                <a:cs typeface="Arial"/>
              </a:defRPr>
            </a:defPPr>
          </a:lstStyle>
          <a:p xmlns:a="http://schemas.openxmlformats.org/drawingml/2006/main">
            <a:pPr algn="l">
              <a:defRPr sz="1650" b="1">
                <a:solidFill>
                  <a:srgbClr val="F3F7FA"/>
                </a:solidFill>
                <a:latin typeface="Arial"/>
                <a:ea typeface="Arial"/>
                <a:cs typeface="Arial"/>
              </a:defRPr>
            </a:pPr>
            <a:r>
              <a:rPr sz="1650" b="1">
                <a:solidFill>
                  <a:srgbClr val="F3F7FA"/>
                </a:solidFill>
                <a:latin typeface="Arial"/>
                <a:ea typeface="Arial"/>
                <a:cs typeface="Arial"/>
              </a:rPr>
              <a:t>Transfer</a:t>
            </a:r>
          </a:p>
        </p:txBody>
      </p:sp>
      <p:sp>
        <p:nvSpPr>
          <p:cNvPr id="15" name="">
            <a:extLst xmlns:a="http://schemas.openxmlformats.org/drawingml/2006/main">
              <a:ext uri="{FF2B5EF4-FFF2-40B4-BE49-F238E27FC236}">
                <a16:creationId xmlns:a16="http://schemas.microsoft.com/office/drawing/2014/main" id="{CB2B62D3-8246-44E9-9B08-542B5BA1D95C}"/>
              </a:ext>
            </a:extLst>
          </p:cNvPr>
          <p:cNvSpPr>
            <a:spLocks xmlns:a="http://schemas.openxmlformats.org/drawingml/2006/main" noGrp="1"/>
          </p:cNvSpPr>
          <p:nvPr/>
        </p:nvSpPr>
        <p:spPr>
          <a:xfrm xmlns:a="http://schemas.openxmlformats.org/drawingml/2006/main">
            <a:off x="7667625" y="2867025"/>
            <a:ext cx="352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DCC"/>
                </a:solidFill>
                <a:latin typeface="Arial"/>
                <a:ea typeface="Arial"/>
                <a:cs typeface="Arial"/>
              </a:defRPr>
            </a:defPPr>
          </a:lstStyle>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Stream in bounded chunks rather than treating the model as one giant message.</a:t>
            </a:r>
          </a:p>
        </p:txBody>
      </p:sp>
      <p:sp>
        <p:nvSpPr>
          <p:cNvPr id="16" name="">
            <a:extLst xmlns:a="http://schemas.openxmlformats.org/drawingml/2006/main">
              <a:ext uri="{FF2B5EF4-FFF2-40B4-BE49-F238E27FC236}">
                <a16:creationId xmlns:a16="http://schemas.microsoft.com/office/drawing/2014/main" id="{5225912D-3580-4093-8B61-7B53404D705F}"/>
              </a:ext>
            </a:extLst>
          </p:cNvPr>
          <p:cNvSpPr>
            <a:spLocks xmlns:a="http://schemas.openxmlformats.org/drawingml/2006/main" noGrp="1"/>
          </p:cNvSpPr>
          <p:nvPr/>
        </p:nvSpPr>
        <p:spPr>
          <a:xfrm xmlns:a="http://schemas.openxmlformats.org/drawingml/2006/main">
            <a:off x="5429250" y="3800475"/>
            <a:ext cx="590550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7" name="">
            <a:extLst xmlns:a="http://schemas.openxmlformats.org/drawingml/2006/main">
              <a:ext uri="{FF2B5EF4-FFF2-40B4-BE49-F238E27FC236}">
                <a16:creationId xmlns:a16="http://schemas.microsoft.com/office/drawing/2014/main" id="{8F916509-738E-4150-8BC6-4B7A2CCA1F26}"/>
              </a:ext>
            </a:extLst>
          </p:cNvPr>
          <p:cNvSpPr>
            <a:spLocks xmlns:a="http://schemas.openxmlformats.org/drawingml/2006/main" noGrp="1"/>
          </p:cNvSpPr>
          <p:nvPr/>
        </p:nvSpPr>
        <p:spPr>
          <a:xfrm xmlns:a="http://schemas.openxmlformats.org/drawingml/2006/main">
            <a:off x="5476875" y="4010025"/>
            <a:ext cx="76200" cy="628650"/>
          </a:xfrm>
          <a:prstGeom xmlns:a="http://schemas.openxmlformats.org/drawingml/2006/main" prst="roundRect">
            <a:avLst>
              <a:gd name="adj" fmla="val 25000"/>
            </a:avLst>
          </a:prstGeom>
          <a:solidFill xmlns:a="http://schemas.openxmlformats.org/drawingml/2006/main">
            <a:srgbClr val="6FB7FF"/>
          </a:solidFill>
          <a:ln xmlns:a="http://schemas.openxmlformats.org/drawingml/2006/main" w="9525">
            <a:solidFill>
              <a:srgbClr val="6FB7FF"/>
            </a:solidFill>
            <a:prstDash val="solid"/>
          </a:ln>
        </p:spPr>
      </p:sp>
      <p:sp>
        <p:nvSpPr>
          <p:cNvPr id="18" name="">
            <a:extLst xmlns:a="http://schemas.openxmlformats.org/drawingml/2006/main">
              <a:ext uri="{FF2B5EF4-FFF2-40B4-BE49-F238E27FC236}">
                <a16:creationId xmlns:a16="http://schemas.microsoft.com/office/drawing/2014/main" id="{8011BA2D-AEE8-4464-AB21-2F18547E1999}"/>
              </a:ext>
            </a:extLst>
          </p:cNvPr>
          <p:cNvSpPr>
            <a:spLocks xmlns:a="http://schemas.openxmlformats.org/drawingml/2006/main" noGrp="1"/>
          </p:cNvSpPr>
          <p:nvPr/>
        </p:nvSpPr>
        <p:spPr>
          <a:xfrm xmlns:a="http://schemas.openxmlformats.org/drawingml/2006/main">
            <a:off x="5772150" y="4000500"/>
            <a:ext cx="1809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3F7FA"/>
                </a:solidFill>
                <a:latin typeface="Arial"/>
                <a:ea typeface="Arial"/>
                <a:cs typeface="Arial"/>
              </a:defRPr>
            </a:defPPr>
          </a:lstStyle>
          <a:p xmlns:a="http://schemas.openxmlformats.org/drawingml/2006/main">
            <a:pPr algn="l">
              <a:defRPr sz="1650" b="1">
                <a:solidFill>
                  <a:srgbClr val="F3F7FA"/>
                </a:solidFill>
                <a:latin typeface="Arial"/>
                <a:ea typeface="Arial"/>
                <a:cs typeface="Arial"/>
              </a:defRPr>
            </a:pPr>
            <a:r>
              <a:rPr sz="1650" b="1">
                <a:solidFill>
                  <a:srgbClr val="F3F7FA"/>
                </a:solidFill>
                <a:latin typeface="Arial"/>
                <a:ea typeface="Arial"/>
                <a:cs typeface="Arial"/>
              </a:rPr>
              <a:t>Integrity</a:t>
            </a:r>
          </a:p>
        </p:txBody>
      </p:sp>
      <p:sp>
        <p:nvSpPr>
          <p:cNvPr id="19" name="">
            <a:extLst xmlns:a="http://schemas.openxmlformats.org/drawingml/2006/main">
              <a:ext uri="{FF2B5EF4-FFF2-40B4-BE49-F238E27FC236}">
                <a16:creationId xmlns:a16="http://schemas.microsoft.com/office/drawing/2014/main" id="{F8612F5E-1901-4DF4-8A3A-5B7ADFFA495D}"/>
              </a:ext>
            </a:extLst>
          </p:cNvPr>
          <p:cNvSpPr>
            <a:spLocks xmlns:a="http://schemas.openxmlformats.org/drawingml/2006/main" noGrp="1"/>
          </p:cNvSpPr>
          <p:nvPr/>
        </p:nvSpPr>
        <p:spPr>
          <a:xfrm xmlns:a="http://schemas.openxmlformats.org/drawingml/2006/main">
            <a:off x="7667625" y="3981450"/>
            <a:ext cx="352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DCC"/>
                </a:solidFill>
                <a:latin typeface="Arial"/>
                <a:ea typeface="Arial"/>
                <a:cs typeface="Arial"/>
              </a:defRPr>
            </a:defPPr>
          </a:lstStyle>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Calculate SHA-256 values as bytes flow through the system.</a:t>
            </a:r>
          </a:p>
        </p:txBody>
      </p:sp>
      <p:sp>
        <p:nvSpPr>
          <p:cNvPr id="20" name="">
            <a:extLst xmlns:a="http://schemas.openxmlformats.org/drawingml/2006/main">
              <a:ext uri="{FF2B5EF4-FFF2-40B4-BE49-F238E27FC236}">
                <a16:creationId xmlns:a16="http://schemas.microsoft.com/office/drawing/2014/main" id="{9E8AB8ED-BBA5-412C-AD4B-9ABF207D0639}"/>
              </a:ext>
            </a:extLst>
          </p:cNvPr>
          <p:cNvSpPr>
            <a:spLocks xmlns:a="http://schemas.openxmlformats.org/drawingml/2006/main" noGrp="1"/>
          </p:cNvSpPr>
          <p:nvPr/>
        </p:nvSpPr>
        <p:spPr>
          <a:xfrm xmlns:a="http://schemas.openxmlformats.org/drawingml/2006/main">
            <a:off x="5429250" y="4914900"/>
            <a:ext cx="590550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21" name="">
            <a:extLst xmlns:a="http://schemas.openxmlformats.org/drawingml/2006/main">
              <a:ext uri="{FF2B5EF4-FFF2-40B4-BE49-F238E27FC236}">
                <a16:creationId xmlns:a16="http://schemas.microsoft.com/office/drawing/2014/main" id="{7E009269-06DF-491A-A7CE-2AF5B2ACC34D}"/>
              </a:ext>
            </a:extLst>
          </p:cNvPr>
          <p:cNvSpPr>
            <a:spLocks xmlns:a="http://schemas.openxmlformats.org/drawingml/2006/main" noGrp="1"/>
          </p:cNvSpPr>
          <p:nvPr/>
        </p:nvSpPr>
        <p:spPr>
          <a:xfrm xmlns:a="http://schemas.openxmlformats.org/drawingml/2006/main">
            <a:off x="5476875" y="5124450"/>
            <a:ext cx="76200" cy="628650"/>
          </a:xfrm>
          <a:prstGeom xmlns:a="http://schemas.openxmlformats.org/drawingml/2006/main" prst="roundRect">
            <a:avLst>
              <a:gd name="adj" fmla="val 25000"/>
            </a:avLst>
          </a:prstGeom>
          <a:solidFill xmlns:a="http://schemas.openxmlformats.org/drawingml/2006/main">
            <a:srgbClr val="B5A2FF"/>
          </a:solidFill>
          <a:ln xmlns:a="http://schemas.openxmlformats.org/drawingml/2006/main" w="9525">
            <a:solidFill>
              <a:srgbClr val="B5A2FF"/>
            </a:solidFill>
            <a:prstDash val="solid"/>
          </a:ln>
        </p:spPr>
      </p:sp>
      <p:sp>
        <p:nvSpPr>
          <p:cNvPr id="22" name="">
            <a:extLst xmlns:a="http://schemas.openxmlformats.org/drawingml/2006/main">
              <a:ext uri="{FF2B5EF4-FFF2-40B4-BE49-F238E27FC236}">
                <a16:creationId xmlns:a16="http://schemas.microsoft.com/office/drawing/2014/main" id="{B6B20AB9-F690-411E-9136-754B6D33ED70}"/>
              </a:ext>
            </a:extLst>
          </p:cNvPr>
          <p:cNvSpPr>
            <a:spLocks xmlns:a="http://schemas.openxmlformats.org/drawingml/2006/main" noGrp="1"/>
          </p:cNvSpPr>
          <p:nvPr/>
        </p:nvSpPr>
        <p:spPr>
          <a:xfrm xmlns:a="http://schemas.openxmlformats.org/drawingml/2006/main">
            <a:off x="5772150" y="5114925"/>
            <a:ext cx="1809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3F7FA"/>
                </a:solidFill>
                <a:latin typeface="Arial"/>
                <a:ea typeface="Arial"/>
                <a:cs typeface="Arial"/>
              </a:defRPr>
            </a:defPPr>
          </a:lstStyle>
          <a:p xmlns:a="http://schemas.openxmlformats.org/drawingml/2006/main">
            <a:pPr algn="l">
              <a:defRPr sz="1650" b="1">
                <a:solidFill>
                  <a:srgbClr val="F3F7FA"/>
                </a:solidFill>
                <a:latin typeface="Arial"/>
                <a:ea typeface="Arial"/>
                <a:cs typeface="Arial"/>
              </a:defRPr>
            </a:pPr>
            <a:r>
              <a:rPr sz="1650" b="1">
                <a:solidFill>
                  <a:srgbClr val="F3F7FA"/>
                </a:solidFill>
                <a:latin typeface="Arial"/>
                <a:ea typeface="Arial"/>
                <a:cs typeface="Arial"/>
              </a:rPr>
              <a:t>Availability</a:t>
            </a:r>
          </a:p>
        </p:txBody>
      </p:sp>
      <p:sp>
        <p:nvSpPr>
          <p:cNvPr id="23" name="">
            <a:extLst xmlns:a="http://schemas.openxmlformats.org/drawingml/2006/main">
              <a:ext uri="{FF2B5EF4-FFF2-40B4-BE49-F238E27FC236}">
                <a16:creationId xmlns:a16="http://schemas.microsoft.com/office/drawing/2014/main" id="{E9A20677-F2E1-4B7E-BEDA-FE54F5B367AE}"/>
              </a:ext>
            </a:extLst>
          </p:cNvPr>
          <p:cNvSpPr>
            <a:spLocks xmlns:a="http://schemas.openxmlformats.org/drawingml/2006/main" noGrp="1"/>
          </p:cNvSpPr>
          <p:nvPr/>
        </p:nvSpPr>
        <p:spPr>
          <a:xfrm xmlns:a="http://schemas.openxmlformats.org/drawingml/2006/main">
            <a:off x="7667625" y="5095875"/>
            <a:ext cx="352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DCC"/>
                </a:solidFill>
                <a:latin typeface="Arial"/>
                <a:ea typeface="Arial"/>
                <a:cs typeface="Arial"/>
              </a:defRPr>
            </a:defPPr>
          </a:lstStyle>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Track node health and route downloads to a synced replica.</a:t>
            </a:r>
          </a:p>
        </p:txBody>
      </p:sp>
    </p:spTree>
    <p:extLst>
      <p:ext uri="{BB962C8B-B14F-4D97-AF65-F5344CB8AC3E}">
        <p14:creationId xmlns:p14="http://schemas.microsoft.com/office/powerpoint/2010/main" val="1904275464"/>
      </p:ext>
    </p:extLst>
  </p:cSld>
</p:sld>
</file>

<file path=ppt/slides/slide3.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cxnSp>
        <p:nvCxnSpPr>
          <p:cNvPr id="40" name="">
            <a:extLst xmlns:a="http://schemas.openxmlformats.org/drawingml/2006/main">
              <a:ext uri="{FF2B5EF4-FFF2-40B4-BE49-F238E27FC236}">
                <a16:creationId xmlns:a16="http://schemas.microsoft.com/office/drawing/2014/main" id="{192EEAE5-3324-4733-A71F-33FF14D2EFCC}"/>
              </a:ext>
            </a:extLst>
          </p:cNvPr>
          <p:cNvCxnSpPr>
            <a:stCxn xmlns:a="http://schemas.openxmlformats.org/drawingml/2006/main" id="26" idx="2"/>
            <a:endCxn xmlns:a="http://schemas.openxmlformats.org/drawingml/2006/main" id="30" idx="3"/>
          </p:cNvCxnSpPr>
          <p:nvPr/>
        </p:nvCxnSpPr>
        <p:spPr>
          <a:xfrm xmlns:a="http://schemas.openxmlformats.org/drawingml/2006/main" flipH="1">
            <a:off x="10906125" y="2819400"/>
            <a:ext cx="76200" cy="1409700"/>
          </a:xfrm>
          <a:prstGeom xmlns:a="http://schemas.openxmlformats.org/drawingml/2006/main" prst="straightConnector1">
            <a:avLst/>
          </a:prstGeom>
          <a:ln xmlns:a="http://schemas.openxmlformats.org/drawingml/2006/main" w="19050">
            <a:solidFill>
              <a:srgbClr val="B5A2FF"/>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7D46DFA3-A0FB-4246-A2AA-6488FAE077CD}"/>
              </a:ext>
            </a:extLst>
          </p:cNvPr>
          <p:cNvCxnSpPr>
            <a:stCxn xmlns:a="http://schemas.openxmlformats.org/drawingml/2006/main" id="22" idx="2"/>
            <a:endCxn xmlns:a="http://schemas.openxmlformats.org/drawingml/2006/main" id="30" idx="0"/>
          </p:cNvCxnSpPr>
          <p:nvPr/>
        </p:nvCxnSpPr>
        <p:spPr>
          <a:xfrm xmlns:a="http://schemas.openxmlformats.org/drawingml/2006/main">
            <a:off x="9448800" y="2819400"/>
            <a:ext cx="762000" cy="933450"/>
          </a:xfrm>
          <a:prstGeom xmlns:a="http://schemas.openxmlformats.org/drawingml/2006/main" prst="straightConnector1">
            <a:avLst/>
          </a:prstGeom>
          <a:ln xmlns:a="http://schemas.openxmlformats.org/drawingml/2006/main" w="19050">
            <a:solidFill>
              <a:srgbClr val="6FB7FF"/>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445ECFCB-06BE-4494-A14B-7DCCCC643386}"/>
              </a:ext>
            </a:extLst>
          </p:cNvPr>
          <p:cNvCxnSpPr>
            <a:stCxn xmlns:a="http://schemas.openxmlformats.org/drawingml/2006/main" id="22" idx="3"/>
            <a:endCxn xmlns:a="http://schemas.openxmlformats.org/drawingml/2006/main" id="26" idx="1"/>
          </p:cNvCxnSpPr>
          <p:nvPr/>
        </p:nvCxnSpPr>
        <p:spPr>
          <a:xfrm xmlns:a="http://schemas.openxmlformats.org/drawingml/2006/main">
            <a:off x="10144125" y="2343150"/>
            <a:ext cx="142875" cy="0"/>
          </a:xfrm>
          <a:prstGeom xmlns:a="http://schemas.openxmlformats.org/drawingml/2006/main" prst="straightConnector1">
            <a:avLst/>
          </a:prstGeom>
          <a:ln xmlns:a="http://schemas.openxmlformats.org/drawingml/2006/main" w="19050">
            <a:solidFill>
              <a:srgbClr val="27D3B2"/>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FCAD60BC-F2ED-4D2E-9CA4-5E6DED0B41CF}"/>
              </a:ext>
            </a:extLst>
          </p:cNvPr>
          <p:cNvCxnSpPr>
            <a:stCxn xmlns:a="http://schemas.openxmlformats.org/drawingml/2006/main" id="10" idx="3"/>
            <a:endCxn xmlns:a="http://schemas.openxmlformats.org/drawingml/2006/main" id="22" idx="1"/>
          </p:cNvCxnSpPr>
          <p:nvPr/>
        </p:nvCxnSpPr>
        <p:spPr>
          <a:xfrm xmlns:a="http://schemas.openxmlformats.org/drawingml/2006/main" flipV="1">
            <a:off x="5095875" y="2343150"/>
            <a:ext cx="3657600" cy="642938"/>
          </a:xfrm>
          <a:prstGeom xmlns:a="http://schemas.openxmlformats.org/drawingml/2006/main" prst="straightConnector1">
            <a:avLst/>
          </a:prstGeom>
          <a:ln xmlns:a="http://schemas.openxmlformats.org/drawingml/2006/main" w="19050">
            <a:solidFill>
              <a:srgbClr val="F4B860"/>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2540FEE8-ADAE-4324-99BB-D1A905698D45}"/>
              </a:ext>
            </a:extLst>
          </p:cNvPr>
          <p:cNvCxnSpPr>
            <a:stCxn xmlns:a="http://schemas.openxmlformats.org/drawingml/2006/main" id="10" idx="3"/>
            <a:endCxn xmlns:a="http://schemas.openxmlformats.org/drawingml/2006/main" id="18" idx="1"/>
          </p:cNvCxnSpPr>
          <p:nvPr/>
        </p:nvCxnSpPr>
        <p:spPr>
          <a:xfrm xmlns:a="http://schemas.openxmlformats.org/drawingml/2006/main">
            <a:off x="5095875" y="2986088"/>
            <a:ext cx="942975" cy="1095375"/>
          </a:xfrm>
          <a:prstGeom xmlns:a="http://schemas.openxmlformats.org/drawingml/2006/main" prst="straightConnector1">
            <a:avLst/>
          </a:prstGeom>
          <a:ln xmlns:a="http://schemas.openxmlformats.org/drawingml/2006/main" w="19050">
            <a:solidFill>
              <a:srgbClr val="27D3B2"/>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3D66B2AE-17EC-46E7-8AF6-D67FD466C8AB}"/>
              </a:ext>
            </a:extLst>
          </p:cNvPr>
          <p:cNvCxnSpPr>
            <a:stCxn xmlns:a="http://schemas.openxmlformats.org/drawingml/2006/main" id="10" idx="3"/>
            <a:endCxn xmlns:a="http://schemas.openxmlformats.org/drawingml/2006/main" id="14" idx="1"/>
          </p:cNvCxnSpPr>
          <p:nvPr/>
        </p:nvCxnSpPr>
        <p:spPr>
          <a:xfrm xmlns:a="http://schemas.openxmlformats.org/drawingml/2006/main" flipV="1">
            <a:off x="5095875" y="2014538"/>
            <a:ext cx="942975" cy="971550"/>
          </a:xfrm>
          <a:prstGeom xmlns:a="http://schemas.openxmlformats.org/drawingml/2006/main" prst="straightConnector1">
            <a:avLst/>
          </a:prstGeom>
          <a:ln xmlns:a="http://schemas.openxmlformats.org/drawingml/2006/main" w="19050">
            <a:solidFill>
              <a:srgbClr val="F4B860"/>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8F4A94E1-BD63-4662-B366-D7289D489192}"/>
              </a:ext>
            </a:extLst>
          </p:cNvPr>
          <p:cNvCxnSpPr>
            <a:stCxn xmlns:a="http://schemas.openxmlformats.org/drawingml/2006/main" id="6" idx="3"/>
            <a:endCxn xmlns:a="http://schemas.openxmlformats.org/drawingml/2006/main" id="10" idx="1"/>
          </p:cNvCxnSpPr>
          <p:nvPr/>
        </p:nvCxnSpPr>
        <p:spPr>
          <a:xfrm xmlns:a="http://schemas.openxmlformats.org/drawingml/2006/main">
            <a:off x="2381250" y="2986088"/>
            <a:ext cx="619125" cy="0"/>
          </a:xfrm>
          <a:prstGeom xmlns:a="http://schemas.openxmlformats.org/drawingml/2006/main" prst="straightConnector1">
            <a:avLst/>
          </a:prstGeom>
          <a:ln xmlns:a="http://schemas.openxmlformats.org/drawingml/2006/main" w="19050">
            <a:solidFill>
              <a:srgbClr val="6FB7FF"/>
            </a:solidFill>
            <a:prstDash val="solid"/>
            <a:tailEnd type="triangle" w="sm" len="sm"/>
          </a:ln>
        </p:spPr>
      </p:cxnSp>
      <p:sp>
        <p:nvSpPr>
          <p:cNvPr id="46" name="title-3">
            <a:extLst xmlns:a="http://schemas.openxmlformats.org/drawingml/2006/main">
              <a:ext uri="{FF2B5EF4-FFF2-40B4-BE49-F238E27FC236}">
                <a16:creationId xmlns:a16="http://schemas.microsoft.com/office/drawing/2014/main" id="{93BD3F29-458C-4875-B095-811699ACAEBE}"/>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3F7FA"/>
                </a:solidFill>
                <a:latin typeface="Arial"/>
                <a:ea typeface="Arial"/>
                <a:cs typeface="Arial"/>
              </a:defRPr>
            </a:defPPr>
          </a:lstStyle>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C33505A7-D9C2-4C4B-B16C-F7EEF049B77C}"/>
              </a:ext>
            </a:extLst>
          </p:cNvPr>
          <p:cNvSpPr>
            <a:spLocks xmlns:a="http://schemas.openxmlformats.org/drawingml/2006/main" noGrp="1"/>
          </p:cNvSpPr>
          <p:nvPr/>
        </p:nvSpPr>
        <p:spPr>
          <a:xfrm xmlns:a="http://schemas.openxmlformats.org/drawingml/2006/main">
            <a:off x="704850" y="962025"/>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A8BDCC"/>
                </a:solidFill>
                <a:latin typeface="Arial"/>
                <a:ea typeface="Arial"/>
                <a:cs typeface="Arial"/>
              </a:defRPr>
            </a:defPPr>
          </a:lstStyle>
          <a:p xmlns:a="http://schemas.openxmlformats.org/drawingml/2006/main">
            <a:pPr algn="l">
              <a:defRPr sz="1425" b="0">
                <a:solidFill>
                  <a:srgbClr val="A8BDCC"/>
                </a:solidFill>
                <a:latin typeface="Arial"/>
                <a:ea typeface="Arial"/>
                <a:cs typeface="Arial"/>
              </a:defRPr>
            </a:pPr>
            <a:r>
              <a:rPr sz="1425" b="0">
                <a:solidFill>
                  <a:srgbClr val="A8BDCC"/>
                </a:solidFill>
                <a:latin typeface="Arial"/>
                <a:ea typeface="Arial"/>
                <a:cs typeface="Arial"/>
              </a:rPr>
              <a:t>The Coordinator manages metadata and decisions; storage nodes move the file data.</a:t>
            </a:r>
          </a:p>
        </p:txBody>
      </p:sp>
      <p:sp>
        <p:nvSpPr>
          <p:cNvPr id="3" name="">
            <a:extLst xmlns:a="http://schemas.openxmlformats.org/drawingml/2006/main">
              <a:ext uri="{FF2B5EF4-FFF2-40B4-BE49-F238E27FC236}">
                <a16:creationId xmlns:a16="http://schemas.microsoft.com/office/drawing/2014/main" id="{FBAAC1B8-6406-4751-8D93-375D33713FC1}"/>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0374A"/>
            </a:solidFill>
            <a:prstDash val="solid"/>
          </a:ln>
        </p:spPr>
      </p:sp>
      <p:sp>
        <p:nvSpPr>
          <p:cNvPr id="4" name="">
            <a:extLst xmlns:a="http://schemas.openxmlformats.org/drawingml/2006/main">
              <a:ext uri="{FF2B5EF4-FFF2-40B4-BE49-F238E27FC236}">
                <a16:creationId xmlns:a16="http://schemas.microsoft.com/office/drawing/2014/main" id="{4BBAAFE6-7F44-4A3D-804B-27C129917F41}"/>
              </a:ext>
            </a:extLst>
          </p:cNvPr>
          <p:cNvSpPr>
            <a:spLocks xmlns:a="http://schemas.openxmlformats.org/drawingml/2006/main" noGrp="1"/>
          </p:cNvSpPr>
          <p:nvPr/>
        </p:nvSpPr>
        <p:spPr>
          <a:xfrm xmlns:a="http://schemas.openxmlformats.org/drawingml/2006/main">
            <a:off x="704850" y="64960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892A6"/>
                </a:solidFill>
                <a:latin typeface="Arial"/>
                <a:ea typeface="Arial"/>
                <a:cs typeface="Arial"/>
              </a:defRPr>
            </a:defPPr>
          </a:lstStyle>
          <a:p xmlns:a="http://schemas.openxmlformats.org/drawingml/2006/main">
            <a:pPr algn="l">
              <a:defRPr sz="900" b="0">
                <a:solidFill>
                  <a:srgbClr val="7892A6"/>
                </a:solidFill>
                <a:latin typeface="Arial"/>
                <a:ea typeface="Arial"/>
                <a:cs typeface="Arial"/>
              </a:defRPr>
            </a:pPr>
            <a:r>
              <a:rPr sz="900" b="0">
                <a:solidFill>
                  <a:srgbClr val="7892A6"/>
                </a:solidFill>
                <a:latin typeface="Arial"/>
                <a:ea typeface="Arial"/>
                <a:cs typeface="Arial"/>
              </a:rPr>
              <a:t>DISTRIBUTED MODEL REPOSITORY  /  PROJECT WALKTHROUGH</a:t>
            </a:r>
          </a:p>
        </p:txBody>
      </p:sp>
      <p:sp>
        <p:nvSpPr>
          <p:cNvPr id="5" name="">
            <a:extLst xmlns:a="http://schemas.openxmlformats.org/drawingml/2006/main">
              <a:ext uri="{FF2B5EF4-FFF2-40B4-BE49-F238E27FC236}">
                <a16:creationId xmlns:a16="http://schemas.microsoft.com/office/drawing/2014/main" id="{114D166F-0971-4EDB-8AEA-B481DF4CF106}"/>
              </a:ext>
            </a:extLst>
          </p:cNvPr>
          <p:cNvSpPr>
            <a:spLocks xmlns:a="http://schemas.openxmlformats.org/drawingml/2006/main" noGrp="1"/>
          </p:cNvSpPr>
          <p:nvPr/>
        </p:nvSpPr>
        <p:spPr>
          <a:xfrm xmlns:a="http://schemas.openxmlformats.org/drawingml/2006/main">
            <a:off x="11049000" y="64865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7892A6"/>
                </a:solidFill>
                <a:latin typeface="Arial"/>
                <a:ea typeface="Arial"/>
                <a:cs typeface="Arial"/>
              </a:defRPr>
            </a:defPPr>
          </a:lstStyle>
          <a:p xmlns:a="http://schemas.openxmlformats.org/drawingml/2006/main">
            <a:pPr algn="r">
              <a:defRPr sz="975" b="0">
                <a:solidFill>
                  <a:srgbClr val="7892A6"/>
                </a:solidFill>
                <a:latin typeface="Arial"/>
                <a:ea typeface="Arial"/>
                <a:cs typeface="Arial"/>
              </a:defRPr>
            </a:pPr>
            <a:r>
              <a:rPr sz="975" b="0">
                <a:solidFill>
                  <a:srgbClr val="7892A6"/>
                </a:solidFill>
                <a:latin typeface="Arial"/>
                <a:ea typeface="Arial"/>
                <a:cs typeface="Arial"/>
              </a:rPr>
              <a:t>03</a:t>
            </a:r>
          </a:p>
        </p:txBody>
      </p:sp>
      <p:sp>
        <p:nvSpPr>
          <p:cNvPr id="6" name="react-ui">
            <a:extLst xmlns:a="http://schemas.openxmlformats.org/drawingml/2006/main">
              <a:ext uri="{FF2B5EF4-FFF2-40B4-BE49-F238E27FC236}">
                <a16:creationId xmlns:a16="http://schemas.microsoft.com/office/drawing/2014/main" id="{3AC8ECBB-98C0-40C5-B7D1-7B72BDF347D1}"/>
              </a:ext>
            </a:extLst>
          </p:cNvPr>
          <p:cNvSpPr>
            <a:spLocks xmlns:a="http://schemas.openxmlformats.org/drawingml/2006/main" noGrp="1"/>
          </p:cNvSpPr>
          <p:nvPr/>
        </p:nvSpPr>
        <p:spPr>
          <a:xfrm xmlns:a="http://schemas.openxmlformats.org/drawingml/2006/main">
            <a:off x="685800" y="2419350"/>
            <a:ext cx="1695450" cy="1133475"/>
          </a:xfrm>
          <a:prstGeom xmlns:a="http://schemas.openxmlformats.org/drawingml/2006/main" prst="roundRect">
            <a:avLst>
              <a:gd name="adj" fmla="val 8403"/>
            </a:avLst>
          </a:prstGeom>
          <a:solidFill xmlns:a="http://schemas.openxmlformats.org/drawingml/2006/main">
            <a:srgbClr val="111E2D"/>
          </a:solidFill>
          <a:ln xmlns:a="http://schemas.openxmlformats.org/drawingml/2006/main" w="9525">
            <a:solidFill>
              <a:srgbClr val="29465B"/>
            </a:solidFill>
            <a:prstDash val="solid"/>
          </a:ln>
        </p:spPr>
      </p:sp>
      <p:sp>
        <p:nvSpPr>
          <p:cNvPr id="7" name="">
            <a:extLst xmlns:a="http://schemas.openxmlformats.org/drawingml/2006/main">
              <a:ext uri="{FF2B5EF4-FFF2-40B4-BE49-F238E27FC236}">
                <a16:creationId xmlns:a16="http://schemas.microsoft.com/office/drawing/2014/main" id="{FBBCD739-2449-441A-9B2C-F18F4E46B5B3}"/>
              </a:ext>
            </a:extLst>
          </p:cNvPr>
          <p:cNvSpPr>
            <a:spLocks xmlns:a="http://schemas.openxmlformats.org/drawingml/2006/main" noGrp="1"/>
          </p:cNvSpPr>
          <p:nvPr/>
        </p:nvSpPr>
        <p:spPr>
          <a:xfrm xmlns:a="http://schemas.openxmlformats.org/drawingml/2006/main">
            <a:off x="809625" y="2543175"/>
            <a:ext cx="47625" cy="885825"/>
          </a:xfrm>
          <a:prstGeom xmlns:a="http://schemas.openxmlformats.org/drawingml/2006/main" prst="roundRect">
            <a:avLst>
              <a:gd name="adj" fmla="val 40000"/>
            </a:avLst>
          </a:prstGeom>
          <a:solidFill xmlns:a="http://schemas.openxmlformats.org/drawingml/2006/main">
            <a:srgbClr val="6FB7FF"/>
          </a:solidFill>
          <a:ln xmlns:a="http://schemas.openxmlformats.org/drawingml/2006/main" w="9525">
            <a:solidFill>
              <a:srgbClr val="6FB7FF"/>
            </a:solidFill>
            <a:prstDash val="solid"/>
          </a:ln>
        </p:spPr>
      </p:sp>
      <p:sp>
        <p:nvSpPr>
          <p:cNvPr id="8" name="">
            <a:extLst xmlns:a="http://schemas.openxmlformats.org/drawingml/2006/main">
              <a:ext uri="{FF2B5EF4-FFF2-40B4-BE49-F238E27FC236}">
                <a16:creationId xmlns:a16="http://schemas.microsoft.com/office/drawing/2014/main" id="{20C142F4-10BE-4F7E-919F-581CFC4A3BE0}"/>
              </a:ext>
            </a:extLst>
          </p:cNvPr>
          <p:cNvSpPr>
            <a:spLocks xmlns:a="http://schemas.openxmlformats.org/drawingml/2006/main" noGrp="1"/>
          </p:cNvSpPr>
          <p:nvPr/>
        </p:nvSpPr>
        <p:spPr>
          <a:xfrm xmlns:a="http://schemas.openxmlformats.org/drawingml/2006/main">
            <a:off x="971550" y="2562225"/>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React UI</a:t>
            </a:r>
          </a:p>
        </p:txBody>
      </p:sp>
      <p:sp>
        <p:nvSpPr>
          <p:cNvPr id="9" name="">
            <a:extLst xmlns:a="http://schemas.openxmlformats.org/drawingml/2006/main">
              <a:ext uri="{FF2B5EF4-FFF2-40B4-BE49-F238E27FC236}">
                <a16:creationId xmlns:a16="http://schemas.microsoft.com/office/drawing/2014/main" id="{34E9347A-9291-493C-A3D7-1F7D712563E8}"/>
              </a:ext>
            </a:extLst>
          </p:cNvPr>
          <p:cNvSpPr>
            <a:spLocks xmlns:a="http://schemas.openxmlformats.org/drawingml/2006/main" noGrp="1"/>
          </p:cNvSpPr>
          <p:nvPr/>
        </p:nvSpPr>
        <p:spPr>
          <a:xfrm xmlns:a="http://schemas.openxmlformats.org/drawingml/2006/main">
            <a:off x="971550" y="2895600"/>
            <a:ext cx="1295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Upload · browse</a:t>
            </a:r>
          </a:p>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models · inspect</a:t>
            </a:r>
          </a:p>
        </p:txBody>
      </p:sp>
      <p:sp>
        <p:nvSpPr>
          <p:cNvPr id="10" name="coordinator">
            <a:extLst xmlns:a="http://schemas.openxmlformats.org/drawingml/2006/main">
              <a:ext uri="{FF2B5EF4-FFF2-40B4-BE49-F238E27FC236}">
                <a16:creationId xmlns:a16="http://schemas.microsoft.com/office/drawing/2014/main" id="{AF0B86A2-1E69-4F6D-B116-05A0A7C46ECF}"/>
              </a:ext>
            </a:extLst>
          </p:cNvPr>
          <p:cNvSpPr>
            <a:spLocks xmlns:a="http://schemas.openxmlformats.org/drawingml/2006/main" noGrp="1"/>
          </p:cNvSpPr>
          <p:nvPr/>
        </p:nvSpPr>
        <p:spPr>
          <a:xfrm xmlns:a="http://schemas.openxmlformats.org/drawingml/2006/main">
            <a:off x="3000375" y="2419350"/>
            <a:ext cx="2095500" cy="1133475"/>
          </a:xfrm>
          <a:prstGeom xmlns:a="http://schemas.openxmlformats.org/drawingml/2006/main" prst="roundRect">
            <a:avLst>
              <a:gd name="adj" fmla="val 8403"/>
            </a:avLst>
          </a:prstGeom>
          <a:solidFill xmlns:a="http://schemas.openxmlformats.org/drawingml/2006/main">
            <a:srgbClr val="111E2D"/>
          </a:solidFill>
          <a:ln xmlns:a="http://schemas.openxmlformats.org/drawingml/2006/main" w="9525">
            <a:solidFill>
              <a:srgbClr val="29465B"/>
            </a:solidFill>
            <a:prstDash val="solid"/>
          </a:ln>
        </p:spPr>
      </p:sp>
      <p:sp>
        <p:nvSpPr>
          <p:cNvPr id="11" name="">
            <a:extLst xmlns:a="http://schemas.openxmlformats.org/drawingml/2006/main">
              <a:ext uri="{FF2B5EF4-FFF2-40B4-BE49-F238E27FC236}">
                <a16:creationId xmlns:a16="http://schemas.microsoft.com/office/drawing/2014/main" id="{B0171B2B-4BC5-4662-95D1-28F5B99CF667}"/>
              </a:ext>
            </a:extLst>
          </p:cNvPr>
          <p:cNvSpPr>
            <a:spLocks xmlns:a="http://schemas.openxmlformats.org/drawingml/2006/main" noGrp="1"/>
          </p:cNvSpPr>
          <p:nvPr/>
        </p:nvSpPr>
        <p:spPr>
          <a:xfrm xmlns:a="http://schemas.openxmlformats.org/drawingml/2006/main">
            <a:off x="3124200" y="2543175"/>
            <a:ext cx="47625" cy="885825"/>
          </a:xfrm>
          <a:prstGeom xmlns:a="http://schemas.openxmlformats.org/drawingml/2006/main" prst="roundRect">
            <a:avLst>
              <a:gd name="adj" fmla="val 40000"/>
            </a:avLst>
          </a:prstGeom>
          <a:solidFill xmlns:a="http://schemas.openxmlformats.org/drawingml/2006/main">
            <a:srgbClr val="F4B860"/>
          </a:solidFill>
          <a:ln xmlns:a="http://schemas.openxmlformats.org/drawingml/2006/main" w="9525">
            <a:solidFill>
              <a:srgbClr val="F4B860"/>
            </a:solidFill>
            <a:prstDash val="solid"/>
          </a:ln>
        </p:spPr>
      </p:sp>
      <p:sp>
        <p:nvSpPr>
          <p:cNvPr id="12" name="">
            <a:extLst xmlns:a="http://schemas.openxmlformats.org/drawingml/2006/main">
              <a:ext uri="{FF2B5EF4-FFF2-40B4-BE49-F238E27FC236}">
                <a16:creationId xmlns:a16="http://schemas.microsoft.com/office/drawing/2014/main" id="{3247DA1E-D99A-454A-B830-E7B4A181A34E}"/>
              </a:ext>
            </a:extLst>
          </p:cNvPr>
          <p:cNvSpPr>
            <a:spLocks xmlns:a="http://schemas.openxmlformats.org/drawingml/2006/main" noGrp="1"/>
          </p:cNvSpPr>
          <p:nvPr/>
        </p:nvSpPr>
        <p:spPr>
          <a:xfrm xmlns:a="http://schemas.openxmlformats.org/drawingml/2006/main">
            <a:off x="3286125" y="2562225"/>
            <a:ext cx="1695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Coordinator</a:t>
            </a:r>
          </a:p>
        </p:txBody>
      </p:sp>
      <p:sp>
        <p:nvSpPr>
          <p:cNvPr id="13" name="">
            <a:extLst xmlns:a="http://schemas.openxmlformats.org/drawingml/2006/main">
              <a:ext uri="{FF2B5EF4-FFF2-40B4-BE49-F238E27FC236}">
                <a16:creationId xmlns:a16="http://schemas.microsoft.com/office/drawing/2014/main" id="{5EFE797C-295B-406B-A1D9-F1ACA98F26A0}"/>
              </a:ext>
            </a:extLst>
          </p:cNvPr>
          <p:cNvSpPr>
            <a:spLocks xmlns:a="http://schemas.openxmlformats.org/drawingml/2006/main" noGrp="1"/>
          </p:cNvSpPr>
          <p:nvPr/>
        </p:nvSpPr>
        <p:spPr>
          <a:xfrm xmlns:a="http://schemas.openxmlformats.org/drawingml/2006/main">
            <a:off x="3286125" y="2895600"/>
            <a:ext cx="1695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REST API · placement</a:t>
            </a:r>
          </a:p>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metadata · routing</a:t>
            </a:r>
          </a:p>
        </p:txBody>
      </p:sp>
      <p:sp>
        <p:nvSpPr>
          <p:cNvPr id="14" name="postgresql">
            <a:extLst xmlns:a="http://schemas.openxmlformats.org/drawingml/2006/main">
              <a:ext uri="{FF2B5EF4-FFF2-40B4-BE49-F238E27FC236}">
                <a16:creationId xmlns:a16="http://schemas.microsoft.com/office/drawing/2014/main" id="{655B1AF4-FA6C-47DD-9050-BC8527D7677B}"/>
              </a:ext>
            </a:extLst>
          </p:cNvPr>
          <p:cNvSpPr>
            <a:spLocks xmlns:a="http://schemas.openxmlformats.org/drawingml/2006/main" noGrp="1"/>
          </p:cNvSpPr>
          <p:nvPr/>
        </p:nvSpPr>
        <p:spPr>
          <a:xfrm xmlns:a="http://schemas.openxmlformats.org/drawingml/2006/main">
            <a:off x="6038850" y="1581150"/>
            <a:ext cx="1952625" cy="866775"/>
          </a:xfrm>
          <a:prstGeom xmlns:a="http://schemas.openxmlformats.org/drawingml/2006/main" prst="roundRect">
            <a:avLst>
              <a:gd name="adj" fmla="val 10989"/>
            </a:avLst>
          </a:prstGeom>
          <a:solidFill xmlns:a="http://schemas.openxmlformats.org/drawingml/2006/main">
            <a:srgbClr val="111E2D"/>
          </a:solidFill>
          <a:ln xmlns:a="http://schemas.openxmlformats.org/drawingml/2006/main" w="9525">
            <a:solidFill>
              <a:srgbClr val="29465B"/>
            </a:solidFill>
            <a:prstDash val="solid"/>
          </a:ln>
        </p:spPr>
      </p:sp>
      <p:sp>
        <p:nvSpPr>
          <p:cNvPr id="15" name="">
            <a:extLst xmlns:a="http://schemas.openxmlformats.org/drawingml/2006/main">
              <a:ext uri="{FF2B5EF4-FFF2-40B4-BE49-F238E27FC236}">
                <a16:creationId xmlns:a16="http://schemas.microsoft.com/office/drawing/2014/main" id="{B1EF98E9-8640-4DA2-B39F-9E1D56A74114}"/>
              </a:ext>
            </a:extLst>
          </p:cNvPr>
          <p:cNvSpPr>
            <a:spLocks xmlns:a="http://schemas.openxmlformats.org/drawingml/2006/main" noGrp="1"/>
          </p:cNvSpPr>
          <p:nvPr/>
        </p:nvSpPr>
        <p:spPr>
          <a:xfrm xmlns:a="http://schemas.openxmlformats.org/drawingml/2006/main">
            <a:off x="6162675" y="1704975"/>
            <a:ext cx="47625" cy="619125"/>
          </a:xfrm>
          <a:prstGeom xmlns:a="http://schemas.openxmlformats.org/drawingml/2006/main" prst="roundRect">
            <a:avLst>
              <a:gd name="adj" fmla="val 40000"/>
            </a:avLst>
          </a:prstGeom>
          <a:solidFill xmlns:a="http://schemas.openxmlformats.org/drawingml/2006/main">
            <a:srgbClr val="B5A2FF"/>
          </a:solidFill>
          <a:ln xmlns:a="http://schemas.openxmlformats.org/drawingml/2006/main" w="9525">
            <a:solidFill>
              <a:srgbClr val="B5A2FF"/>
            </a:solidFill>
            <a:prstDash val="solid"/>
          </a:ln>
        </p:spPr>
      </p:sp>
      <p:sp>
        <p:nvSpPr>
          <p:cNvPr id="16" name="">
            <a:extLst xmlns:a="http://schemas.openxmlformats.org/drawingml/2006/main">
              <a:ext uri="{FF2B5EF4-FFF2-40B4-BE49-F238E27FC236}">
                <a16:creationId xmlns:a16="http://schemas.microsoft.com/office/drawing/2014/main" id="{0F2C56B8-A76B-4CF9-81C0-1747CDBD351F}"/>
              </a:ext>
            </a:extLst>
          </p:cNvPr>
          <p:cNvSpPr>
            <a:spLocks xmlns:a="http://schemas.openxmlformats.org/drawingml/2006/main" noGrp="1"/>
          </p:cNvSpPr>
          <p:nvPr/>
        </p:nvSpPr>
        <p:spPr>
          <a:xfrm xmlns:a="http://schemas.openxmlformats.org/drawingml/2006/main">
            <a:off x="6324600" y="1724025"/>
            <a:ext cx="1552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PostgreSQL</a:t>
            </a:r>
          </a:p>
        </p:txBody>
      </p:sp>
      <p:sp>
        <p:nvSpPr>
          <p:cNvPr id="17" name="">
            <a:extLst xmlns:a="http://schemas.openxmlformats.org/drawingml/2006/main">
              <a:ext uri="{FF2B5EF4-FFF2-40B4-BE49-F238E27FC236}">
                <a16:creationId xmlns:a16="http://schemas.microsoft.com/office/drawing/2014/main" id="{6DE15E64-C4E5-41BC-BDA3-6131D1F838D0}"/>
              </a:ext>
            </a:extLst>
          </p:cNvPr>
          <p:cNvSpPr>
            <a:spLocks xmlns:a="http://schemas.openxmlformats.org/drawingml/2006/main" noGrp="1"/>
          </p:cNvSpPr>
          <p:nvPr/>
        </p:nvSpPr>
        <p:spPr>
          <a:xfrm xmlns:a="http://schemas.openxmlformats.org/drawingml/2006/main">
            <a:off x="6324600" y="2057400"/>
            <a:ext cx="15525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431"/>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Models · nodes</a:t>
            </a:r>
          </a:p>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replicas · events</a:t>
            </a:r>
          </a:p>
        </p:txBody>
      </p:sp>
      <p:sp>
        <p:nvSpPr>
          <p:cNvPr id="18" name="nats">
            <a:extLst xmlns:a="http://schemas.openxmlformats.org/drawingml/2006/main">
              <a:ext uri="{FF2B5EF4-FFF2-40B4-BE49-F238E27FC236}">
                <a16:creationId xmlns:a16="http://schemas.microsoft.com/office/drawing/2014/main" id="{BEE63576-41C0-47DE-9053-ADD738887A77}"/>
              </a:ext>
            </a:extLst>
          </p:cNvPr>
          <p:cNvSpPr>
            <a:spLocks xmlns:a="http://schemas.openxmlformats.org/drawingml/2006/main" noGrp="1"/>
          </p:cNvSpPr>
          <p:nvPr/>
        </p:nvSpPr>
        <p:spPr>
          <a:xfrm xmlns:a="http://schemas.openxmlformats.org/drawingml/2006/main">
            <a:off x="6038850" y="3648075"/>
            <a:ext cx="1952625" cy="866775"/>
          </a:xfrm>
          <a:prstGeom xmlns:a="http://schemas.openxmlformats.org/drawingml/2006/main" prst="roundRect">
            <a:avLst>
              <a:gd name="adj" fmla="val 10989"/>
            </a:avLst>
          </a:prstGeom>
          <a:solidFill xmlns:a="http://schemas.openxmlformats.org/drawingml/2006/main">
            <a:srgbClr val="111E2D"/>
          </a:solidFill>
          <a:ln xmlns:a="http://schemas.openxmlformats.org/drawingml/2006/main" w="9525">
            <a:solidFill>
              <a:srgbClr val="29465B"/>
            </a:solidFill>
            <a:prstDash val="solid"/>
          </a:ln>
        </p:spPr>
      </p:sp>
      <p:sp>
        <p:nvSpPr>
          <p:cNvPr id="19" name="">
            <a:extLst xmlns:a="http://schemas.openxmlformats.org/drawingml/2006/main">
              <a:ext uri="{FF2B5EF4-FFF2-40B4-BE49-F238E27FC236}">
                <a16:creationId xmlns:a16="http://schemas.microsoft.com/office/drawing/2014/main" id="{7BCC0A01-4630-4000-9ACC-61395284EB93}"/>
              </a:ext>
            </a:extLst>
          </p:cNvPr>
          <p:cNvSpPr>
            <a:spLocks xmlns:a="http://schemas.openxmlformats.org/drawingml/2006/main" noGrp="1"/>
          </p:cNvSpPr>
          <p:nvPr/>
        </p:nvSpPr>
        <p:spPr>
          <a:xfrm xmlns:a="http://schemas.openxmlformats.org/drawingml/2006/main">
            <a:off x="6162675" y="3771900"/>
            <a:ext cx="47625" cy="619125"/>
          </a:xfrm>
          <a:prstGeom xmlns:a="http://schemas.openxmlformats.org/drawingml/2006/main" prst="roundRect">
            <a:avLst>
              <a:gd name="adj" fmla="val 40000"/>
            </a:avLst>
          </a:prstGeom>
          <a:solidFill xmlns:a="http://schemas.openxmlformats.org/drawingml/2006/main">
            <a:srgbClr val="27D3B2"/>
          </a:solidFill>
          <a:ln xmlns:a="http://schemas.openxmlformats.org/drawingml/2006/main" w="9525">
            <a:solidFill>
              <a:srgbClr val="27D3B2"/>
            </a:solidFill>
            <a:prstDash val="solid"/>
          </a:ln>
        </p:spPr>
      </p:sp>
      <p:sp>
        <p:nvSpPr>
          <p:cNvPr id="20" name="">
            <a:extLst xmlns:a="http://schemas.openxmlformats.org/drawingml/2006/main">
              <a:ext uri="{FF2B5EF4-FFF2-40B4-BE49-F238E27FC236}">
                <a16:creationId xmlns:a16="http://schemas.microsoft.com/office/drawing/2014/main" id="{573679DB-DE36-41E0-85BA-E73D17556F91}"/>
              </a:ext>
            </a:extLst>
          </p:cNvPr>
          <p:cNvSpPr>
            <a:spLocks xmlns:a="http://schemas.openxmlformats.org/drawingml/2006/main" noGrp="1"/>
          </p:cNvSpPr>
          <p:nvPr/>
        </p:nvSpPr>
        <p:spPr>
          <a:xfrm xmlns:a="http://schemas.openxmlformats.org/drawingml/2006/main">
            <a:off x="6324600" y="3790950"/>
            <a:ext cx="1552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NATS</a:t>
            </a:r>
          </a:p>
        </p:txBody>
      </p:sp>
      <p:sp>
        <p:nvSpPr>
          <p:cNvPr id="21" name="">
            <a:extLst xmlns:a="http://schemas.openxmlformats.org/drawingml/2006/main">
              <a:ext uri="{FF2B5EF4-FFF2-40B4-BE49-F238E27FC236}">
                <a16:creationId xmlns:a16="http://schemas.microsoft.com/office/drawing/2014/main" id="{1A4A9786-B04B-47CA-A5D5-4F1539B86B62}"/>
              </a:ext>
            </a:extLst>
          </p:cNvPr>
          <p:cNvSpPr>
            <a:spLocks xmlns:a="http://schemas.openxmlformats.org/drawingml/2006/main" noGrp="1"/>
          </p:cNvSpPr>
          <p:nvPr/>
        </p:nvSpPr>
        <p:spPr>
          <a:xfrm xmlns:a="http://schemas.openxmlformats.org/drawingml/2006/main">
            <a:off x="6324600" y="4124325"/>
            <a:ext cx="15525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431"/>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Lifecycle events</a:t>
            </a:r>
          </a:p>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node + replication</a:t>
            </a:r>
          </a:p>
        </p:txBody>
      </p:sp>
      <p:sp>
        <p:nvSpPr>
          <p:cNvPr id="22" name="node-1">
            <a:extLst xmlns:a="http://schemas.openxmlformats.org/drawingml/2006/main">
              <a:ext uri="{FF2B5EF4-FFF2-40B4-BE49-F238E27FC236}">
                <a16:creationId xmlns:a16="http://schemas.microsoft.com/office/drawing/2014/main" id="{53EAE294-7905-4586-8799-4B5B2B128122}"/>
              </a:ext>
            </a:extLst>
          </p:cNvPr>
          <p:cNvSpPr>
            <a:spLocks xmlns:a="http://schemas.openxmlformats.org/drawingml/2006/main" noGrp="1"/>
          </p:cNvSpPr>
          <p:nvPr/>
        </p:nvSpPr>
        <p:spPr>
          <a:xfrm xmlns:a="http://schemas.openxmlformats.org/drawingml/2006/main">
            <a:off x="8753475" y="1866900"/>
            <a:ext cx="1390650" cy="952500"/>
          </a:xfrm>
          <a:prstGeom xmlns:a="http://schemas.openxmlformats.org/drawingml/2006/main" prst="roundRect">
            <a:avLst>
              <a:gd name="adj" fmla="val 10000"/>
            </a:avLst>
          </a:prstGeom>
          <a:solidFill xmlns:a="http://schemas.openxmlformats.org/drawingml/2006/main">
            <a:srgbClr val="111E2D"/>
          </a:solidFill>
          <a:ln xmlns:a="http://schemas.openxmlformats.org/drawingml/2006/main" w="9525">
            <a:solidFill>
              <a:srgbClr val="29465B"/>
            </a:solidFill>
            <a:prstDash val="solid"/>
          </a:ln>
        </p:spPr>
      </p:sp>
      <p:sp>
        <p:nvSpPr>
          <p:cNvPr id="23" name="">
            <a:extLst xmlns:a="http://schemas.openxmlformats.org/drawingml/2006/main">
              <a:ext uri="{FF2B5EF4-FFF2-40B4-BE49-F238E27FC236}">
                <a16:creationId xmlns:a16="http://schemas.microsoft.com/office/drawing/2014/main" id="{320CE36D-A8C1-4C1E-B170-7FFB677BA939}"/>
              </a:ext>
            </a:extLst>
          </p:cNvPr>
          <p:cNvSpPr>
            <a:spLocks xmlns:a="http://schemas.openxmlformats.org/drawingml/2006/main" noGrp="1"/>
          </p:cNvSpPr>
          <p:nvPr/>
        </p:nvSpPr>
        <p:spPr>
          <a:xfrm xmlns:a="http://schemas.openxmlformats.org/drawingml/2006/main">
            <a:off x="8877300" y="1990725"/>
            <a:ext cx="47625" cy="704850"/>
          </a:xfrm>
          <a:prstGeom xmlns:a="http://schemas.openxmlformats.org/drawingml/2006/main" prst="roundRect">
            <a:avLst>
              <a:gd name="adj" fmla="val 40000"/>
            </a:avLst>
          </a:prstGeom>
          <a:solidFill xmlns:a="http://schemas.openxmlformats.org/drawingml/2006/main">
            <a:srgbClr val="27D3B2"/>
          </a:solidFill>
          <a:ln xmlns:a="http://schemas.openxmlformats.org/drawingml/2006/main" w="9525">
            <a:solidFill>
              <a:srgbClr val="27D3B2"/>
            </a:solidFill>
            <a:prstDash val="solid"/>
          </a:ln>
        </p:spPr>
      </p:sp>
      <p:sp>
        <p:nvSpPr>
          <p:cNvPr id="24" name="">
            <a:extLst xmlns:a="http://schemas.openxmlformats.org/drawingml/2006/main">
              <a:ext uri="{FF2B5EF4-FFF2-40B4-BE49-F238E27FC236}">
                <a16:creationId xmlns:a16="http://schemas.microsoft.com/office/drawing/2014/main" id="{7CCB4949-0D4C-4DAD-870D-BEC7A359F612}"/>
              </a:ext>
            </a:extLst>
          </p:cNvPr>
          <p:cNvSpPr>
            <a:spLocks xmlns:a="http://schemas.openxmlformats.org/drawingml/2006/main" noGrp="1"/>
          </p:cNvSpPr>
          <p:nvPr/>
        </p:nvSpPr>
        <p:spPr>
          <a:xfrm xmlns:a="http://schemas.openxmlformats.org/drawingml/2006/main">
            <a:off x="9039225" y="2009775"/>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Node 1</a:t>
            </a:r>
          </a:p>
        </p:txBody>
      </p:sp>
      <p:sp>
        <p:nvSpPr>
          <p:cNvPr id="25" name="">
            <a:extLst xmlns:a="http://schemas.openxmlformats.org/drawingml/2006/main">
              <a:ext uri="{FF2B5EF4-FFF2-40B4-BE49-F238E27FC236}">
                <a16:creationId xmlns:a16="http://schemas.microsoft.com/office/drawing/2014/main" id="{61659889-1BA3-48A2-B7E9-D70E74F46983}"/>
              </a:ext>
            </a:extLst>
          </p:cNvPr>
          <p:cNvSpPr>
            <a:spLocks xmlns:a="http://schemas.openxmlformats.org/drawingml/2006/main" noGrp="1"/>
          </p:cNvSpPr>
          <p:nvPr/>
        </p:nvSpPr>
        <p:spPr>
          <a:xfrm xmlns:a="http://schemas.openxmlformats.org/drawingml/2006/main">
            <a:off x="9039225" y="2343150"/>
            <a:ext cx="99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Storage instance</a:t>
            </a:r>
          </a:p>
        </p:txBody>
      </p:sp>
      <p:sp>
        <p:nvSpPr>
          <p:cNvPr id="26" name="node-2">
            <a:extLst xmlns:a="http://schemas.openxmlformats.org/drawingml/2006/main">
              <a:ext uri="{FF2B5EF4-FFF2-40B4-BE49-F238E27FC236}">
                <a16:creationId xmlns:a16="http://schemas.microsoft.com/office/drawing/2014/main" id="{69783D47-2ADE-42E0-8CF1-7C3BEDC10F0D}"/>
              </a:ext>
            </a:extLst>
          </p:cNvPr>
          <p:cNvSpPr>
            <a:spLocks xmlns:a="http://schemas.openxmlformats.org/drawingml/2006/main" noGrp="1"/>
          </p:cNvSpPr>
          <p:nvPr/>
        </p:nvSpPr>
        <p:spPr>
          <a:xfrm xmlns:a="http://schemas.openxmlformats.org/drawingml/2006/main">
            <a:off x="10287000" y="1866900"/>
            <a:ext cx="1390650" cy="952500"/>
          </a:xfrm>
          <a:prstGeom xmlns:a="http://schemas.openxmlformats.org/drawingml/2006/main" prst="roundRect">
            <a:avLst>
              <a:gd name="adj" fmla="val 10000"/>
            </a:avLst>
          </a:prstGeom>
          <a:solidFill xmlns:a="http://schemas.openxmlformats.org/drawingml/2006/main">
            <a:srgbClr val="111E2D"/>
          </a:solidFill>
          <a:ln xmlns:a="http://schemas.openxmlformats.org/drawingml/2006/main" w="9525">
            <a:solidFill>
              <a:srgbClr val="29465B"/>
            </a:solidFill>
            <a:prstDash val="solid"/>
          </a:ln>
        </p:spPr>
      </p:sp>
      <p:sp>
        <p:nvSpPr>
          <p:cNvPr id="27" name="">
            <a:extLst xmlns:a="http://schemas.openxmlformats.org/drawingml/2006/main">
              <a:ext uri="{FF2B5EF4-FFF2-40B4-BE49-F238E27FC236}">
                <a16:creationId xmlns:a16="http://schemas.microsoft.com/office/drawing/2014/main" id="{0A458201-B401-4AC6-838E-94539358FA29}"/>
              </a:ext>
            </a:extLst>
          </p:cNvPr>
          <p:cNvSpPr>
            <a:spLocks xmlns:a="http://schemas.openxmlformats.org/drawingml/2006/main" noGrp="1"/>
          </p:cNvSpPr>
          <p:nvPr/>
        </p:nvSpPr>
        <p:spPr>
          <a:xfrm xmlns:a="http://schemas.openxmlformats.org/drawingml/2006/main">
            <a:off x="10410825" y="1990725"/>
            <a:ext cx="47625" cy="704850"/>
          </a:xfrm>
          <a:prstGeom xmlns:a="http://schemas.openxmlformats.org/drawingml/2006/main" prst="roundRect">
            <a:avLst>
              <a:gd name="adj" fmla="val 40000"/>
            </a:avLst>
          </a:prstGeom>
          <a:solidFill xmlns:a="http://schemas.openxmlformats.org/drawingml/2006/main">
            <a:srgbClr val="6FB7FF"/>
          </a:solidFill>
          <a:ln xmlns:a="http://schemas.openxmlformats.org/drawingml/2006/main" w="9525">
            <a:solidFill>
              <a:srgbClr val="6FB7FF"/>
            </a:solidFill>
            <a:prstDash val="solid"/>
          </a:ln>
        </p:spPr>
      </p:sp>
      <p:sp>
        <p:nvSpPr>
          <p:cNvPr id="28" name="">
            <a:extLst xmlns:a="http://schemas.openxmlformats.org/drawingml/2006/main">
              <a:ext uri="{FF2B5EF4-FFF2-40B4-BE49-F238E27FC236}">
                <a16:creationId xmlns:a16="http://schemas.microsoft.com/office/drawing/2014/main" id="{88B0B9E6-2845-46E9-8E1F-CF010392EB1C}"/>
              </a:ext>
            </a:extLst>
          </p:cNvPr>
          <p:cNvSpPr>
            <a:spLocks xmlns:a="http://schemas.openxmlformats.org/drawingml/2006/main" noGrp="1"/>
          </p:cNvSpPr>
          <p:nvPr/>
        </p:nvSpPr>
        <p:spPr>
          <a:xfrm xmlns:a="http://schemas.openxmlformats.org/drawingml/2006/main">
            <a:off x="10572750" y="2009775"/>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Node 2</a:t>
            </a:r>
          </a:p>
        </p:txBody>
      </p:sp>
      <p:sp>
        <p:nvSpPr>
          <p:cNvPr id="29" name="">
            <a:extLst xmlns:a="http://schemas.openxmlformats.org/drawingml/2006/main">
              <a:ext uri="{FF2B5EF4-FFF2-40B4-BE49-F238E27FC236}">
                <a16:creationId xmlns:a16="http://schemas.microsoft.com/office/drawing/2014/main" id="{E2E234DE-A47D-4DFE-AC71-00FDA69ACF73}"/>
              </a:ext>
            </a:extLst>
          </p:cNvPr>
          <p:cNvSpPr>
            <a:spLocks xmlns:a="http://schemas.openxmlformats.org/drawingml/2006/main" noGrp="1"/>
          </p:cNvSpPr>
          <p:nvPr/>
        </p:nvSpPr>
        <p:spPr>
          <a:xfrm xmlns:a="http://schemas.openxmlformats.org/drawingml/2006/main">
            <a:off x="10572750" y="2343150"/>
            <a:ext cx="99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Storage instance</a:t>
            </a:r>
          </a:p>
        </p:txBody>
      </p:sp>
      <p:sp>
        <p:nvSpPr>
          <p:cNvPr id="30" name="node-3">
            <a:extLst xmlns:a="http://schemas.openxmlformats.org/drawingml/2006/main">
              <a:ext uri="{FF2B5EF4-FFF2-40B4-BE49-F238E27FC236}">
                <a16:creationId xmlns:a16="http://schemas.microsoft.com/office/drawing/2014/main" id="{9DDDECFF-D402-4A4F-81E5-7C0BE2518926}"/>
              </a:ext>
            </a:extLst>
          </p:cNvPr>
          <p:cNvSpPr>
            <a:spLocks xmlns:a="http://schemas.openxmlformats.org/drawingml/2006/main" noGrp="1"/>
          </p:cNvSpPr>
          <p:nvPr/>
        </p:nvSpPr>
        <p:spPr>
          <a:xfrm xmlns:a="http://schemas.openxmlformats.org/drawingml/2006/main">
            <a:off x="9515475" y="3752850"/>
            <a:ext cx="1390650" cy="952500"/>
          </a:xfrm>
          <a:prstGeom xmlns:a="http://schemas.openxmlformats.org/drawingml/2006/main" prst="roundRect">
            <a:avLst>
              <a:gd name="adj" fmla="val 10000"/>
            </a:avLst>
          </a:prstGeom>
          <a:solidFill xmlns:a="http://schemas.openxmlformats.org/drawingml/2006/main">
            <a:srgbClr val="111E2D"/>
          </a:solidFill>
          <a:ln xmlns:a="http://schemas.openxmlformats.org/drawingml/2006/main" w="9525">
            <a:solidFill>
              <a:srgbClr val="29465B"/>
            </a:solidFill>
            <a:prstDash val="solid"/>
          </a:ln>
        </p:spPr>
      </p:sp>
      <p:sp>
        <p:nvSpPr>
          <p:cNvPr id="31" name="">
            <a:extLst xmlns:a="http://schemas.openxmlformats.org/drawingml/2006/main">
              <a:ext uri="{FF2B5EF4-FFF2-40B4-BE49-F238E27FC236}">
                <a16:creationId xmlns:a16="http://schemas.microsoft.com/office/drawing/2014/main" id="{53A6112D-EE78-4107-980D-15E020821DC4}"/>
              </a:ext>
            </a:extLst>
          </p:cNvPr>
          <p:cNvSpPr>
            <a:spLocks xmlns:a="http://schemas.openxmlformats.org/drawingml/2006/main" noGrp="1"/>
          </p:cNvSpPr>
          <p:nvPr/>
        </p:nvSpPr>
        <p:spPr>
          <a:xfrm xmlns:a="http://schemas.openxmlformats.org/drawingml/2006/main">
            <a:off x="9639300" y="3876675"/>
            <a:ext cx="47625" cy="704850"/>
          </a:xfrm>
          <a:prstGeom xmlns:a="http://schemas.openxmlformats.org/drawingml/2006/main" prst="roundRect">
            <a:avLst>
              <a:gd name="adj" fmla="val 40000"/>
            </a:avLst>
          </a:prstGeom>
          <a:solidFill xmlns:a="http://schemas.openxmlformats.org/drawingml/2006/main">
            <a:srgbClr val="B5A2FF"/>
          </a:solidFill>
          <a:ln xmlns:a="http://schemas.openxmlformats.org/drawingml/2006/main" w="9525">
            <a:solidFill>
              <a:srgbClr val="B5A2FF"/>
            </a:solidFill>
            <a:prstDash val="solid"/>
          </a:ln>
        </p:spPr>
      </p:sp>
      <p:sp>
        <p:nvSpPr>
          <p:cNvPr id="32" name="">
            <a:extLst xmlns:a="http://schemas.openxmlformats.org/drawingml/2006/main">
              <a:ext uri="{FF2B5EF4-FFF2-40B4-BE49-F238E27FC236}">
                <a16:creationId xmlns:a16="http://schemas.microsoft.com/office/drawing/2014/main" id="{AF89C949-8D5F-4463-A718-E63C5F7B3C3C}"/>
              </a:ext>
            </a:extLst>
          </p:cNvPr>
          <p:cNvSpPr>
            <a:spLocks xmlns:a="http://schemas.openxmlformats.org/drawingml/2006/main" noGrp="1"/>
          </p:cNvSpPr>
          <p:nvPr/>
        </p:nvSpPr>
        <p:spPr>
          <a:xfrm xmlns:a="http://schemas.openxmlformats.org/drawingml/2006/main">
            <a:off x="9801225" y="3895725"/>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Node 3</a:t>
            </a:r>
          </a:p>
        </p:txBody>
      </p:sp>
      <p:sp>
        <p:nvSpPr>
          <p:cNvPr id="33" name="">
            <a:extLst xmlns:a="http://schemas.openxmlformats.org/drawingml/2006/main">
              <a:ext uri="{FF2B5EF4-FFF2-40B4-BE49-F238E27FC236}">
                <a16:creationId xmlns:a16="http://schemas.microsoft.com/office/drawing/2014/main" id="{2D547F04-9CF4-44A8-A779-33BB3ED47CD0}"/>
              </a:ext>
            </a:extLst>
          </p:cNvPr>
          <p:cNvSpPr>
            <a:spLocks xmlns:a="http://schemas.openxmlformats.org/drawingml/2006/main" noGrp="1"/>
          </p:cNvSpPr>
          <p:nvPr/>
        </p:nvSpPr>
        <p:spPr>
          <a:xfrm xmlns:a="http://schemas.openxmlformats.org/drawingml/2006/main">
            <a:off x="9801225" y="4229100"/>
            <a:ext cx="99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Storage instance</a:t>
            </a:r>
          </a:p>
        </p:txBody>
      </p:sp>
      <p:sp>
        <p:nvSpPr>
          <p:cNvPr id="41" name="">
            <a:extLst xmlns:a="http://schemas.openxmlformats.org/drawingml/2006/main">
              <a:ext uri="{FF2B5EF4-FFF2-40B4-BE49-F238E27FC236}">
                <a16:creationId xmlns:a16="http://schemas.microsoft.com/office/drawing/2014/main" id="{077C8DBF-D25E-417A-B8A2-44480ECAE0CB}"/>
              </a:ext>
            </a:extLst>
          </p:cNvPr>
          <p:cNvSpPr>
            <a:spLocks xmlns:a="http://schemas.openxmlformats.org/drawingml/2006/main" noGrp="1"/>
          </p:cNvSpPr>
          <p:nvPr/>
        </p:nvSpPr>
        <p:spPr>
          <a:xfrm xmlns:a="http://schemas.openxmlformats.org/drawingml/2006/main">
            <a:off x="2324100" y="21240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a:solidFill>
                  <a:srgbClr val="7892A6"/>
                </a:solidFill>
                <a:latin typeface="Arial"/>
                <a:ea typeface="Arial"/>
                <a:cs typeface="Arial"/>
              </a:defRPr>
            </a:defPPr>
          </a:lstStyle>
          <a:p xmlns:a="http://schemas.openxmlformats.org/drawingml/2006/main">
            <a:pPr algn="ctr">
              <a:defRPr sz="1050" b="0">
                <a:solidFill>
                  <a:srgbClr val="7892A6"/>
                </a:solidFill>
                <a:latin typeface="Arial"/>
                <a:ea typeface="Arial"/>
                <a:cs typeface="Arial"/>
              </a:defRPr>
            </a:pPr>
            <a:r>
              <a:rPr sz="1050" b="0">
                <a:solidFill>
                  <a:srgbClr val="7892A6"/>
                </a:solidFill>
                <a:latin typeface="Arial"/>
                <a:ea typeface="Arial"/>
                <a:cs typeface="Arial"/>
              </a:rPr>
              <a:t>REST / multipart</a:t>
            </a:r>
          </a:p>
        </p:txBody>
      </p:sp>
      <p:sp>
        <p:nvSpPr>
          <p:cNvPr id="42" name="">
            <a:extLst xmlns:a="http://schemas.openxmlformats.org/drawingml/2006/main">
              <a:ext uri="{FF2B5EF4-FFF2-40B4-BE49-F238E27FC236}">
                <a16:creationId xmlns:a16="http://schemas.microsoft.com/office/drawing/2014/main" id="{DC219329-A6AD-4FFD-A896-4F5282952D5E}"/>
              </a:ext>
            </a:extLst>
          </p:cNvPr>
          <p:cNvSpPr>
            <a:spLocks xmlns:a="http://schemas.openxmlformats.org/drawingml/2006/main" noGrp="1"/>
          </p:cNvSpPr>
          <p:nvPr/>
        </p:nvSpPr>
        <p:spPr>
          <a:xfrm xmlns:a="http://schemas.openxmlformats.org/drawingml/2006/main">
            <a:off x="8239125" y="5095875"/>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a:solidFill>
                  <a:srgbClr val="27D3B2"/>
                </a:solidFill>
                <a:latin typeface="Arial"/>
                <a:ea typeface="Arial"/>
                <a:cs typeface="Arial"/>
              </a:defRPr>
            </a:defPPr>
          </a:lstStyle>
          <a:p xmlns:a="http://schemas.openxmlformats.org/drawingml/2006/main">
            <a:pPr algn="ctr">
              <a:defRPr sz="1200" b="1">
                <a:solidFill>
                  <a:srgbClr val="27D3B2"/>
                </a:solidFill>
                <a:latin typeface="Arial"/>
                <a:ea typeface="Arial"/>
                <a:cs typeface="Arial"/>
              </a:defRPr>
            </a:pPr>
            <a:r>
              <a:rPr sz="1200" b="1">
                <a:solidFill>
                  <a:srgbClr val="27D3B2"/>
                </a:solidFill>
                <a:latin typeface="Arial"/>
                <a:ea typeface="Arial"/>
                <a:cs typeface="Arial"/>
              </a:rPr>
              <a:t>Peer-to-peer gRPC replication</a:t>
            </a:r>
          </a:p>
        </p:txBody>
      </p:sp>
      <p:sp>
        <p:nvSpPr>
          <p:cNvPr id="43" name="">
            <a:extLst xmlns:a="http://schemas.openxmlformats.org/drawingml/2006/main">
              <a:ext uri="{FF2B5EF4-FFF2-40B4-BE49-F238E27FC236}">
                <a16:creationId xmlns:a16="http://schemas.microsoft.com/office/drawing/2014/main" id="{9C0441B3-D196-4330-BAF3-83404C5CCFF9}"/>
              </a:ext>
            </a:extLst>
          </p:cNvPr>
          <p:cNvSpPr>
            <a:spLocks xmlns:a="http://schemas.openxmlformats.org/drawingml/2006/main" noGrp="1"/>
          </p:cNvSpPr>
          <p:nvPr/>
        </p:nvSpPr>
        <p:spPr>
          <a:xfrm xmlns:a="http://schemas.openxmlformats.org/drawingml/2006/main">
            <a:off x="8239125" y="535305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182"/>
          </a:bodyPr>
          <a:lstStyle xmlns:a="http://schemas.openxmlformats.org/drawingml/2006/main">
            <a:defPPr algn="ctr">
              <a:defRPr sz="1050" b="0">
                <a:solidFill>
                  <a:srgbClr val="7892A6"/>
                </a:solidFill>
                <a:latin typeface="Arial"/>
                <a:ea typeface="Arial"/>
                <a:cs typeface="Arial"/>
              </a:defRPr>
            </a:defPPr>
          </a:lstStyle>
          <a:p xmlns:a="http://schemas.openxmlformats.org/drawingml/2006/main">
            <a:pPr algn="ctr">
              <a:defRPr sz="1050" b="0">
                <a:solidFill>
                  <a:srgbClr val="7892A6"/>
                </a:solidFill>
                <a:latin typeface="Arial"/>
                <a:ea typeface="Arial"/>
                <a:cs typeface="Arial"/>
              </a:defRPr>
            </a:pPr>
            <a:r>
              <a:rPr sz="1050" b="0">
                <a:solidFill>
                  <a:srgbClr val="7892A6"/>
                </a:solidFill>
                <a:latin typeface="Arial"/>
                <a:ea typeface="Arial"/>
                <a:cs typeface="Arial"/>
              </a:rPr>
              <a:t>Primary is selected dynamically; node IDs are illustrative.</a:t>
            </a:r>
          </a:p>
        </p:txBody>
      </p:sp>
      <p:sp>
        <p:nvSpPr>
          <p:cNvPr id="44" name="">
            <a:extLst xmlns:a="http://schemas.openxmlformats.org/drawingml/2006/main">
              <a:ext uri="{FF2B5EF4-FFF2-40B4-BE49-F238E27FC236}">
                <a16:creationId xmlns:a16="http://schemas.microsoft.com/office/drawing/2014/main" id="{99FDA141-89A2-4604-8B58-7DC1B261937C}"/>
              </a:ext>
            </a:extLst>
          </p:cNvPr>
          <p:cNvSpPr>
            <a:spLocks xmlns:a="http://schemas.openxmlformats.org/drawingml/2006/main" noGrp="1"/>
          </p:cNvSpPr>
          <p:nvPr/>
        </p:nvSpPr>
        <p:spPr>
          <a:xfrm xmlns:a="http://schemas.openxmlformats.org/drawingml/2006/main">
            <a:off x="3171825" y="428625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4B860"/>
                </a:solidFill>
                <a:latin typeface="Arial"/>
                <a:ea typeface="Arial"/>
                <a:cs typeface="Arial"/>
              </a:defRPr>
            </a:defPPr>
          </a:lstStyle>
          <a:p xmlns:a="http://schemas.openxmlformats.org/drawingml/2006/main">
            <a:pPr algn="l">
              <a:defRPr sz="1050" b="1">
                <a:solidFill>
                  <a:srgbClr val="F4B860"/>
                </a:solidFill>
                <a:latin typeface="Arial"/>
                <a:ea typeface="Arial"/>
                <a:cs typeface="Arial"/>
              </a:defRPr>
            </a:pPr>
            <a:r>
              <a:rPr sz="1050" b="1">
                <a:solidFill>
                  <a:srgbClr val="F4B860"/>
                </a:solidFill>
                <a:latin typeface="Arial"/>
                <a:ea typeface="Arial"/>
                <a:cs typeface="Arial"/>
              </a:rPr>
              <a:t>Control path</a:t>
            </a:r>
          </a:p>
        </p:txBody>
      </p:sp>
      <p:sp>
        <p:nvSpPr>
          <p:cNvPr id="45" name="">
            <a:extLst xmlns:a="http://schemas.openxmlformats.org/drawingml/2006/main">
              <a:ext uri="{FF2B5EF4-FFF2-40B4-BE49-F238E27FC236}">
                <a16:creationId xmlns:a16="http://schemas.microsoft.com/office/drawing/2014/main" id="{1571969D-6668-48E6-A567-2AF6CA78D62D}"/>
              </a:ext>
            </a:extLst>
          </p:cNvPr>
          <p:cNvSpPr>
            <a:spLocks xmlns:a="http://schemas.openxmlformats.org/drawingml/2006/main" noGrp="1"/>
          </p:cNvSpPr>
          <p:nvPr/>
        </p:nvSpPr>
        <p:spPr>
          <a:xfrm xmlns:a="http://schemas.openxmlformats.org/drawingml/2006/main">
            <a:off x="3171825" y="4543425"/>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7D3B2"/>
                </a:solidFill>
                <a:latin typeface="Arial"/>
                <a:ea typeface="Arial"/>
                <a:cs typeface="Arial"/>
              </a:defRPr>
            </a:defPPr>
          </a:lstStyle>
          <a:p xmlns:a="http://schemas.openxmlformats.org/drawingml/2006/main">
            <a:pPr algn="l">
              <a:defRPr sz="1050" b="1">
                <a:solidFill>
                  <a:srgbClr val="27D3B2"/>
                </a:solidFill>
                <a:latin typeface="Arial"/>
                <a:ea typeface="Arial"/>
                <a:cs typeface="Arial"/>
              </a:defRPr>
            </a:pPr>
            <a:r>
              <a:rPr sz="1050" b="1">
                <a:solidFill>
                  <a:srgbClr val="27D3B2"/>
                </a:solidFill>
                <a:latin typeface="Arial"/>
                <a:ea typeface="Arial"/>
                <a:cs typeface="Arial"/>
              </a:rPr>
              <a:t>Data path</a:t>
            </a:r>
          </a:p>
        </p:txBody>
      </p:sp>
    </p:spTree>
    <p:extLst>
      <p:ext uri="{BB962C8B-B14F-4D97-AF65-F5344CB8AC3E}">
        <p14:creationId xmlns:p14="http://schemas.microsoft.com/office/powerpoint/2010/main" val="21714853"/>
      </p:ext>
    </p:extLst>
  </p:cSld>
</p:sld>
</file>

<file path=ppt/slides/slide4.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38" name="title-4">
            <a:extLst xmlns:a="http://schemas.openxmlformats.org/drawingml/2006/main">
              <a:ext uri="{FF2B5EF4-FFF2-40B4-BE49-F238E27FC236}">
                <a16:creationId xmlns:a16="http://schemas.microsoft.com/office/drawing/2014/main" id="{1A327FA8-7158-4989-AF05-967B5104FC4E}"/>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3F7FA"/>
                </a:solidFill>
                <a:latin typeface="Arial"/>
                <a:ea typeface="Arial"/>
                <a:cs typeface="Arial"/>
              </a:defRPr>
            </a:defPPr>
          </a:lstStyle>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Upload and replication flow</a:t>
            </a:r>
          </a:p>
        </p:txBody>
      </p:sp>
      <p:sp>
        <p:nvSpPr>
          <p:cNvPr id="2" name="">
            <a:extLst xmlns:a="http://schemas.openxmlformats.org/drawingml/2006/main">
              <a:ext uri="{FF2B5EF4-FFF2-40B4-BE49-F238E27FC236}">
                <a16:creationId xmlns:a16="http://schemas.microsoft.com/office/drawing/2014/main" id="{CC313F9C-91BE-4D6D-97FB-E30575CAC214}"/>
              </a:ext>
            </a:extLst>
          </p:cNvPr>
          <p:cNvSpPr>
            <a:spLocks xmlns:a="http://schemas.openxmlformats.org/drawingml/2006/main" noGrp="1"/>
          </p:cNvSpPr>
          <p:nvPr/>
        </p:nvSpPr>
        <p:spPr>
          <a:xfrm xmlns:a="http://schemas.openxmlformats.org/drawingml/2006/main">
            <a:off x="704850" y="962025"/>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A8BDCC"/>
                </a:solidFill>
                <a:latin typeface="Arial"/>
                <a:ea typeface="Arial"/>
                <a:cs typeface="Arial"/>
              </a:defRPr>
            </a:defPPr>
          </a:lstStyle>
          <a:p xmlns:a="http://schemas.openxmlformats.org/drawingml/2006/main">
            <a:pPr algn="l">
              <a:defRPr sz="1425" b="0">
                <a:solidFill>
                  <a:srgbClr val="A8BDCC"/>
                </a:solidFill>
                <a:latin typeface="Arial"/>
                <a:ea typeface="Arial"/>
                <a:cs typeface="Arial"/>
              </a:defRPr>
            </a:pPr>
            <a:r>
              <a:rPr sz="1425" b="0">
                <a:solidFill>
                  <a:srgbClr val="A8BDCC"/>
                </a:solidFill>
                <a:latin typeface="Arial"/>
                <a:ea typeface="Arial"/>
                <a:cs typeface="Arial"/>
              </a:rPr>
              <a:t>The Coordinator chooses placement; the primary storage node sends replica data peer to peer.</a:t>
            </a:r>
          </a:p>
        </p:txBody>
      </p:sp>
      <p:sp>
        <p:nvSpPr>
          <p:cNvPr id="3" name="">
            <a:extLst xmlns:a="http://schemas.openxmlformats.org/drawingml/2006/main">
              <a:ext uri="{FF2B5EF4-FFF2-40B4-BE49-F238E27FC236}">
                <a16:creationId xmlns:a16="http://schemas.microsoft.com/office/drawing/2014/main" id="{CE0043E5-FDFD-497D-AA8E-07426FE6E14F}"/>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0374A"/>
            </a:solidFill>
            <a:prstDash val="solid"/>
          </a:ln>
        </p:spPr>
      </p:sp>
      <p:sp>
        <p:nvSpPr>
          <p:cNvPr id="4" name="">
            <a:extLst xmlns:a="http://schemas.openxmlformats.org/drawingml/2006/main">
              <a:ext uri="{FF2B5EF4-FFF2-40B4-BE49-F238E27FC236}">
                <a16:creationId xmlns:a16="http://schemas.microsoft.com/office/drawing/2014/main" id="{E5D49A62-9420-4875-98A3-8961FC345F1C}"/>
              </a:ext>
            </a:extLst>
          </p:cNvPr>
          <p:cNvSpPr>
            <a:spLocks xmlns:a="http://schemas.openxmlformats.org/drawingml/2006/main" noGrp="1"/>
          </p:cNvSpPr>
          <p:nvPr/>
        </p:nvSpPr>
        <p:spPr>
          <a:xfrm xmlns:a="http://schemas.openxmlformats.org/drawingml/2006/main">
            <a:off x="704850" y="64960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892A6"/>
                </a:solidFill>
                <a:latin typeface="Arial"/>
                <a:ea typeface="Arial"/>
                <a:cs typeface="Arial"/>
              </a:defRPr>
            </a:defPPr>
          </a:lstStyle>
          <a:p xmlns:a="http://schemas.openxmlformats.org/drawingml/2006/main">
            <a:pPr algn="l">
              <a:defRPr sz="900" b="0">
                <a:solidFill>
                  <a:srgbClr val="7892A6"/>
                </a:solidFill>
                <a:latin typeface="Arial"/>
                <a:ea typeface="Arial"/>
                <a:cs typeface="Arial"/>
              </a:defRPr>
            </a:pPr>
            <a:r>
              <a:rPr sz="900" b="0">
                <a:solidFill>
                  <a:srgbClr val="7892A6"/>
                </a:solidFill>
                <a:latin typeface="Arial"/>
                <a:ea typeface="Arial"/>
                <a:cs typeface="Arial"/>
              </a:rPr>
              <a:t>DISTRIBUTED MODEL REPOSITORY  /  PROJECT WALKTHROUGH</a:t>
            </a:r>
          </a:p>
        </p:txBody>
      </p:sp>
      <p:sp>
        <p:nvSpPr>
          <p:cNvPr id="5" name="">
            <a:extLst xmlns:a="http://schemas.openxmlformats.org/drawingml/2006/main">
              <a:ext uri="{FF2B5EF4-FFF2-40B4-BE49-F238E27FC236}">
                <a16:creationId xmlns:a16="http://schemas.microsoft.com/office/drawing/2014/main" id="{21B3B744-D7BF-4F1B-8697-AEA513CBDAAF}"/>
              </a:ext>
            </a:extLst>
          </p:cNvPr>
          <p:cNvSpPr>
            <a:spLocks xmlns:a="http://schemas.openxmlformats.org/drawingml/2006/main" noGrp="1"/>
          </p:cNvSpPr>
          <p:nvPr/>
        </p:nvSpPr>
        <p:spPr>
          <a:xfrm xmlns:a="http://schemas.openxmlformats.org/drawingml/2006/main">
            <a:off x="11049000" y="64865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7892A6"/>
                </a:solidFill>
                <a:latin typeface="Arial"/>
                <a:ea typeface="Arial"/>
                <a:cs typeface="Arial"/>
              </a:defRPr>
            </a:defPPr>
          </a:lstStyle>
          <a:p xmlns:a="http://schemas.openxmlformats.org/drawingml/2006/main">
            <a:pPr algn="r">
              <a:defRPr sz="975" b="0">
                <a:solidFill>
                  <a:srgbClr val="7892A6"/>
                </a:solidFill>
                <a:latin typeface="Arial"/>
                <a:ea typeface="Arial"/>
                <a:cs typeface="Arial"/>
              </a:defRPr>
            </a:pPr>
            <a:r>
              <a:rPr sz="975" b="0">
                <a:solidFill>
                  <a:srgbClr val="7892A6"/>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FB868B10-68FB-4471-9827-2AFF5C09EEE8}"/>
              </a:ext>
            </a:extLst>
          </p:cNvPr>
          <p:cNvSpPr>
            <a:spLocks xmlns:a="http://schemas.openxmlformats.org/drawingml/2006/main" noGrp="1"/>
          </p:cNvSpPr>
          <p:nvPr/>
        </p:nvSpPr>
        <p:spPr>
          <a:xfrm xmlns:a="http://schemas.openxmlformats.org/drawingml/2006/main">
            <a:off x="723900" y="1971675"/>
            <a:ext cx="1847850" cy="1809750"/>
          </a:xfrm>
          <a:prstGeom xmlns:a="http://schemas.openxmlformats.org/drawingml/2006/main" prst="roundRect">
            <a:avLst>
              <a:gd name="adj" fmla="val 5263"/>
            </a:avLst>
          </a:prstGeom>
          <a:solidFill xmlns:a="http://schemas.openxmlformats.org/drawingml/2006/main">
            <a:srgbClr val="111E2D"/>
          </a:solidFill>
          <a:ln xmlns:a="http://schemas.openxmlformats.org/drawingml/2006/main" w="9525">
            <a:solidFill>
              <a:srgbClr val="29465B"/>
            </a:solidFill>
            <a:prstDash val="solid"/>
          </a:ln>
        </p:spPr>
      </p:sp>
      <p:sp>
        <p:nvSpPr>
          <p:cNvPr id="7" name="">
            <a:extLst xmlns:a="http://schemas.openxmlformats.org/drawingml/2006/main">
              <a:ext uri="{FF2B5EF4-FFF2-40B4-BE49-F238E27FC236}">
                <a16:creationId xmlns:a16="http://schemas.microsoft.com/office/drawing/2014/main" id="{4C5D3E08-0CA3-4C8B-BCC5-05AA65A5E981}"/>
              </a:ext>
            </a:extLst>
          </p:cNvPr>
          <p:cNvSpPr>
            <a:spLocks xmlns:a="http://schemas.openxmlformats.org/drawingml/2006/main" noGrp="1"/>
          </p:cNvSpPr>
          <p:nvPr/>
        </p:nvSpPr>
        <p:spPr>
          <a:xfrm xmlns:a="http://schemas.openxmlformats.org/drawingml/2006/main">
            <a:off x="885825" y="21526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6FB7FF"/>
                </a:solidFill>
                <a:latin typeface="Arial"/>
                <a:ea typeface="Arial"/>
                <a:cs typeface="Arial"/>
              </a:defRPr>
            </a:defPPr>
          </a:lstStyle>
          <a:p xmlns:a="http://schemas.openxmlformats.org/drawingml/2006/main">
            <a:pPr algn="l">
              <a:defRPr sz="1200" b="1">
                <a:solidFill>
                  <a:srgbClr val="6FB7FF"/>
                </a:solidFill>
                <a:latin typeface="Arial"/>
                <a:ea typeface="Arial"/>
                <a:cs typeface="Arial"/>
              </a:defRPr>
            </a:pPr>
            <a:r>
              <a:rPr sz="1200" b="1">
                <a:solidFill>
                  <a:srgbClr val="6FB7F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C5109D87-6457-4242-8C53-94D036FD791F}"/>
              </a:ext>
            </a:extLst>
          </p:cNvPr>
          <p:cNvSpPr>
            <a:spLocks xmlns:a="http://schemas.openxmlformats.org/drawingml/2006/main" noGrp="1"/>
          </p:cNvSpPr>
          <p:nvPr/>
        </p:nvSpPr>
        <p:spPr>
          <a:xfrm xmlns:a="http://schemas.openxmlformats.org/drawingml/2006/main">
            <a:off x="885825" y="2562225"/>
            <a:ext cx="1524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3F7FA"/>
                </a:solidFill>
                <a:latin typeface="Arial"/>
                <a:ea typeface="Arial"/>
                <a:cs typeface="Arial"/>
              </a:defRPr>
            </a:defPPr>
          </a:lstStyle>
          <a:p xmlns:a="http://schemas.openxmlformats.org/drawingml/2006/main">
            <a:pPr algn="l">
              <a:defRPr sz="1650" b="1">
                <a:solidFill>
                  <a:srgbClr val="F3F7FA"/>
                </a:solidFill>
                <a:latin typeface="Arial"/>
                <a:ea typeface="Arial"/>
                <a:cs typeface="Arial"/>
              </a:defRPr>
            </a:pPr>
            <a:r>
              <a:rPr sz="1650" b="1">
                <a:solidFill>
                  <a:srgbClr val="F3F7FA"/>
                </a:solidFill>
                <a:latin typeface="Arial"/>
                <a:ea typeface="Arial"/>
                <a:cs typeface="Arial"/>
              </a:rPr>
              <a:t>Upload</a:t>
            </a:r>
          </a:p>
        </p:txBody>
      </p:sp>
      <p:sp>
        <p:nvSpPr>
          <p:cNvPr id="9" name="">
            <a:extLst xmlns:a="http://schemas.openxmlformats.org/drawingml/2006/main">
              <a:ext uri="{FF2B5EF4-FFF2-40B4-BE49-F238E27FC236}">
                <a16:creationId xmlns:a16="http://schemas.microsoft.com/office/drawing/2014/main" id="{9B89E8D9-5719-4759-AAF0-BA26645CB457}"/>
              </a:ext>
            </a:extLst>
          </p:cNvPr>
          <p:cNvSpPr>
            <a:spLocks xmlns:a="http://schemas.openxmlformats.org/drawingml/2006/main" noGrp="1"/>
          </p:cNvSpPr>
          <p:nvPr/>
        </p:nvSpPr>
        <p:spPr>
          <a:xfrm xmlns:a="http://schemas.openxmlformats.org/drawingml/2006/main">
            <a:off x="885825" y="3019425"/>
            <a:ext cx="1524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Browser sends model metadata and file to REST API.</a:t>
            </a:r>
          </a:p>
        </p:txBody>
      </p:sp>
      <p:sp>
        <p:nvSpPr>
          <p:cNvPr id="10" name="">
            <a:extLst xmlns:a="http://schemas.openxmlformats.org/drawingml/2006/main">
              <a:ext uri="{FF2B5EF4-FFF2-40B4-BE49-F238E27FC236}">
                <a16:creationId xmlns:a16="http://schemas.microsoft.com/office/drawing/2014/main" id="{54D1F02A-F128-4D06-94EA-6129F7152261}"/>
              </a:ext>
            </a:extLst>
          </p:cNvPr>
          <p:cNvSpPr>
            <a:spLocks xmlns:a="http://schemas.openxmlformats.org/drawingml/2006/main" noGrp="1"/>
          </p:cNvSpPr>
          <p:nvPr/>
        </p:nvSpPr>
        <p:spPr>
          <a:xfrm xmlns:a="http://schemas.openxmlformats.org/drawingml/2006/main">
            <a:off x="2571750" y="2857500"/>
            <a:ext cx="352425" cy="0"/>
          </a:xfrm>
          <a:prstGeom xmlns:a="http://schemas.openxmlformats.org/drawingml/2006/main" prst="line">
            <a:avLst/>
          </a:prstGeom>
          <a:noFill xmlns:a="http://schemas.openxmlformats.org/drawingml/2006/main"/>
          <a:ln xmlns:a="http://schemas.openxmlformats.org/drawingml/2006/main" w="19050">
            <a:solidFill>
              <a:srgbClr val="27D3B2"/>
            </a:solidFill>
            <a:prstDash val="solid"/>
          </a:ln>
        </p:spPr>
      </p:sp>
      <p:sp>
        <p:nvSpPr>
          <p:cNvPr id="11" name="">
            <a:extLst xmlns:a="http://schemas.openxmlformats.org/drawingml/2006/main">
              <a:ext uri="{FF2B5EF4-FFF2-40B4-BE49-F238E27FC236}">
                <a16:creationId xmlns:a16="http://schemas.microsoft.com/office/drawing/2014/main" id="{CDC08DE3-605A-40F1-A244-C41B18FB025A}"/>
              </a:ext>
            </a:extLst>
          </p:cNvPr>
          <p:cNvSpPr>
            <a:spLocks xmlns:a="http://schemas.openxmlformats.org/drawingml/2006/main" noGrp="1"/>
          </p:cNvSpPr>
          <p:nvPr/>
        </p:nvSpPr>
        <p:spPr>
          <a:xfrm xmlns:a="http://schemas.openxmlformats.org/drawingml/2006/main">
            <a:off x="2924175" y="1971675"/>
            <a:ext cx="1847850" cy="1809750"/>
          </a:xfrm>
          <a:prstGeom xmlns:a="http://schemas.openxmlformats.org/drawingml/2006/main" prst="roundRect">
            <a:avLst>
              <a:gd name="adj" fmla="val 5263"/>
            </a:avLst>
          </a:prstGeom>
          <a:solidFill xmlns:a="http://schemas.openxmlformats.org/drawingml/2006/main">
            <a:srgbClr val="111E2D"/>
          </a:solidFill>
          <a:ln xmlns:a="http://schemas.openxmlformats.org/drawingml/2006/main" w="9525">
            <a:solidFill>
              <a:srgbClr val="29465B"/>
            </a:solidFill>
            <a:prstDash val="solid"/>
          </a:ln>
        </p:spPr>
      </p:sp>
      <p:sp>
        <p:nvSpPr>
          <p:cNvPr id="12" name="">
            <a:extLst xmlns:a="http://schemas.openxmlformats.org/drawingml/2006/main">
              <a:ext uri="{FF2B5EF4-FFF2-40B4-BE49-F238E27FC236}">
                <a16:creationId xmlns:a16="http://schemas.microsoft.com/office/drawing/2014/main" id="{381BE44C-4488-4E72-9E70-A3E865C12D12}"/>
              </a:ext>
            </a:extLst>
          </p:cNvPr>
          <p:cNvSpPr>
            <a:spLocks xmlns:a="http://schemas.openxmlformats.org/drawingml/2006/main" noGrp="1"/>
          </p:cNvSpPr>
          <p:nvPr/>
        </p:nvSpPr>
        <p:spPr>
          <a:xfrm xmlns:a="http://schemas.openxmlformats.org/drawingml/2006/main">
            <a:off x="3086100" y="21526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F4B860"/>
                </a:solidFill>
                <a:latin typeface="Arial"/>
                <a:ea typeface="Arial"/>
                <a:cs typeface="Arial"/>
              </a:defRPr>
            </a:defPPr>
          </a:lstStyle>
          <a:p xmlns:a="http://schemas.openxmlformats.org/drawingml/2006/main">
            <a:pPr algn="l">
              <a:defRPr sz="1200" b="1">
                <a:solidFill>
                  <a:srgbClr val="F4B860"/>
                </a:solidFill>
                <a:latin typeface="Arial"/>
                <a:ea typeface="Arial"/>
                <a:cs typeface="Arial"/>
              </a:defRPr>
            </a:pPr>
            <a:r>
              <a:rPr sz="1200" b="1">
                <a:solidFill>
                  <a:srgbClr val="F4B860"/>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DD9307F7-5AC0-4899-B6FB-946ADB59F921}"/>
              </a:ext>
            </a:extLst>
          </p:cNvPr>
          <p:cNvSpPr>
            <a:spLocks xmlns:a="http://schemas.openxmlformats.org/drawingml/2006/main" noGrp="1"/>
          </p:cNvSpPr>
          <p:nvPr/>
        </p:nvSpPr>
        <p:spPr>
          <a:xfrm xmlns:a="http://schemas.openxmlformats.org/drawingml/2006/main">
            <a:off x="3086100" y="2562225"/>
            <a:ext cx="1524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3F7FA"/>
                </a:solidFill>
                <a:latin typeface="Arial"/>
                <a:ea typeface="Arial"/>
                <a:cs typeface="Arial"/>
              </a:defRPr>
            </a:defPPr>
          </a:lstStyle>
          <a:p xmlns:a="http://schemas.openxmlformats.org/drawingml/2006/main">
            <a:pPr algn="l">
              <a:defRPr sz="1650" b="1">
                <a:solidFill>
                  <a:srgbClr val="F3F7FA"/>
                </a:solidFill>
                <a:latin typeface="Arial"/>
                <a:ea typeface="Arial"/>
                <a:cs typeface="Arial"/>
              </a:defRPr>
            </a:pPr>
            <a:r>
              <a:rPr sz="1650" b="1">
                <a:solidFill>
                  <a:srgbClr val="F3F7FA"/>
                </a:solidFill>
                <a:latin typeface="Arial"/>
                <a:ea typeface="Arial"/>
                <a:cs typeface="Arial"/>
              </a:rPr>
              <a:t>Select</a:t>
            </a:r>
          </a:p>
        </p:txBody>
      </p:sp>
      <p:sp>
        <p:nvSpPr>
          <p:cNvPr id="14" name="">
            <a:extLst xmlns:a="http://schemas.openxmlformats.org/drawingml/2006/main">
              <a:ext uri="{FF2B5EF4-FFF2-40B4-BE49-F238E27FC236}">
                <a16:creationId xmlns:a16="http://schemas.microsoft.com/office/drawing/2014/main" id="{4AD49197-653B-4509-ABC6-76B01C0DB951}"/>
              </a:ext>
            </a:extLst>
          </p:cNvPr>
          <p:cNvSpPr>
            <a:spLocks xmlns:a="http://schemas.openxmlformats.org/drawingml/2006/main" noGrp="1"/>
          </p:cNvSpPr>
          <p:nvPr/>
        </p:nvSpPr>
        <p:spPr>
          <a:xfrm xmlns:a="http://schemas.openxmlformats.org/drawingml/2006/main">
            <a:off x="3086100" y="3019425"/>
            <a:ext cx="1524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Coordinator chooses primary + replica targets.</a:t>
            </a:r>
          </a:p>
        </p:txBody>
      </p:sp>
      <p:sp>
        <p:nvSpPr>
          <p:cNvPr id="15" name="">
            <a:extLst xmlns:a="http://schemas.openxmlformats.org/drawingml/2006/main">
              <a:ext uri="{FF2B5EF4-FFF2-40B4-BE49-F238E27FC236}">
                <a16:creationId xmlns:a16="http://schemas.microsoft.com/office/drawing/2014/main" id="{20E88F48-F66D-48DE-9550-042DA3080482}"/>
              </a:ext>
            </a:extLst>
          </p:cNvPr>
          <p:cNvSpPr>
            <a:spLocks xmlns:a="http://schemas.openxmlformats.org/drawingml/2006/main" noGrp="1"/>
          </p:cNvSpPr>
          <p:nvPr/>
        </p:nvSpPr>
        <p:spPr>
          <a:xfrm xmlns:a="http://schemas.openxmlformats.org/drawingml/2006/main">
            <a:off x="4772025" y="2857500"/>
            <a:ext cx="352425" cy="0"/>
          </a:xfrm>
          <a:prstGeom xmlns:a="http://schemas.openxmlformats.org/drawingml/2006/main" prst="line">
            <a:avLst/>
          </a:prstGeom>
          <a:noFill xmlns:a="http://schemas.openxmlformats.org/drawingml/2006/main"/>
          <a:ln xmlns:a="http://schemas.openxmlformats.org/drawingml/2006/main" w="19050">
            <a:solidFill>
              <a:srgbClr val="27D3B2"/>
            </a:solidFill>
            <a:prstDash val="solid"/>
          </a:ln>
        </p:spPr>
      </p:sp>
      <p:sp>
        <p:nvSpPr>
          <p:cNvPr id="16" name="">
            <a:extLst xmlns:a="http://schemas.openxmlformats.org/drawingml/2006/main">
              <a:ext uri="{FF2B5EF4-FFF2-40B4-BE49-F238E27FC236}">
                <a16:creationId xmlns:a16="http://schemas.microsoft.com/office/drawing/2014/main" id="{6D0B82C4-76DD-4C9F-9287-CC7FFAA4A5A2}"/>
              </a:ext>
            </a:extLst>
          </p:cNvPr>
          <p:cNvSpPr>
            <a:spLocks xmlns:a="http://schemas.openxmlformats.org/drawingml/2006/main" noGrp="1"/>
          </p:cNvSpPr>
          <p:nvPr/>
        </p:nvSpPr>
        <p:spPr>
          <a:xfrm xmlns:a="http://schemas.openxmlformats.org/drawingml/2006/main">
            <a:off x="5124450" y="1971675"/>
            <a:ext cx="1847850" cy="1809750"/>
          </a:xfrm>
          <a:prstGeom xmlns:a="http://schemas.openxmlformats.org/drawingml/2006/main" prst="roundRect">
            <a:avLst>
              <a:gd name="adj" fmla="val 5263"/>
            </a:avLst>
          </a:prstGeom>
          <a:solidFill xmlns:a="http://schemas.openxmlformats.org/drawingml/2006/main">
            <a:srgbClr val="111E2D"/>
          </a:solidFill>
          <a:ln xmlns:a="http://schemas.openxmlformats.org/drawingml/2006/main" w="9525">
            <a:solidFill>
              <a:srgbClr val="29465B"/>
            </a:solidFill>
            <a:prstDash val="solid"/>
          </a:ln>
        </p:spPr>
      </p:sp>
      <p:sp>
        <p:nvSpPr>
          <p:cNvPr id="17" name="">
            <a:extLst xmlns:a="http://schemas.openxmlformats.org/drawingml/2006/main">
              <a:ext uri="{FF2B5EF4-FFF2-40B4-BE49-F238E27FC236}">
                <a16:creationId xmlns:a16="http://schemas.microsoft.com/office/drawing/2014/main" id="{DF662262-2170-4FB3-B20B-0AA5F39EF8C5}"/>
              </a:ext>
            </a:extLst>
          </p:cNvPr>
          <p:cNvSpPr>
            <a:spLocks xmlns:a="http://schemas.openxmlformats.org/drawingml/2006/main" noGrp="1"/>
          </p:cNvSpPr>
          <p:nvPr/>
        </p:nvSpPr>
        <p:spPr>
          <a:xfrm xmlns:a="http://schemas.openxmlformats.org/drawingml/2006/main">
            <a:off x="5286375" y="21526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D3B2"/>
                </a:solidFill>
                <a:latin typeface="Arial"/>
                <a:ea typeface="Arial"/>
                <a:cs typeface="Arial"/>
              </a:defRPr>
            </a:defPPr>
          </a:lstStyle>
          <a:p xmlns:a="http://schemas.openxmlformats.org/drawingml/2006/main">
            <a:pPr algn="l">
              <a:defRPr sz="1200" b="1">
                <a:solidFill>
                  <a:srgbClr val="27D3B2"/>
                </a:solidFill>
                <a:latin typeface="Arial"/>
                <a:ea typeface="Arial"/>
                <a:cs typeface="Arial"/>
              </a:defRPr>
            </a:pPr>
            <a:r>
              <a:rPr sz="1200" b="1">
                <a:solidFill>
                  <a:srgbClr val="27D3B2"/>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F18E3E11-6F6F-45C2-903F-4ACBAF3FE9F8}"/>
              </a:ext>
            </a:extLst>
          </p:cNvPr>
          <p:cNvSpPr>
            <a:spLocks xmlns:a="http://schemas.openxmlformats.org/drawingml/2006/main" noGrp="1"/>
          </p:cNvSpPr>
          <p:nvPr/>
        </p:nvSpPr>
        <p:spPr>
          <a:xfrm xmlns:a="http://schemas.openxmlformats.org/drawingml/2006/main">
            <a:off x="5286375" y="2562225"/>
            <a:ext cx="1524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3F7FA"/>
                </a:solidFill>
                <a:latin typeface="Arial"/>
                <a:ea typeface="Arial"/>
                <a:cs typeface="Arial"/>
              </a:defRPr>
            </a:defPPr>
          </a:lstStyle>
          <a:p xmlns:a="http://schemas.openxmlformats.org/drawingml/2006/main">
            <a:pPr algn="l">
              <a:defRPr sz="1650" b="1">
                <a:solidFill>
                  <a:srgbClr val="F3F7FA"/>
                </a:solidFill>
                <a:latin typeface="Arial"/>
                <a:ea typeface="Arial"/>
                <a:cs typeface="Arial"/>
              </a:defRPr>
            </a:pPr>
            <a:r>
              <a:rPr sz="1650" b="1">
                <a:solidFill>
                  <a:srgbClr val="F3F7FA"/>
                </a:solidFill>
                <a:latin typeface="Arial"/>
                <a:ea typeface="Arial"/>
                <a:cs typeface="Arial"/>
              </a:rPr>
              <a:t>Stream</a:t>
            </a:r>
          </a:p>
        </p:txBody>
      </p:sp>
      <p:sp>
        <p:nvSpPr>
          <p:cNvPr id="19" name="">
            <a:extLst xmlns:a="http://schemas.openxmlformats.org/drawingml/2006/main">
              <a:ext uri="{FF2B5EF4-FFF2-40B4-BE49-F238E27FC236}">
                <a16:creationId xmlns:a16="http://schemas.microsoft.com/office/drawing/2014/main" id="{47BF93B7-E08F-4DE4-9985-09C6825157E2}"/>
              </a:ext>
            </a:extLst>
          </p:cNvPr>
          <p:cNvSpPr>
            <a:spLocks xmlns:a="http://schemas.openxmlformats.org/drawingml/2006/main" noGrp="1"/>
          </p:cNvSpPr>
          <p:nvPr/>
        </p:nvSpPr>
        <p:spPr>
          <a:xfrm xmlns:a="http://schemas.openxmlformats.org/drawingml/2006/main">
            <a:off x="5286375" y="3019425"/>
            <a:ext cx="1524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gRPC sends chunks to the primary node.</a:t>
            </a:r>
          </a:p>
        </p:txBody>
      </p:sp>
      <p:sp>
        <p:nvSpPr>
          <p:cNvPr id="20" name="">
            <a:extLst xmlns:a="http://schemas.openxmlformats.org/drawingml/2006/main">
              <a:ext uri="{FF2B5EF4-FFF2-40B4-BE49-F238E27FC236}">
                <a16:creationId xmlns:a16="http://schemas.microsoft.com/office/drawing/2014/main" id="{08396669-C71D-4620-AC55-FD0BE843F5DE}"/>
              </a:ext>
            </a:extLst>
          </p:cNvPr>
          <p:cNvSpPr>
            <a:spLocks xmlns:a="http://schemas.openxmlformats.org/drawingml/2006/main" noGrp="1"/>
          </p:cNvSpPr>
          <p:nvPr/>
        </p:nvSpPr>
        <p:spPr>
          <a:xfrm xmlns:a="http://schemas.openxmlformats.org/drawingml/2006/main">
            <a:off x="6972300" y="2857500"/>
            <a:ext cx="352425" cy="0"/>
          </a:xfrm>
          <a:prstGeom xmlns:a="http://schemas.openxmlformats.org/drawingml/2006/main" prst="line">
            <a:avLst/>
          </a:prstGeom>
          <a:noFill xmlns:a="http://schemas.openxmlformats.org/drawingml/2006/main"/>
          <a:ln xmlns:a="http://schemas.openxmlformats.org/drawingml/2006/main" w="19050">
            <a:solidFill>
              <a:srgbClr val="27D3B2"/>
            </a:solidFill>
            <a:prstDash val="solid"/>
          </a:ln>
        </p:spPr>
      </p:sp>
      <p:sp>
        <p:nvSpPr>
          <p:cNvPr id="21" name="">
            <a:extLst xmlns:a="http://schemas.openxmlformats.org/drawingml/2006/main">
              <a:ext uri="{FF2B5EF4-FFF2-40B4-BE49-F238E27FC236}">
                <a16:creationId xmlns:a16="http://schemas.microsoft.com/office/drawing/2014/main" id="{8486110E-FC4B-47D4-A824-15D79E56C44C}"/>
              </a:ext>
            </a:extLst>
          </p:cNvPr>
          <p:cNvSpPr>
            <a:spLocks xmlns:a="http://schemas.openxmlformats.org/drawingml/2006/main" noGrp="1"/>
          </p:cNvSpPr>
          <p:nvPr/>
        </p:nvSpPr>
        <p:spPr>
          <a:xfrm xmlns:a="http://schemas.openxmlformats.org/drawingml/2006/main">
            <a:off x="7324725" y="1971675"/>
            <a:ext cx="1847850" cy="1809750"/>
          </a:xfrm>
          <a:prstGeom xmlns:a="http://schemas.openxmlformats.org/drawingml/2006/main" prst="roundRect">
            <a:avLst>
              <a:gd name="adj" fmla="val 5263"/>
            </a:avLst>
          </a:prstGeom>
          <a:solidFill xmlns:a="http://schemas.openxmlformats.org/drawingml/2006/main">
            <a:srgbClr val="111E2D"/>
          </a:solidFill>
          <a:ln xmlns:a="http://schemas.openxmlformats.org/drawingml/2006/main" w="9525">
            <a:solidFill>
              <a:srgbClr val="29465B"/>
            </a:solidFill>
            <a:prstDash val="solid"/>
          </a:ln>
        </p:spPr>
      </p:sp>
      <p:sp>
        <p:nvSpPr>
          <p:cNvPr id="22" name="">
            <a:extLst xmlns:a="http://schemas.openxmlformats.org/drawingml/2006/main">
              <a:ext uri="{FF2B5EF4-FFF2-40B4-BE49-F238E27FC236}">
                <a16:creationId xmlns:a16="http://schemas.microsoft.com/office/drawing/2014/main" id="{845514A5-0B95-4BFB-AF81-9F6C602EA581}"/>
              </a:ext>
            </a:extLst>
          </p:cNvPr>
          <p:cNvSpPr>
            <a:spLocks xmlns:a="http://schemas.openxmlformats.org/drawingml/2006/main" noGrp="1"/>
          </p:cNvSpPr>
          <p:nvPr/>
        </p:nvSpPr>
        <p:spPr>
          <a:xfrm xmlns:a="http://schemas.openxmlformats.org/drawingml/2006/main">
            <a:off x="7486650" y="21526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5A2FF"/>
                </a:solidFill>
                <a:latin typeface="Arial"/>
                <a:ea typeface="Arial"/>
                <a:cs typeface="Arial"/>
              </a:defRPr>
            </a:defPPr>
          </a:lstStyle>
          <a:p xmlns:a="http://schemas.openxmlformats.org/drawingml/2006/main">
            <a:pPr algn="l">
              <a:defRPr sz="1200" b="1">
                <a:solidFill>
                  <a:srgbClr val="B5A2FF"/>
                </a:solidFill>
                <a:latin typeface="Arial"/>
                <a:ea typeface="Arial"/>
                <a:cs typeface="Arial"/>
              </a:defRPr>
            </a:pPr>
            <a:r>
              <a:rPr sz="1200" b="1">
                <a:solidFill>
                  <a:srgbClr val="B5A2FF"/>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64147CD8-7E92-4F1F-8CD6-89B0E9DBC73C}"/>
              </a:ext>
            </a:extLst>
          </p:cNvPr>
          <p:cNvSpPr>
            <a:spLocks xmlns:a="http://schemas.openxmlformats.org/drawingml/2006/main" noGrp="1"/>
          </p:cNvSpPr>
          <p:nvPr/>
        </p:nvSpPr>
        <p:spPr>
          <a:xfrm xmlns:a="http://schemas.openxmlformats.org/drawingml/2006/main">
            <a:off x="7486650" y="2562225"/>
            <a:ext cx="1524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3F7FA"/>
                </a:solidFill>
                <a:latin typeface="Arial"/>
                <a:ea typeface="Arial"/>
                <a:cs typeface="Arial"/>
              </a:defRPr>
            </a:defPPr>
          </a:lstStyle>
          <a:p xmlns:a="http://schemas.openxmlformats.org/drawingml/2006/main">
            <a:pPr algn="l">
              <a:defRPr sz="1650" b="1">
                <a:solidFill>
                  <a:srgbClr val="F3F7FA"/>
                </a:solidFill>
                <a:latin typeface="Arial"/>
                <a:ea typeface="Arial"/>
                <a:cs typeface="Arial"/>
              </a:defRPr>
            </a:pPr>
            <a:r>
              <a:rPr sz="1650" b="1">
                <a:solidFill>
                  <a:srgbClr val="F3F7FA"/>
                </a:solidFill>
                <a:latin typeface="Arial"/>
                <a:ea typeface="Arial"/>
                <a:cs typeface="Arial"/>
              </a:rPr>
              <a:t>Hash</a:t>
            </a:r>
          </a:p>
        </p:txBody>
      </p:sp>
      <p:sp>
        <p:nvSpPr>
          <p:cNvPr id="24" name="">
            <a:extLst xmlns:a="http://schemas.openxmlformats.org/drawingml/2006/main">
              <a:ext uri="{FF2B5EF4-FFF2-40B4-BE49-F238E27FC236}">
                <a16:creationId xmlns:a16="http://schemas.microsoft.com/office/drawing/2014/main" id="{78BD1239-663E-41A9-8C95-66A8C61EEE36}"/>
              </a:ext>
            </a:extLst>
          </p:cNvPr>
          <p:cNvSpPr>
            <a:spLocks xmlns:a="http://schemas.openxmlformats.org/drawingml/2006/main" noGrp="1"/>
          </p:cNvSpPr>
          <p:nvPr/>
        </p:nvSpPr>
        <p:spPr>
          <a:xfrm xmlns:a="http://schemas.openxmlformats.org/drawingml/2006/main">
            <a:off x="7486650" y="3019425"/>
            <a:ext cx="1524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Calculate SHA-256; save model metadata.</a:t>
            </a:r>
          </a:p>
        </p:txBody>
      </p:sp>
      <p:sp>
        <p:nvSpPr>
          <p:cNvPr id="25" name="">
            <a:extLst xmlns:a="http://schemas.openxmlformats.org/drawingml/2006/main">
              <a:ext uri="{FF2B5EF4-FFF2-40B4-BE49-F238E27FC236}">
                <a16:creationId xmlns:a16="http://schemas.microsoft.com/office/drawing/2014/main" id="{6D98252E-58B9-4576-B3ED-1CEB8D63A272}"/>
              </a:ext>
            </a:extLst>
          </p:cNvPr>
          <p:cNvSpPr>
            <a:spLocks xmlns:a="http://schemas.openxmlformats.org/drawingml/2006/main" noGrp="1"/>
          </p:cNvSpPr>
          <p:nvPr/>
        </p:nvSpPr>
        <p:spPr>
          <a:xfrm xmlns:a="http://schemas.openxmlformats.org/drawingml/2006/main">
            <a:off x="9172575" y="2857500"/>
            <a:ext cx="352425" cy="0"/>
          </a:xfrm>
          <a:prstGeom xmlns:a="http://schemas.openxmlformats.org/drawingml/2006/main" prst="line">
            <a:avLst/>
          </a:prstGeom>
          <a:noFill xmlns:a="http://schemas.openxmlformats.org/drawingml/2006/main"/>
          <a:ln xmlns:a="http://schemas.openxmlformats.org/drawingml/2006/main" w="19050">
            <a:solidFill>
              <a:srgbClr val="27D3B2"/>
            </a:solidFill>
            <a:prstDash val="solid"/>
          </a:ln>
        </p:spPr>
      </p:sp>
      <p:sp>
        <p:nvSpPr>
          <p:cNvPr id="26" name="">
            <a:extLst xmlns:a="http://schemas.openxmlformats.org/drawingml/2006/main">
              <a:ext uri="{FF2B5EF4-FFF2-40B4-BE49-F238E27FC236}">
                <a16:creationId xmlns:a16="http://schemas.microsoft.com/office/drawing/2014/main" id="{44F68FD5-1474-4378-B8E1-03144B4EFE20}"/>
              </a:ext>
            </a:extLst>
          </p:cNvPr>
          <p:cNvSpPr>
            <a:spLocks xmlns:a="http://schemas.openxmlformats.org/drawingml/2006/main" noGrp="1"/>
          </p:cNvSpPr>
          <p:nvPr/>
        </p:nvSpPr>
        <p:spPr>
          <a:xfrm xmlns:a="http://schemas.openxmlformats.org/drawingml/2006/main">
            <a:off x="9525000" y="1971675"/>
            <a:ext cx="1847850" cy="1809750"/>
          </a:xfrm>
          <a:prstGeom xmlns:a="http://schemas.openxmlformats.org/drawingml/2006/main" prst="roundRect">
            <a:avLst>
              <a:gd name="adj" fmla="val 5263"/>
            </a:avLst>
          </a:prstGeom>
          <a:solidFill xmlns:a="http://schemas.openxmlformats.org/drawingml/2006/main">
            <a:srgbClr val="111E2D"/>
          </a:solidFill>
          <a:ln xmlns:a="http://schemas.openxmlformats.org/drawingml/2006/main" w="9525">
            <a:solidFill>
              <a:srgbClr val="29465B"/>
            </a:solidFill>
            <a:prstDash val="solid"/>
          </a:ln>
        </p:spPr>
      </p:sp>
      <p:sp>
        <p:nvSpPr>
          <p:cNvPr id="27" name="">
            <a:extLst xmlns:a="http://schemas.openxmlformats.org/drawingml/2006/main">
              <a:ext uri="{FF2B5EF4-FFF2-40B4-BE49-F238E27FC236}">
                <a16:creationId xmlns:a16="http://schemas.microsoft.com/office/drawing/2014/main" id="{E9C65822-2ACC-47EC-A6F1-115C85F4518D}"/>
              </a:ext>
            </a:extLst>
          </p:cNvPr>
          <p:cNvSpPr>
            <a:spLocks xmlns:a="http://schemas.openxmlformats.org/drawingml/2006/main" noGrp="1"/>
          </p:cNvSpPr>
          <p:nvPr/>
        </p:nvSpPr>
        <p:spPr>
          <a:xfrm xmlns:a="http://schemas.openxmlformats.org/drawingml/2006/main">
            <a:off x="9686925" y="21526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D3B2"/>
                </a:solidFill>
                <a:latin typeface="Arial"/>
                <a:ea typeface="Arial"/>
                <a:cs typeface="Arial"/>
              </a:defRPr>
            </a:defPPr>
          </a:lstStyle>
          <a:p xmlns:a="http://schemas.openxmlformats.org/drawingml/2006/main">
            <a:pPr algn="l">
              <a:defRPr sz="1200" b="1">
                <a:solidFill>
                  <a:srgbClr val="27D3B2"/>
                </a:solidFill>
                <a:latin typeface="Arial"/>
                <a:ea typeface="Arial"/>
                <a:cs typeface="Arial"/>
              </a:defRPr>
            </a:pPr>
            <a:r>
              <a:rPr sz="1200" b="1">
                <a:solidFill>
                  <a:srgbClr val="27D3B2"/>
                </a:solidFill>
                <a:latin typeface="Arial"/>
                <a:ea typeface="Arial"/>
                <a:cs typeface="Arial"/>
              </a:rPr>
              <a:t>05</a:t>
            </a:r>
          </a:p>
        </p:txBody>
      </p:sp>
      <p:sp>
        <p:nvSpPr>
          <p:cNvPr id="28" name="">
            <a:extLst xmlns:a="http://schemas.openxmlformats.org/drawingml/2006/main">
              <a:ext uri="{FF2B5EF4-FFF2-40B4-BE49-F238E27FC236}">
                <a16:creationId xmlns:a16="http://schemas.microsoft.com/office/drawing/2014/main" id="{4A0F692B-3A44-44AD-A905-B1E7C7B53290}"/>
              </a:ext>
            </a:extLst>
          </p:cNvPr>
          <p:cNvSpPr>
            <a:spLocks xmlns:a="http://schemas.openxmlformats.org/drawingml/2006/main" noGrp="1"/>
          </p:cNvSpPr>
          <p:nvPr/>
        </p:nvSpPr>
        <p:spPr>
          <a:xfrm xmlns:a="http://schemas.openxmlformats.org/drawingml/2006/main">
            <a:off x="9686925" y="2562225"/>
            <a:ext cx="1524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3F7FA"/>
                </a:solidFill>
                <a:latin typeface="Arial"/>
                <a:ea typeface="Arial"/>
                <a:cs typeface="Arial"/>
              </a:defRPr>
            </a:defPPr>
          </a:lstStyle>
          <a:p xmlns:a="http://schemas.openxmlformats.org/drawingml/2006/main">
            <a:pPr algn="l">
              <a:defRPr sz="1650" b="1">
                <a:solidFill>
                  <a:srgbClr val="F3F7FA"/>
                </a:solidFill>
                <a:latin typeface="Arial"/>
                <a:ea typeface="Arial"/>
                <a:cs typeface="Arial"/>
              </a:defRPr>
            </a:pPr>
            <a:r>
              <a:rPr sz="1650" b="1">
                <a:solidFill>
                  <a:srgbClr val="F3F7FA"/>
                </a:solidFill>
                <a:latin typeface="Arial"/>
                <a:ea typeface="Arial"/>
                <a:cs typeface="Arial"/>
              </a:rPr>
              <a:t>Replicate</a:t>
            </a:r>
          </a:p>
        </p:txBody>
      </p:sp>
      <p:sp>
        <p:nvSpPr>
          <p:cNvPr id="29" name="">
            <a:extLst xmlns:a="http://schemas.openxmlformats.org/drawingml/2006/main">
              <a:ext uri="{FF2B5EF4-FFF2-40B4-BE49-F238E27FC236}">
                <a16:creationId xmlns:a16="http://schemas.microsoft.com/office/drawing/2014/main" id="{4041F88F-B8F7-4730-B00A-F27120D3EDB5}"/>
              </a:ext>
            </a:extLst>
          </p:cNvPr>
          <p:cNvSpPr>
            <a:spLocks xmlns:a="http://schemas.openxmlformats.org/drawingml/2006/main" noGrp="1"/>
          </p:cNvSpPr>
          <p:nvPr/>
        </p:nvSpPr>
        <p:spPr>
          <a:xfrm xmlns:a="http://schemas.openxmlformats.org/drawingml/2006/main">
            <a:off x="9686925" y="3019425"/>
            <a:ext cx="1524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Primary streams directly to peers.</a:t>
            </a:r>
          </a:p>
        </p:txBody>
      </p:sp>
      <p:sp>
        <p:nvSpPr>
          <p:cNvPr id="30" name="">
            <a:extLst xmlns:a="http://schemas.openxmlformats.org/drawingml/2006/main">
              <a:ext uri="{FF2B5EF4-FFF2-40B4-BE49-F238E27FC236}">
                <a16:creationId xmlns:a16="http://schemas.microsoft.com/office/drawing/2014/main" id="{FA9B3547-5F89-48DA-913B-EA5532971F8A}"/>
              </a:ext>
            </a:extLst>
          </p:cNvPr>
          <p:cNvSpPr>
            <a:spLocks xmlns:a="http://schemas.openxmlformats.org/drawingml/2006/main" noGrp="1"/>
          </p:cNvSpPr>
          <p:nvPr/>
        </p:nvSpPr>
        <p:spPr>
          <a:xfrm xmlns:a="http://schemas.openxmlformats.org/drawingml/2006/main">
            <a:off x="742950" y="4238625"/>
            <a:ext cx="1066800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31" name="">
            <a:extLst xmlns:a="http://schemas.openxmlformats.org/drawingml/2006/main">
              <a:ext uri="{FF2B5EF4-FFF2-40B4-BE49-F238E27FC236}">
                <a16:creationId xmlns:a16="http://schemas.microsoft.com/office/drawing/2014/main" id="{3348EB4B-814C-47E4-9224-E62DC2269DD1}"/>
              </a:ext>
            </a:extLst>
          </p:cNvPr>
          <p:cNvSpPr>
            <a:spLocks xmlns:a="http://schemas.openxmlformats.org/drawingml/2006/main" noGrp="1"/>
          </p:cNvSpPr>
          <p:nvPr/>
        </p:nvSpPr>
        <p:spPr>
          <a:xfrm xmlns:a="http://schemas.openxmlformats.org/drawingml/2006/main">
            <a:off x="857250" y="4591050"/>
            <a:ext cx="200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4B860"/>
                </a:solidFill>
                <a:latin typeface="Arial"/>
                <a:ea typeface="Arial"/>
                <a:cs typeface="Arial"/>
              </a:defRPr>
            </a:defPPr>
          </a:lstStyle>
          <a:p xmlns:a="http://schemas.openxmlformats.org/drawingml/2006/main">
            <a:pPr algn="l">
              <a:defRPr sz="1500" b="1">
                <a:solidFill>
                  <a:srgbClr val="F4B860"/>
                </a:solidFill>
                <a:latin typeface="Arial"/>
                <a:ea typeface="Arial"/>
                <a:cs typeface="Arial"/>
              </a:defRPr>
            </a:pPr>
            <a:r>
              <a:rPr sz="1500" b="1">
                <a:solidFill>
                  <a:srgbClr val="F4B860"/>
                </a:solidFill>
                <a:latin typeface="Arial"/>
                <a:ea typeface="Arial"/>
                <a:cs typeface="Arial"/>
              </a:rPr>
              <a:t>Coordinator</a:t>
            </a:r>
          </a:p>
        </p:txBody>
      </p:sp>
      <p:sp>
        <p:nvSpPr>
          <p:cNvPr id="32" name="">
            <a:extLst xmlns:a="http://schemas.openxmlformats.org/drawingml/2006/main">
              <a:ext uri="{FF2B5EF4-FFF2-40B4-BE49-F238E27FC236}">
                <a16:creationId xmlns:a16="http://schemas.microsoft.com/office/drawing/2014/main" id="{1C28F098-33B4-467C-AEE5-DE4716B3CEF1}"/>
              </a:ext>
            </a:extLst>
          </p:cNvPr>
          <p:cNvSpPr>
            <a:spLocks xmlns:a="http://schemas.openxmlformats.org/drawingml/2006/main" noGrp="1"/>
          </p:cNvSpPr>
          <p:nvPr/>
        </p:nvSpPr>
        <p:spPr>
          <a:xfrm xmlns:a="http://schemas.openxmlformats.org/drawingml/2006/main">
            <a:off x="857250" y="4933950"/>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control</a:t>
            </a:r>
          </a:p>
        </p:txBody>
      </p:sp>
      <p:sp>
        <p:nvSpPr>
          <p:cNvPr id="33" name="">
            <a:extLst xmlns:a="http://schemas.openxmlformats.org/drawingml/2006/main">
              <a:ext uri="{FF2B5EF4-FFF2-40B4-BE49-F238E27FC236}">
                <a16:creationId xmlns:a16="http://schemas.microsoft.com/office/drawing/2014/main" id="{B03C5D5B-0D5C-4F17-8A86-1E6CAA16F137}"/>
              </a:ext>
            </a:extLst>
          </p:cNvPr>
          <p:cNvSpPr>
            <a:spLocks xmlns:a="http://schemas.openxmlformats.org/drawingml/2006/main" noGrp="1"/>
          </p:cNvSpPr>
          <p:nvPr/>
        </p:nvSpPr>
        <p:spPr>
          <a:xfrm xmlns:a="http://schemas.openxmlformats.org/drawingml/2006/main">
            <a:off x="4286250" y="4591050"/>
            <a:ext cx="200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D3B2"/>
                </a:solidFill>
                <a:latin typeface="Arial"/>
                <a:ea typeface="Arial"/>
                <a:cs typeface="Arial"/>
              </a:defRPr>
            </a:defPPr>
          </a:lstStyle>
          <a:p xmlns:a="http://schemas.openxmlformats.org/drawingml/2006/main">
            <a:pPr algn="l">
              <a:defRPr sz="1500" b="1">
                <a:solidFill>
                  <a:srgbClr val="27D3B2"/>
                </a:solidFill>
                <a:latin typeface="Arial"/>
                <a:ea typeface="Arial"/>
                <a:cs typeface="Arial"/>
              </a:defRPr>
            </a:pPr>
            <a:r>
              <a:rPr sz="1500" b="1">
                <a:solidFill>
                  <a:srgbClr val="27D3B2"/>
                </a:solidFill>
                <a:latin typeface="Arial"/>
                <a:ea typeface="Arial"/>
                <a:cs typeface="Arial"/>
              </a:rPr>
              <a:t>Node 1</a:t>
            </a:r>
          </a:p>
        </p:txBody>
      </p:sp>
      <p:sp>
        <p:nvSpPr>
          <p:cNvPr id="34" name="">
            <a:extLst xmlns:a="http://schemas.openxmlformats.org/drawingml/2006/main">
              <a:ext uri="{FF2B5EF4-FFF2-40B4-BE49-F238E27FC236}">
                <a16:creationId xmlns:a16="http://schemas.microsoft.com/office/drawing/2014/main" id="{006EDECF-7FA3-43DD-B0F4-D299D5FCD5F8}"/>
              </a:ext>
            </a:extLst>
          </p:cNvPr>
          <p:cNvSpPr>
            <a:spLocks xmlns:a="http://schemas.openxmlformats.org/drawingml/2006/main" noGrp="1"/>
          </p:cNvSpPr>
          <p:nvPr/>
        </p:nvSpPr>
        <p:spPr>
          <a:xfrm xmlns:a="http://schemas.openxmlformats.org/drawingml/2006/main">
            <a:off x="4286250" y="4933950"/>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primary copy</a:t>
            </a:r>
          </a:p>
        </p:txBody>
      </p:sp>
      <p:sp>
        <p:nvSpPr>
          <p:cNvPr id="35" name="">
            <a:extLst xmlns:a="http://schemas.openxmlformats.org/drawingml/2006/main">
              <a:ext uri="{FF2B5EF4-FFF2-40B4-BE49-F238E27FC236}">
                <a16:creationId xmlns:a16="http://schemas.microsoft.com/office/drawing/2014/main" id="{9499FC9A-687D-47D2-A9E0-80A81842CC47}"/>
              </a:ext>
            </a:extLst>
          </p:cNvPr>
          <p:cNvSpPr>
            <a:spLocks xmlns:a="http://schemas.openxmlformats.org/drawingml/2006/main" noGrp="1"/>
          </p:cNvSpPr>
          <p:nvPr/>
        </p:nvSpPr>
        <p:spPr>
          <a:xfrm xmlns:a="http://schemas.openxmlformats.org/drawingml/2006/main">
            <a:off x="8096250" y="4591050"/>
            <a:ext cx="266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6FB7FF"/>
                </a:solidFill>
                <a:latin typeface="Arial"/>
                <a:ea typeface="Arial"/>
                <a:cs typeface="Arial"/>
              </a:defRPr>
            </a:defPPr>
          </a:lstStyle>
          <a:p xmlns:a="http://schemas.openxmlformats.org/drawingml/2006/main">
            <a:pPr algn="l">
              <a:defRPr sz="1500" b="1">
                <a:solidFill>
                  <a:srgbClr val="6FB7FF"/>
                </a:solidFill>
                <a:latin typeface="Arial"/>
                <a:ea typeface="Arial"/>
                <a:cs typeface="Arial"/>
              </a:defRPr>
            </a:pPr>
            <a:r>
              <a:rPr sz="1500" b="1">
                <a:solidFill>
                  <a:srgbClr val="6FB7FF"/>
                </a:solidFill>
                <a:latin typeface="Arial"/>
                <a:ea typeface="Arial"/>
                <a:cs typeface="Arial"/>
              </a:rPr>
              <a:t>Node 2 + Node 3</a:t>
            </a:r>
          </a:p>
        </p:txBody>
      </p:sp>
      <p:sp>
        <p:nvSpPr>
          <p:cNvPr id="36" name="">
            <a:extLst xmlns:a="http://schemas.openxmlformats.org/drawingml/2006/main">
              <a:ext uri="{FF2B5EF4-FFF2-40B4-BE49-F238E27FC236}">
                <a16:creationId xmlns:a16="http://schemas.microsoft.com/office/drawing/2014/main" id="{681C7A6C-E6DD-4A21-864B-752FC32B4D6E}"/>
              </a:ext>
            </a:extLst>
          </p:cNvPr>
          <p:cNvSpPr>
            <a:spLocks xmlns:a="http://schemas.openxmlformats.org/drawingml/2006/main" noGrp="1"/>
          </p:cNvSpPr>
          <p:nvPr/>
        </p:nvSpPr>
        <p:spPr>
          <a:xfrm xmlns:a="http://schemas.openxmlformats.org/drawingml/2006/main">
            <a:off x="8096250" y="49339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replicas streamed directly from primary</a:t>
            </a:r>
          </a:p>
        </p:txBody>
      </p:sp>
      <p:sp>
        <p:nvSpPr>
          <p:cNvPr id="37" name="">
            <a:extLst xmlns:a="http://schemas.openxmlformats.org/drawingml/2006/main">
              <a:ext uri="{FF2B5EF4-FFF2-40B4-BE49-F238E27FC236}">
                <a16:creationId xmlns:a16="http://schemas.microsoft.com/office/drawing/2014/main" id="{272B2CF8-46A0-4DCC-8364-590730A7BEAA}"/>
              </a:ext>
            </a:extLst>
          </p:cNvPr>
          <p:cNvSpPr>
            <a:spLocks xmlns:a="http://schemas.openxmlformats.org/drawingml/2006/main" noGrp="1"/>
          </p:cNvSpPr>
          <p:nvPr/>
        </p:nvSpPr>
        <p:spPr>
          <a:xfrm xmlns:a="http://schemas.openxmlformats.org/drawingml/2006/main">
            <a:off x="2190750" y="5619750"/>
            <a:ext cx="7762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b="1">
                <a:solidFill>
                  <a:srgbClr val="27D3B2"/>
                </a:solidFill>
                <a:latin typeface="Arial"/>
                <a:ea typeface="Arial"/>
                <a:cs typeface="Arial"/>
              </a:defRPr>
            </a:defPPr>
          </a:lstStyle>
          <a:p xmlns:a="http://schemas.openxmlformats.org/drawingml/2006/main">
            <a:pPr algn="ctr">
              <a:defRPr sz="1575" b="1">
                <a:solidFill>
                  <a:srgbClr val="27D3B2"/>
                </a:solidFill>
                <a:latin typeface="Arial"/>
                <a:ea typeface="Arial"/>
                <a:cs typeface="Arial"/>
              </a:defRPr>
            </a:pPr>
            <a:r>
              <a:rPr sz="1575" b="1">
                <a:solidFill>
                  <a:srgbClr val="27D3B2"/>
                </a:solidFill>
                <a:latin typeface="Arial"/>
                <a:ea typeface="Arial"/>
                <a:cs typeface="Arial"/>
              </a:rPr>
              <a:t>Coordinator decides where; storage nodes carry the replication data.</a:t>
            </a:r>
          </a:p>
        </p:txBody>
      </p:sp>
    </p:spTree>
    <p:extLst>
      <p:ext uri="{BB962C8B-B14F-4D97-AF65-F5344CB8AC3E}">
        <p14:creationId xmlns:p14="http://schemas.microsoft.com/office/powerpoint/2010/main" val="1209245809"/>
      </p:ext>
    </p:extLst>
  </p:cSld>
</p:sld>
</file>

<file path=ppt/slides/slide5.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38" name="title-5">
            <a:extLst xmlns:a="http://schemas.openxmlformats.org/drawingml/2006/main">
              <a:ext uri="{FF2B5EF4-FFF2-40B4-BE49-F238E27FC236}">
                <a16:creationId xmlns:a16="http://schemas.microsoft.com/office/drawing/2014/main" id="{3DDC538C-3ADD-4806-B905-F46931B16DDE}"/>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3F7FA"/>
                </a:solidFill>
                <a:latin typeface="Arial"/>
                <a:ea typeface="Arial"/>
                <a:cs typeface="Arial"/>
              </a:defRPr>
            </a:defPPr>
          </a:lstStyle>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Streaming and checksum tracking</a:t>
            </a:r>
          </a:p>
        </p:txBody>
      </p:sp>
      <p:sp>
        <p:nvSpPr>
          <p:cNvPr id="2" name="">
            <a:extLst xmlns:a="http://schemas.openxmlformats.org/drawingml/2006/main">
              <a:ext uri="{FF2B5EF4-FFF2-40B4-BE49-F238E27FC236}">
                <a16:creationId xmlns:a16="http://schemas.microsoft.com/office/drawing/2014/main" id="{9CC837D7-969D-4C37-BFB2-FF8A751937D3}"/>
              </a:ext>
            </a:extLst>
          </p:cNvPr>
          <p:cNvSpPr>
            <a:spLocks xmlns:a="http://schemas.openxmlformats.org/drawingml/2006/main" noGrp="1"/>
          </p:cNvSpPr>
          <p:nvPr/>
        </p:nvSpPr>
        <p:spPr>
          <a:xfrm xmlns:a="http://schemas.openxmlformats.org/drawingml/2006/main">
            <a:off x="704850" y="962025"/>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A8BDCC"/>
                </a:solidFill>
                <a:latin typeface="Arial"/>
                <a:ea typeface="Arial"/>
                <a:cs typeface="Arial"/>
              </a:defRPr>
            </a:defPPr>
          </a:lstStyle>
          <a:p xmlns:a="http://schemas.openxmlformats.org/drawingml/2006/main">
            <a:pPr algn="l">
              <a:defRPr sz="1425" b="0">
                <a:solidFill>
                  <a:srgbClr val="A8BDCC"/>
                </a:solidFill>
                <a:latin typeface="Arial"/>
                <a:ea typeface="Arial"/>
                <a:cs typeface="Arial"/>
              </a:defRPr>
            </a:pPr>
            <a:r>
              <a:rPr sz="1425" b="0">
                <a:solidFill>
                  <a:srgbClr val="A8BDCC"/>
                </a:solidFill>
                <a:latin typeface="Arial"/>
                <a:ea typeface="Arial"/>
                <a:cs typeface="Arial"/>
              </a:rPr>
              <a:t>Fixed-size chunks keep transfer bounded; nodes calculate SHA-256 values for stored copies.</a:t>
            </a:r>
          </a:p>
        </p:txBody>
      </p:sp>
      <p:sp>
        <p:nvSpPr>
          <p:cNvPr id="3" name="">
            <a:extLst xmlns:a="http://schemas.openxmlformats.org/drawingml/2006/main">
              <a:ext uri="{FF2B5EF4-FFF2-40B4-BE49-F238E27FC236}">
                <a16:creationId xmlns:a16="http://schemas.microsoft.com/office/drawing/2014/main" id="{C022F1D1-1562-4101-B669-CEA48246C689}"/>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0374A"/>
            </a:solidFill>
            <a:prstDash val="solid"/>
          </a:ln>
        </p:spPr>
      </p:sp>
      <p:sp>
        <p:nvSpPr>
          <p:cNvPr id="4" name="">
            <a:extLst xmlns:a="http://schemas.openxmlformats.org/drawingml/2006/main">
              <a:ext uri="{FF2B5EF4-FFF2-40B4-BE49-F238E27FC236}">
                <a16:creationId xmlns:a16="http://schemas.microsoft.com/office/drawing/2014/main" id="{2F5221A6-2146-4C0D-ABF3-26BD3D429965}"/>
              </a:ext>
            </a:extLst>
          </p:cNvPr>
          <p:cNvSpPr>
            <a:spLocks xmlns:a="http://schemas.openxmlformats.org/drawingml/2006/main" noGrp="1"/>
          </p:cNvSpPr>
          <p:nvPr/>
        </p:nvSpPr>
        <p:spPr>
          <a:xfrm xmlns:a="http://schemas.openxmlformats.org/drawingml/2006/main">
            <a:off x="704850" y="64960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892A6"/>
                </a:solidFill>
                <a:latin typeface="Arial"/>
                <a:ea typeface="Arial"/>
                <a:cs typeface="Arial"/>
              </a:defRPr>
            </a:defPPr>
          </a:lstStyle>
          <a:p xmlns:a="http://schemas.openxmlformats.org/drawingml/2006/main">
            <a:pPr algn="l">
              <a:defRPr sz="900" b="0">
                <a:solidFill>
                  <a:srgbClr val="7892A6"/>
                </a:solidFill>
                <a:latin typeface="Arial"/>
                <a:ea typeface="Arial"/>
                <a:cs typeface="Arial"/>
              </a:defRPr>
            </a:pPr>
            <a:r>
              <a:rPr sz="900" b="0">
                <a:solidFill>
                  <a:srgbClr val="7892A6"/>
                </a:solidFill>
                <a:latin typeface="Arial"/>
                <a:ea typeface="Arial"/>
                <a:cs typeface="Arial"/>
              </a:rPr>
              <a:t>DISTRIBUTED MODEL REPOSITORY  /  PROJECT WALKTHROUGH</a:t>
            </a:r>
          </a:p>
        </p:txBody>
      </p:sp>
      <p:sp>
        <p:nvSpPr>
          <p:cNvPr id="5" name="">
            <a:extLst xmlns:a="http://schemas.openxmlformats.org/drawingml/2006/main">
              <a:ext uri="{FF2B5EF4-FFF2-40B4-BE49-F238E27FC236}">
                <a16:creationId xmlns:a16="http://schemas.microsoft.com/office/drawing/2014/main" id="{18ECBB2C-B369-4592-86A9-21042DBBA3B9}"/>
              </a:ext>
            </a:extLst>
          </p:cNvPr>
          <p:cNvSpPr>
            <a:spLocks xmlns:a="http://schemas.openxmlformats.org/drawingml/2006/main" noGrp="1"/>
          </p:cNvSpPr>
          <p:nvPr/>
        </p:nvSpPr>
        <p:spPr>
          <a:xfrm xmlns:a="http://schemas.openxmlformats.org/drawingml/2006/main">
            <a:off x="11049000" y="64865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7892A6"/>
                </a:solidFill>
                <a:latin typeface="Arial"/>
                <a:ea typeface="Arial"/>
                <a:cs typeface="Arial"/>
              </a:defRPr>
            </a:defPPr>
          </a:lstStyle>
          <a:p xmlns:a="http://schemas.openxmlformats.org/drawingml/2006/main">
            <a:pPr algn="r">
              <a:defRPr sz="975" b="0">
                <a:solidFill>
                  <a:srgbClr val="7892A6"/>
                </a:solidFill>
                <a:latin typeface="Arial"/>
                <a:ea typeface="Arial"/>
                <a:cs typeface="Arial"/>
              </a:defRPr>
            </a:pPr>
            <a:r>
              <a:rPr sz="975" b="0">
                <a:solidFill>
                  <a:srgbClr val="7892A6"/>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D1E03194-469E-4389-BB8B-0D84E2C38D12}"/>
              </a:ext>
            </a:extLst>
          </p:cNvPr>
          <p:cNvSpPr>
            <a:spLocks xmlns:a="http://schemas.openxmlformats.org/drawingml/2006/main" noGrp="1"/>
          </p:cNvSpPr>
          <p:nvPr/>
        </p:nvSpPr>
        <p:spPr>
          <a:xfrm xmlns:a="http://schemas.openxmlformats.org/drawingml/2006/main">
            <a:off x="781050" y="16192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857"/>
          </a:bodyPr>
          <a:lstStyle xmlns:a="http://schemas.openxmlformats.org/drawingml/2006/main">
            <a:defPPr algn="l">
              <a:defRPr sz="5250" b="1">
                <a:solidFill>
                  <a:srgbClr val="27D3B2"/>
                </a:solidFill>
                <a:latin typeface="Arial"/>
                <a:ea typeface="Arial"/>
                <a:cs typeface="Arial"/>
              </a:defRPr>
            </a:defPPr>
          </a:lstStyle>
          <a:p xmlns:a="http://schemas.openxmlformats.org/drawingml/2006/main">
            <a:pPr algn="l">
              <a:defRPr sz="5250" b="1">
                <a:solidFill>
                  <a:srgbClr val="27D3B2"/>
                </a:solidFill>
                <a:latin typeface="Arial"/>
                <a:ea typeface="Arial"/>
                <a:cs typeface="Arial"/>
              </a:defRPr>
            </a:pPr>
            <a:r>
              <a:rPr sz="5250" b="1">
                <a:solidFill>
                  <a:srgbClr val="27D3B2"/>
                </a:solidFill>
                <a:latin typeface="Arial"/>
                <a:ea typeface="Arial"/>
                <a:cs typeface="Arial"/>
              </a:rPr>
              <a:t>64 KB</a:t>
            </a:r>
          </a:p>
        </p:txBody>
      </p:sp>
      <p:sp>
        <p:nvSpPr>
          <p:cNvPr id="7" name="">
            <a:extLst xmlns:a="http://schemas.openxmlformats.org/drawingml/2006/main">
              <a:ext uri="{FF2B5EF4-FFF2-40B4-BE49-F238E27FC236}">
                <a16:creationId xmlns:a16="http://schemas.microsoft.com/office/drawing/2014/main" id="{9AEC2B12-3EC7-44EC-982D-8D003CFF8278}"/>
              </a:ext>
            </a:extLst>
          </p:cNvPr>
          <p:cNvSpPr>
            <a:spLocks xmlns:a="http://schemas.openxmlformats.org/drawingml/2006/main" noGrp="1"/>
          </p:cNvSpPr>
          <p:nvPr/>
        </p:nvSpPr>
        <p:spPr>
          <a:xfrm xmlns:a="http://schemas.openxmlformats.org/drawingml/2006/main">
            <a:off x="828675" y="2362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A8BDCC"/>
                </a:solidFill>
                <a:latin typeface="Arial"/>
                <a:ea typeface="Arial"/>
                <a:cs typeface="Arial"/>
              </a:defRPr>
            </a:defPPr>
          </a:lstStyle>
          <a:p xmlns:a="http://schemas.openxmlformats.org/drawingml/2006/main">
            <a:pPr algn="l">
              <a:defRPr sz="1425" b="0">
                <a:solidFill>
                  <a:srgbClr val="A8BDCC"/>
                </a:solidFill>
                <a:latin typeface="Arial"/>
                <a:ea typeface="Arial"/>
                <a:cs typeface="Arial"/>
              </a:defRPr>
            </a:pPr>
            <a:r>
              <a:rPr sz="1425" b="0">
                <a:solidFill>
                  <a:srgbClr val="A8BDCC"/>
                </a:solidFill>
                <a:latin typeface="Arial"/>
                <a:ea typeface="Arial"/>
                <a:cs typeface="Arial"/>
              </a:rPr>
              <a:t>default chunk size</a:t>
            </a:r>
          </a:p>
        </p:txBody>
      </p:sp>
      <p:sp>
        <p:nvSpPr>
          <p:cNvPr id="8" name="">
            <a:extLst xmlns:a="http://schemas.openxmlformats.org/drawingml/2006/main">
              <a:ext uri="{FF2B5EF4-FFF2-40B4-BE49-F238E27FC236}">
                <a16:creationId xmlns:a16="http://schemas.microsoft.com/office/drawing/2014/main" id="{702A1320-B023-4D34-B72D-FC341254D017}"/>
              </a:ext>
            </a:extLst>
          </p:cNvPr>
          <p:cNvSpPr>
            <a:spLocks xmlns:a="http://schemas.openxmlformats.org/drawingml/2006/main" noGrp="1"/>
          </p:cNvSpPr>
          <p:nvPr/>
        </p:nvSpPr>
        <p:spPr>
          <a:xfrm xmlns:a="http://schemas.openxmlformats.org/drawingml/2006/main">
            <a:off x="781050" y="3143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F3F7FA"/>
                </a:solidFill>
                <a:latin typeface="Arial"/>
                <a:ea typeface="Arial"/>
                <a:cs typeface="Arial"/>
              </a:defRPr>
            </a:defPPr>
          </a:lstStyle>
          <a:p xmlns:a="http://schemas.openxmlformats.org/drawingml/2006/main">
            <a:pPr algn="l">
              <a:defRPr sz="1950" b="1">
                <a:solidFill>
                  <a:srgbClr val="F3F7FA"/>
                </a:solidFill>
                <a:latin typeface="Arial"/>
                <a:ea typeface="Arial"/>
                <a:cs typeface="Arial"/>
              </a:defRPr>
            </a:pPr>
            <a:r>
              <a:rPr sz="1950" b="1">
                <a:solidFill>
                  <a:srgbClr val="F3F7FA"/>
                </a:solidFill>
                <a:latin typeface="Arial"/>
                <a:ea typeface="Arial"/>
                <a:cs typeface="Arial"/>
              </a:rPr>
              <a:t>A stream of chunks</a:t>
            </a:r>
          </a:p>
        </p:txBody>
      </p:sp>
      <p:sp>
        <p:nvSpPr>
          <p:cNvPr id="9" name="">
            <a:extLst xmlns:a="http://schemas.openxmlformats.org/drawingml/2006/main">
              <a:ext uri="{FF2B5EF4-FFF2-40B4-BE49-F238E27FC236}">
                <a16:creationId xmlns:a16="http://schemas.microsoft.com/office/drawing/2014/main" id="{45692479-3FF3-4171-814B-5EB4AF3E8417}"/>
              </a:ext>
            </a:extLst>
          </p:cNvPr>
          <p:cNvSpPr>
            <a:spLocks xmlns:a="http://schemas.openxmlformats.org/drawingml/2006/main" noGrp="1"/>
          </p:cNvSpPr>
          <p:nvPr/>
        </p:nvSpPr>
        <p:spPr>
          <a:xfrm xmlns:a="http://schemas.openxmlformats.org/drawingml/2006/main">
            <a:off x="781050" y="3781425"/>
            <a:ext cx="552450" cy="523875"/>
          </a:xfrm>
          <a:prstGeom xmlns:a="http://schemas.openxmlformats.org/drawingml/2006/main" prst="roundRect">
            <a:avLst>
              <a:gd name="adj" fmla="val 7273"/>
            </a:avLst>
          </a:prstGeom>
          <a:solidFill xmlns:a="http://schemas.openxmlformats.org/drawingml/2006/main">
            <a:srgbClr val="12283A"/>
          </a:solidFill>
          <a:ln xmlns:a="http://schemas.openxmlformats.org/drawingml/2006/main" w="9525">
            <a:solidFill>
              <a:srgbClr val="27D3B2"/>
            </a:solidFill>
            <a:prstDash val="solid"/>
          </a:ln>
        </p:spPr>
      </p:sp>
      <p:sp>
        <p:nvSpPr>
          <p:cNvPr id="10" name="">
            <a:extLst xmlns:a="http://schemas.openxmlformats.org/drawingml/2006/main">
              <a:ext uri="{FF2B5EF4-FFF2-40B4-BE49-F238E27FC236}">
                <a16:creationId xmlns:a16="http://schemas.microsoft.com/office/drawing/2014/main" id="{A27EEA20-C3A7-4C6F-AFEC-F889ECF5277D}"/>
              </a:ext>
            </a:extLst>
          </p:cNvPr>
          <p:cNvSpPr>
            <a:spLocks xmlns:a="http://schemas.openxmlformats.org/drawingml/2006/main" noGrp="1"/>
          </p:cNvSpPr>
          <p:nvPr/>
        </p:nvSpPr>
        <p:spPr>
          <a:xfrm xmlns:a="http://schemas.openxmlformats.org/drawingml/2006/main">
            <a:off x="781050" y="3943350"/>
            <a:ext cx="552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F3F7FA"/>
                </a:solidFill>
                <a:latin typeface="Arial"/>
                <a:ea typeface="Arial"/>
                <a:cs typeface="Arial"/>
              </a:defRPr>
            </a:defPPr>
          </a:lstStyle>
          <a:p xmlns:a="http://schemas.openxmlformats.org/drawingml/2006/main">
            <a:pPr algn="ctr">
              <a:defRPr sz="1125" b="1">
                <a:solidFill>
                  <a:srgbClr val="F3F7FA"/>
                </a:solidFill>
                <a:latin typeface="Arial"/>
                <a:ea typeface="Arial"/>
                <a:cs typeface="Arial"/>
              </a:defRPr>
            </a:pPr>
            <a:r>
              <a:rPr sz="1125" b="1">
                <a:solidFill>
                  <a:srgbClr val="F3F7FA"/>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79A47452-6070-4016-865D-3A88477733A7}"/>
              </a:ext>
            </a:extLst>
          </p:cNvPr>
          <p:cNvSpPr>
            <a:spLocks xmlns:a="http://schemas.openxmlformats.org/drawingml/2006/main" noGrp="1"/>
          </p:cNvSpPr>
          <p:nvPr/>
        </p:nvSpPr>
        <p:spPr>
          <a:xfrm xmlns:a="http://schemas.openxmlformats.org/drawingml/2006/main">
            <a:off x="1400175" y="3781425"/>
            <a:ext cx="552450" cy="523875"/>
          </a:xfrm>
          <a:prstGeom xmlns:a="http://schemas.openxmlformats.org/drawingml/2006/main" prst="roundRect">
            <a:avLst>
              <a:gd name="adj" fmla="val 7273"/>
            </a:avLst>
          </a:prstGeom>
          <a:solidFill xmlns:a="http://schemas.openxmlformats.org/drawingml/2006/main">
            <a:srgbClr val="173449"/>
          </a:solidFill>
          <a:ln xmlns:a="http://schemas.openxmlformats.org/drawingml/2006/main" w="9525">
            <a:solidFill>
              <a:srgbClr val="6FB7FF"/>
            </a:solidFill>
            <a:prstDash val="solid"/>
          </a:ln>
        </p:spPr>
      </p:sp>
      <p:sp>
        <p:nvSpPr>
          <p:cNvPr id="12" name="">
            <a:extLst xmlns:a="http://schemas.openxmlformats.org/drawingml/2006/main">
              <a:ext uri="{FF2B5EF4-FFF2-40B4-BE49-F238E27FC236}">
                <a16:creationId xmlns:a16="http://schemas.microsoft.com/office/drawing/2014/main" id="{3E735A61-ABF9-4366-B95B-42D62F052696}"/>
              </a:ext>
            </a:extLst>
          </p:cNvPr>
          <p:cNvSpPr>
            <a:spLocks xmlns:a="http://schemas.openxmlformats.org/drawingml/2006/main" noGrp="1"/>
          </p:cNvSpPr>
          <p:nvPr/>
        </p:nvSpPr>
        <p:spPr>
          <a:xfrm xmlns:a="http://schemas.openxmlformats.org/drawingml/2006/main">
            <a:off x="1400175" y="3943350"/>
            <a:ext cx="552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F3F7FA"/>
                </a:solidFill>
                <a:latin typeface="Arial"/>
                <a:ea typeface="Arial"/>
                <a:cs typeface="Arial"/>
              </a:defRPr>
            </a:defPPr>
          </a:lstStyle>
          <a:p xmlns:a="http://schemas.openxmlformats.org/drawingml/2006/main">
            <a:pPr algn="ctr">
              <a:defRPr sz="1125" b="1">
                <a:solidFill>
                  <a:srgbClr val="F3F7FA"/>
                </a:solidFill>
                <a:latin typeface="Arial"/>
                <a:ea typeface="Arial"/>
                <a:cs typeface="Arial"/>
              </a:defRPr>
            </a:pPr>
            <a:r>
              <a:rPr sz="1125" b="1">
                <a:solidFill>
                  <a:srgbClr val="F3F7FA"/>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5CC0ED8D-50E2-4843-A17E-237AD7EC5BF4}"/>
              </a:ext>
            </a:extLst>
          </p:cNvPr>
          <p:cNvSpPr>
            <a:spLocks xmlns:a="http://schemas.openxmlformats.org/drawingml/2006/main" noGrp="1"/>
          </p:cNvSpPr>
          <p:nvPr/>
        </p:nvSpPr>
        <p:spPr>
          <a:xfrm xmlns:a="http://schemas.openxmlformats.org/drawingml/2006/main">
            <a:off x="2019300" y="3781425"/>
            <a:ext cx="552450" cy="523875"/>
          </a:xfrm>
          <a:prstGeom xmlns:a="http://schemas.openxmlformats.org/drawingml/2006/main" prst="roundRect">
            <a:avLst>
              <a:gd name="adj" fmla="val 7273"/>
            </a:avLst>
          </a:prstGeom>
          <a:solidFill xmlns:a="http://schemas.openxmlformats.org/drawingml/2006/main">
            <a:srgbClr val="12283A"/>
          </a:solidFill>
          <a:ln xmlns:a="http://schemas.openxmlformats.org/drawingml/2006/main" w="9525">
            <a:solidFill>
              <a:srgbClr val="27D3B2"/>
            </a:solidFill>
            <a:prstDash val="solid"/>
          </a:ln>
        </p:spPr>
      </p:sp>
      <p:sp>
        <p:nvSpPr>
          <p:cNvPr id="14" name="">
            <a:extLst xmlns:a="http://schemas.openxmlformats.org/drawingml/2006/main">
              <a:ext uri="{FF2B5EF4-FFF2-40B4-BE49-F238E27FC236}">
                <a16:creationId xmlns:a16="http://schemas.microsoft.com/office/drawing/2014/main" id="{C5E2BD58-30A5-4D86-A449-80921CB440FF}"/>
              </a:ext>
            </a:extLst>
          </p:cNvPr>
          <p:cNvSpPr>
            <a:spLocks xmlns:a="http://schemas.openxmlformats.org/drawingml/2006/main" noGrp="1"/>
          </p:cNvSpPr>
          <p:nvPr/>
        </p:nvSpPr>
        <p:spPr>
          <a:xfrm xmlns:a="http://schemas.openxmlformats.org/drawingml/2006/main">
            <a:off x="2019300" y="3943350"/>
            <a:ext cx="552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F3F7FA"/>
                </a:solidFill>
                <a:latin typeface="Arial"/>
                <a:ea typeface="Arial"/>
                <a:cs typeface="Arial"/>
              </a:defRPr>
            </a:defPPr>
          </a:lstStyle>
          <a:p xmlns:a="http://schemas.openxmlformats.org/drawingml/2006/main">
            <a:pPr algn="ctr">
              <a:defRPr sz="1125" b="1">
                <a:solidFill>
                  <a:srgbClr val="F3F7FA"/>
                </a:solidFill>
                <a:latin typeface="Arial"/>
                <a:ea typeface="Arial"/>
                <a:cs typeface="Arial"/>
              </a:defRPr>
            </a:pPr>
            <a:r>
              <a:rPr sz="1125" b="1">
                <a:solidFill>
                  <a:srgbClr val="F3F7FA"/>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D66E9658-67EC-4F32-8144-59D621A52685}"/>
              </a:ext>
            </a:extLst>
          </p:cNvPr>
          <p:cNvSpPr>
            <a:spLocks xmlns:a="http://schemas.openxmlformats.org/drawingml/2006/main" noGrp="1"/>
          </p:cNvSpPr>
          <p:nvPr/>
        </p:nvSpPr>
        <p:spPr>
          <a:xfrm xmlns:a="http://schemas.openxmlformats.org/drawingml/2006/main">
            <a:off x="2638425" y="3781425"/>
            <a:ext cx="552450" cy="523875"/>
          </a:xfrm>
          <a:prstGeom xmlns:a="http://schemas.openxmlformats.org/drawingml/2006/main" prst="roundRect">
            <a:avLst>
              <a:gd name="adj" fmla="val 7273"/>
            </a:avLst>
          </a:prstGeom>
          <a:solidFill xmlns:a="http://schemas.openxmlformats.org/drawingml/2006/main">
            <a:srgbClr val="173449"/>
          </a:solidFill>
          <a:ln xmlns:a="http://schemas.openxmlformats.org/drawingml/2006/main" w="9525">
            <a:solidFill>
              <a:srgbClr val="6FB7FF"/>
            </a:solidFill>
            <a:prstDash val="solid"/>
          </a:ln>
        </p:spPr>
      </p:sp>
      <p:sp>
        <p:nvSpPr>
          <p:cNvPr id="16" name="">
            <a:extLst xmlns:a="http://schemas.openxmlformats.org/drawingml/2006/main">
              <a:ext uri="{FF2B5EF4-FFF2-40B4-BE49-F238E27FC236}">
                <a16:creationId xmlns:a16="http://schemas.microsoft.com/office/drawing/2014/main" id="{AFA128EA-7669-4724-9594-392C90DC2699}"/>
              </a:ext>
            </a:extLst>
          </p:cNvPr>
          <p:cNvSpPr>
            <a:spLocks xmlns:a="http://schemas.openxmlformats.org/drawingml/2006/main" noGrp="1"/>
          </p:cNvSpPr>
          <p:nvPr/>
        </p:nvSpPr>
        <p:spPr>
          <a:xfrm xmlns:a="http://schemas.openxmlformats.org/drawingml/2006/main">
            <a:off x="2638425" y="3943350"/>
            <a:ext cx="552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F3F7FA"/>
                </a:solidFill>
                <a:latin typeface="Arial"/>
                <a:ea typeface="Arial"/>
                <a:cs typeface="Arial"/>
              </a:defRPr>
            </a:defPPr>
          </a:lstStyle>
          <a:p xmlns:a="http://schemas.openxmlformats.org/drawingml/2006/main">
            <a:pPr algn="ctr">
              <a:defRPr sz="1125" b="1">
                <a:solidFill>
                  <a:srgbClr val="F3F7FA"/>
                </a:solidFill>
                <a:latin typeface="Arial"/>
                <a:ea typeface="Arial"/>
                <a:cs typeface="Arial"/>
              </a:defRPr>
            </a:pPr>
            <a:r>
              <a:rPr sz="1125" b="1">
                <a:solidFill>
                  <a:srgbClr val="F3F7FA"/>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95CCFCA1-9856-46B9-BDCC-92EAED3D8B3F}"/>
              </a:ext>
            </a:extLst>
          </p:cNvPr>
          <p:cNvSpPr>
            <a:spLocks xmlns:a="http://schemas.openxmlformats.org/drawingml/2006/main" noGrp="1"/>
          </p:cNvSpPr>
          <p:nvPr/>
        </p:nvSpPr>
        <p:spPr>
          <a:xfrm xmlns:a="http://schemas.openxmlformats.org/drawingml/2006/main">
            <a:off x="3257550" y="3781425"/>
            <a:ext cx="552450" cy="523875"/>
          </a:xfrm>
          <a:prstGeom xmlns:a="http://schemas.openxmlformats.org/drawingml/2006/main" prst="roundRect">
            <a:avLst>
              <a:gd name="adj" fmla="val 7273"/>
            </a:avLst>
          </a:prstGeom>
          <a:solidFill xmlns:a="http://schemas.openxmlformats.org/drawingml/2006/main">
            <a:srgbClr val="12283A"/>
          </a:solidFill>
          <a:ln xmlns:a="http://schemas.openxmlformats.org/drawingml/2006/main" w="9525">
            <a:solidFill>
              <a:srgbClr val="27D3B2"/>
            </a:solidFill>
            <a:prstDash val="solid"/>
          </a:ln>
        </p:spPr>
      </p:sp>
      <p:sp>
        <p:nvSpPr>
          <p:cNvPr id="18" name="">
            <a:extLst xmlns:a="http://schemas.openxmlformats.org/drawingml/2006/main">
              <a:ext uri="{FF2B5EF4-FFF2-40B4-BE49-F238E27FC236}">
                <a16:creationId xmlns:a16="http://schemas.microsoft.com/office/drawing/2014/main" id="{1BD1E313-BB4A-4A5E-A0FC-B505D4B20EBE}"/>
              </a:ext>
            </a:extLst>
          </p:cNvPr>
          <p:cNvSpPr>
            <a:spLocks xmlns:a="http://schemas.openxmlformats.org/drawingml/2006/main" noGrp="1"/>
          </p:cNvSpPr>
          <p:nvPr/>
        </p:nvSpPr>
        <p:spPr>
          <a:xfrm xmlns:a="http://schemas.openxmlformats.org/drawingml/2006/main">
            <a:off x="3257550" y="3943350"/>
            <a:ext cx="552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F3F7FA"/>
                </a:solidFill>
                <a:latin typeface="Arial"/>
                <a:ea typeface="Arial"/>
                <a:cs typeface="Arial"/>
              </a:defRPr>
            </a:defPPr>
          </a:lstStyle>
          <a:p xmlns:a="http://schemas.openxmlformats.org/drawingml/2006/main">
            <a:pPr algn="ctr">
              <a:defRPr sz="1125" b="1">
                <a:solidFill>
                  <a:srgbClr val="F3F7FA"/>
                </a:solidFill>
                <a:latin typeface="Arial"/>
                <a:ea typeface="Arial"/>
                <a:cs typeface="Arial"/>
              </a:defRPr>
            </a:pPr>
            <a:r>
              <a:rPr sz="1125" b="1">
                <a:solidFill>
                  <a:srgbClr val="F3F7FA"/>
                </a:solidFill>
                <a:latin typeface="Arial"/>
                <a:ea typeface="Arial"/>
                <a:cs typeface="Arial"/>
              </a:rPr>
              <a:t>05</a:t>
            </a:r>
          </a:p>
        </p:txBody>
      </p:sp>
      <p:sp>
        <p:nvSpPr>
          <p:cNvPr id="19" name="">
            <a:extLst xmlns:a="http://schemas.openxmlformats.org/drawingml/2006/main">
              <a:ext uri="{FF2B5EF4-FFF2-40B4-BE49-F238E27FC236}">
                <a16:creationId xmlns:a16="http://schemas.microsoft.com/office/drawing/2014/main" id="{3F56A2B1-DB5F-4334-A8D8-3AD950566555}"/>
              </a:ext>
            </a:extLst>
          </p:cNvPr>
          <p:cNvSpPr>
            <a:spLocks xmlns:a="http://schemas.openxmlformats.org/drawingml/2006/main" noGrp="1"/>
          </p:cNvSpPr>
          <p:nvPr/>
        </p:nvSpPr>
        <p:spPr>
          <a:xfrm xmlns:a="http://schemas.openxmlformats.org/drawingml/2006/main">
            <a:off x="3876675" y="3781425"/>
            <a:ext cx="552450" cy="523875"/>
          </a:xfrm>
          <a:prstGeom xmlns:a="http://schemas.openxmlformats.org/drawingml/2006/main" prst="roundRect">
            <a:avLst>
              <a:gd name="adj" fmla="val 7273"/>
            </a:avLst>
          </a:prstGeom>
          <a:solidFill xmlns:a="http://schemas.openxmlformats.org/drawingml/2006/main">
            <a:srgbClr val="173449"/>
          </a:solidFill>
          <a:ln xmlns:a="http://schemas.openxmlformats.org/drawingml/2006/main" w="9525">
            <a:solidFill>
              <a:srgbClr val="6FB7FF"/>
            </a:solidFill>
            <a:prstDash val="solid"/>
          </a:ln>
        </p:spPr>
      </p:sp>
      <p:sp>
        <p:nvSpPr>
          <p:cNvPr id="20" name="">
            <a:extLst xmlns:a="http://schemas.openxmlformats.org/drawingml/2006/main">
              <a:ext uri="{FF2B5EF4-FFF2-40B4-BE49-F238E27FC236}">
                <a16:creationId xmlns:a16="http://schemas.microsoft.com/office/drawing/2014/main" id="{41EA882C-45D5-4AE5-970F-F27BEBC83150}"/>
              </a:ext>
            </a:extLst>
          </p:cNvPr>
          <p:cNvSpPr>
            <a:spLocks xmlns:a="http://schemas.openxmlformats.org/drawingml/2006/main" noGrp="1"/>
          </p:cNvSpPr>
          <p:nvPr/>
        </p:nvSpPr>
        <p:spPr>
          <a:xfrm xmlns:a="http://schemas.openxmlformats.org/drawingml/2006/main">
            <a:off x="3876675" y="3943350"/>
            <a:ext cx="552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F3F7FA"/>
                </a:solidFill>
                <a:latin typeface="Arial"/>
                <a:ea typeface="Arial"/>
                <a:cs typeface="Arial"/>
              </a:defRPr>
            </a:defPPr>
          </a:lstStyle>
          <a:p xmlns:a="http://schemas.openxmlformats.org/drawingml/2006/main">
            <a:pPr algn="ctr">
              <a:defRPr sz="1125" b="1">
                <a:solidFill>
                  <a:srgbClr val="F3F7FA"/>
                </a:solidFill>
                <a:latin typeface="Arial"/>
                <a:ea typeface="Arial"/>
                <a:cs typeface="Arial"/>
              </a:defRPr>
            </a:pPr>
            <a:r>
              <a:rPr sz="1125" b="1">
                <a:solidFill>
                  <a:srgbClr val="F3F7FA"/>
                </a:solidFill>
                <a:latin typeface="Arial"/>
                <a:ea typeface="Arial"/>
                <a:cs typeface="Arial"/>
              </a:rPr>
              <a:t>06</a:t>
            </a:r>
          </a:p>
        </p:txBody>
      </p:sp>
      <p:sp>
        <p:nvSpPr>
          <p:cNvPr id="21" name="">
            <a:extLst xmlns:a="http://schemas.openxmlformats.org/drawingml/2006/main">
              <a:ext uri="{FF2B5EF4-FFF2-40B4-BE49-F238E27FC236}">
                <a16:creationId xmlns:a16="http://schemas.microsoft.com/office/drawing/2014/main" id="{5D92032D-765F-45FB-A241-2706BCFEB915}"/>
              </a:ext>
            </a:extLst>
          </p:cNvPr>
          <p:cNvSpPr>
            <a:spLocks xmlns:a="http://schemas.openxmlformats.org/drawingml/2006/main" noGrp="1"/>
          </p:cNvSpPr>
          <p:nvPr/>
        </p:nvSpPr>
        <p:spPr>
          <a:xfrm xmlns:a="http://schemas.openxmlformats.org/drawingml/2006/main">
            <a:off x="4495800" y="3781425"/>
            <a:ext cx="285750" cy="523875"/>
          </a:xfrm>
          <a:prstGeom xmlns:a="http://schemas.openxmlformats.org/drawingml/2006/main" prst="roundRect">
            <a:avLst>
              <a:gd name="adj" fmla="val 13333"/>
            </a:avLst>
          </a:prstGeom>
          <a:solidFill xmlns:a="http://schemas.openxmlformats.org/drawingml/2006/main">
            <a:srgbClr val="12283A"/>
          </a:solidFill>
          <a:ln xmlns:a="http://schemas.openxmlformats.org/drawingml/2006/main" w="9525">
            <a:solidFill>
              <a:srgbClr val="27D3B2"/>
            </a:solidFill>
            <a:prstDash val="solid"/>
          </a:ln>
        </p:spPr>
      </p:sp>
      <p:sp>
        <p:nvSpPr>
          <p:cNvPr id="22" name="">
            <a:extLst xmlns:a="http://schemas.openxmlformats.org/drawingml/2006/main">
              <a:ext uri="{FF2B5EF4-FFF2-40B4-BE49-F238E27FC236}">
                <a16:creationId xmlns:a16="http://schemas.microsoft.com/office/drawing/2014/main" id="{7504F519-EAC6-4D62-9B36-E4ED88AD32A1}"/>
              </a:ext>
            </a:extLst>
          </p:cNvPr>
          <p:cNvSpPr>
            <a:spLocks xmlns:a="http://schemas.openxmlformats.org/drawingml/2006/main" noGrp="1"/>
          </p:cNvSpPr>
          <p:nvPr/>
        </p:nvSpPr>
        <p:spPr>
          <a:xfrm xmlns:a="http://schemas.openxmlformats.org/drawingml/2006/main">
            <a:off x="4495800" y="3943350"/>
            <a:ext cx="285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F3F7FA"/>
                </a:solidFill>
                <a:latin typeface="Arial"/>
                <a:ea typeface="Arial"/>
                <a:cs typeface="Arial"/>
              </a:defRPr>
            </a:defPPr>
          </a:lstStyle>
          <a:p xmlns:a="http://schemas.openxmlformats.org/drawingml/2006/main">
            <a:pPr algn="ctr">
              <a:defRPr sz="1125" b="1">
                <a:solidFill>
                  <a:srgbClr val="F3F7FA"/>
                </a:solidFill>
                <a:latin typeface="Arial"/>
                <a:ea typeface="Arial"/>
                <a:cs typeface="Arial"/>
              </a:defRPr>
            </a:pPr>
            <a:r>
              <a:rPr sz="1125" b="1">
                <a:solidFill>
                  <a:srgbClr val="F3F7FA"/>
                </a:solidFill>
                <a:latin typeface="Arial"/>
                <a:ea typeface="Arial"/>
                <a:cs typeface="Arial"/>
              </a:rPr>
              <a:t>07</a:t>
            </a:r>
          </a:p>
        </p:txBody>
      </p:sp>
      <p:sp>
        <p:nvSpPr>
          <p:cNvPr id="23" name="">
            <a:extLst xmlns:a="http://schemas.openxmlformats.org/drawingml/2006/main">
              <a:ext uri="{FF2B5EF4-FFF2-40B4-BE49-F238E27FC236}">
                <a16:creationId xmlns:a16="http://schemas.microsoft.com/office/drawing/2014/main" id="{8BB92AB5-5ED2-4647-A26A-8262542D9CC5}"/>
              </a:ext>
            </a:extLst>
          </p:cNvPr>
          <p:cNvSpPr>
            <a:spLocks xmlns:a="http://schemas.openxmlformats.org/drawingml/2006/main" noGrp="1"/>
          </p:cNvSpPr>
          <p:nvPr/>
        </p:nvSpPr>
        <p:spPr>
          <a:xfrm xmlns:a="http://schemas.openxmlformats.org/drawingml/2006/main">
            <a:off x="800100" y="4543425"/>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Ordered gRPC client stream</a:t>
            </a:r>
          </a:p>
        </p:txBody>
      </p:sp>
      <p:sp>
        <p:nvSpPr>
          <p:cNvPr id="24" name="">
            <a:extLst xmlns:a="http://schemas.openxmlformats.org/drawingml/2006/main">
              <a:ext uri="{FF2B5EF4-FFF2-40B4-BE49-F238E27FC236}">
                <a16:creationId xmlns:a16="http://schemas.microsoft.com/office/drawing/2014/main" id="{22A119B2-8DEE-4644-8F14-68C6F672BDB2}"/>
              </a:ext>
            </a:extLst>
          </p:cNvPr>
          <p:cNvSpPr>
            <a:spLocks xmlns:a="http://schemas.openxmlformats.org/drawingml/2006/main" noGrp="1"/>
          </p:cNvSpPr>
          <p:nvPr/>
        </p:nvSpPr>
        <p:spPr>
          <a:xfrm xmlns:a="http://schemas.openxmlformats.org/drawingml/2006/main">
            <a:off x="5857875" y="1543050"/>
            <a:ext cx="0" cy="411480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25" name="">
            <a:extLst xmlns:a="http://schemas.openxmlformats.org/drawingml/2006/main">
              <a:ext uri="{FF2B5EF4-FFF2-40B4-BE49-F238E27FC236}">
                <a16:creationId xmlns:a16="http://schemas.microsoft.com/office/drawing/2014/main" id="{BF8805A4-75C6-4BA7-893B-91295D6BF326}"/>
              </a:ext>
            </a:extLst>
          </p:cNvPr>
          <p:cNvSpPr>
            <a:spLocks xmlns:a="http://schemas.openxmlformats.org/drawingml/2006/main" noGrp="1"/>
          </p:cNvSpPr>
          <p:nvPr/>
        </p:nvSpPr>
        <p:spPr>
          <a:xfrm xmlns:a="http://schemas.openxmlformats.org/drawingml/2006/main">
            <a:off x="6343650" y="1762125"/>
            <a:ext cx="76200" cy="504825"/>
          </a:xfrm>
          <a:prstGeom xmlns:a="http://schemas.openxmlformats.org/drawingml/2006/main" prst="roundRect">
            <a:avLst>
              <a:gd name="adj" fmla="val 25000"/>
            </a:avLst>
          </a:prstGeom>
          <a:solidFill xmlns:a="http://schemas.openxmlformats.org/drawingml/2006/main">
            <a:srgbClr val="F4B860"/>
          </a:solidFill>
          <a:ln xmlns:a="http://schemas.openxmlformats.org/drawingml/2006/main" w="9525">
            <a:solidFill>
              <a:srgbClr val="F4B860"/>
            </a:solidFill>
            <a:prstDash val="solid"/>
          </a:ln>
        </p:spPr>
      </p:sp>
      <p:sp>
        <p:nvSpPr>
          <p:cNvPr id="26" name="">
            <a:extLst xmlns:a="http://schemas.openxmlformats.org/drawingml/2006/main">
              <a:ext uri="{FF2B5EF4-FFF2-40B4-BE49-F238E27FC236}">
                <a16:creationId xmlns:a16="http://schemas.microsoft.com/office/drawing/2014/main" id="{434A9188-17A2-4404-ADCD-5E62C4DE2864}"/>
              </a:ext>
            </a:extLst>
          </p:cNvPr>
          <p:cNvSpPr>
            <a:spLocks xmlns:a="http://schemas.openxmlformats.org/drawingml/2006/main" noGrp="1"/>
          </p:cNvSpPr>
          <p:nvPr/>
        </p:nvSpPr>
        <p:spPr>
          <a:xfrm xmlns:a="http://schemas.openxmlformats.org/drawingml/2006/main">
            <a:off x="6581775" y="1685925"/>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4B860"/>
                </a:solidFill>
                <a:latin typeface="Arial"/>
                <a:ea typeface="Arial"/>
                <a:cs typeface="Arial"/>
              </a:defRPr>
            </a:defPPr>
          </a:lstStyle>
          <a:p xmlns:a="http://schemas.openxmlformats.org/drawingml/2006/main">
            <a:pPr algn="l">
              <a:defRPr sz="1500" b="1">
                <a:solidFill>
                  <a:srgbClr val="F4B860"/>
                </a:solidFill>
                <a:latin typeface="Arial"/>
                <a:ea typeface="Arial"/>
                <a:cs typeface="Arial"/>
              </a:defRPr>
            </a:pPr>
            <a:r>
              <a:rPr sz="1500" b="1">
                <a:solidFill>
                  <a:srgbClr val="F4B860"/>
                </a:solidFill>
                <a:latin typeface="Arial"/>
                <a:ea typeface="Arial"/>
                <a:cs typeface="Arial"/>
              </a:rPr>
              <a:t>Coordinator</a:t>
            </a:r>
          </a:p>
        </p:txBody>
      </p:sp>
      <p:sp>
        <p:nvSpPr>
          <p:cNvPr id="27" name="">
            <a:extLst xmlns:a="http://schemas.openxmlformats.org/drawingml/2006/main">
              <a:ext uri="{FF2B5EF4-FFF2-40B4-BE49-F238E27FC236}">
                <a16:creationId xmlns:a16="http://schemas.microsoft.com/office/drawing/2014/main" id="{BD9C0C3E-3802-436D-B102-EC599BE63C7A}"/>
              </a:ext>
            </a:extLst>
          </p:cNvPr>
          <p:cNvSpPr>
            <a:spLocks xmlns:a="http://schemas.openxmlformats.org/drawingml/2006/main" noGrp="1"/>
          </p:cNvSpPr>
          <p:nvPr/>
        </p:nvSpPr>
        <p:spPr>
          <a:xfrm xmlns:a="http://schemas.openxmlformats.org/drawingml/2006/main">
            <a:off x="6581775" y="19812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Hashes bytes as they pass through the upload stream</a:t>
            </a:r>
          </a:p>
        </p:txBody>
      </p:sp>
      <p:sp>
        <p:nvSpPr>
          <p:cNvPr id="28" name="">
            <a:extLst xmlns:a="http://schemas.openxmlformats.org/drawingml/2006/main">
              <a:ext uri="{FF2B5EF4-FFF2-40B4-BE49-F238E27FC236}">
                <a16:creationId xmlns:a16="http://schemas.microsoft.com/office/drawing/2014/main" id="{D0E9581E-0E9B-4890-900E-DF656C92D277}"/>
              </a:ext>
            </a:extLst>
          </p:cNvPr>
          <p:cNvSpPr>
            <a:spLocks xmlns:a="http://schemas.openxmlformats.org/drawingml/2006/main" noGrp="1"/>
          </p:cNvSpPr>
          <p:nvPr/>
        </p:nvSpPr>
        <p:spPr>
          <a:xfrm xmlns:a="http://schemas.openxmlformats.org/drawingml/2006/main">
            <a:off x="6343650" y="2676525"/>
            <a:ext cx="76200" cy="504825"/>
          </a:xfrm>
          <a:prstGeom xmlns:a="http://schemas.openxmlformats.org/drawingml/2006/main" prst="roundRect">
            <a:avLst>
              <a:gd name="adj" fmla="val 25000"/>
            </a:avLst>
          </a:prstGeom>
          <a:solidFill xmlns:a="http://schemas.openxmlformats.org/drawingml/2006/main">
            <a:srgbClr val="27D3B2"/>
          </a:solidFill>
          <a:ln xmlns:a="http://schemas.openxmlformats.org/drawingml/2006/main" w="9525">
            <a:solidFill>
              <a:srgbClr val="27D3B2"/>
            </a:solidFill>
            <a:prstDash val="solid"/>
          </a:ln>
        </p:spPr>
      </p:sp>
      <p:sp>
        <p:nvSpPr>
          <p:cNvPr id="29" name="">
            <a:extLst xmlns:a="http://schemas.openxmlformats.org/drawingml/2006/main">
              <a:ext uri="{FF2B5EF4-FFF2-40B4-BE49-F238E27FC236}">
                <a16:creationId xmlns:a16="http://schemas.microsoft.com/office/drawing/2014/main" id="{3DB33EB1-275A-47C8-B1A7-FDFA915F12B3}"/>
              </a:ext>
            </a:extLst>
          </p:cNvPr>
          <p:cNvSpPr>
            <a:spLocks xmlns:a="http://schemas.openxmlformats.org/drawingml/2006/main" noGrp="1"/>
          </p:cNvSpPr>
          <p:nvPr/>
        </p:nvSpPr>
        <p:spPr>
          <a:xfrm xmlns:a="http://schemas.openxmlformats.org/drawingml/2006/main">
            <a:off x="6581775" y="2600325"/>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D3B2"/>
                </a:solidFill>
                <a:latin typeface="Arial"/>
                <a:ea typeface="Arial"/>
                <a:cs typeface="Arial"/>
              </a:defRPr>
            </a:defPPr>
          </a:lstStyle>
          <a:p xmlns:a="http://schemas.openxmlformats.org/drawingml/2006/main">
            <a:pPr algn="l">
              <a:defRPr sz="1500" b="1">
                <a:solidFill>
                  <a:srgbClr val="27D3B2"/>
                </a:solidFill>
                <a:latin typeface="Arial"/>
                <a:ea typeface="Arial"/>
                <a:cs typeface="Arial"/>
              </a:defRPr>
            </a:pPr>
            <a:r>
              <a:rPr sz="1500" b="1">
                <a:solidFill>
                  <a:srgbClr val="27D3B2"/>
                </a:solidFill>
                <a:latin typeface="Arial"/>
                <a:ea typeface="Arial"/>
                <a:cs typeface="Arial"/>
              </a:rPr>
              <a:t>Primary node</a:t>
            </a:r>
          </a:p>
        </p:txBody>
      </p:sp>
      <p:sp>
        <p:nvSpPr>
          <p:cNvPr id="30" name="">
            <a:extLst xmlns:a="http://schemas.openxmlformats.org/drawingml/2006/main">
              <a:ext uri="{FF2B5EF4-FFF2-40B4-BE49-F238E27FC236}">
                <a16:creationId xmlns:a16="http://schemas.microsoft.com/office/drawing/2014/main" id="{0927C66A-64CE-477E-8AA3-147493743F5F}"/>
              </a:ext>
            </a:extLst>
          </p:cNvPr>
          <p:cNvSpPr>
            <a:spLocks xmlns:a="http://schemas.openxmlformats.org/drawingml/2006/main" noGrp="1"/>
          </p:cNvSpPr>
          <p:nvPr/>
        </p:nvSpPr>
        <p:spPr>
          <a:xfrm xmlns:a="http://schemas.openxmlformats.org/drawingml/2006/main">
            <a:off x="6581775" y="28956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Writes each received chunk and computes SHA-256</a:t>
            </a:r>
          </a:p>
        </p:txBody>
      </p:sp>
      <p:sp>
        <p:nvSpPr>
          <p:cNvPr id="31" name="">
            <a:extLst xmlns:a="http://schemas.openxmlformats.org/drawingml/2006/main">
              <a:ext uri="{FF2B5EF4-FFF2-40B4-BE49-F238E27FC236}">
                <a16:creationId xmlns:a16="http://schemas.microsoft.com/office/drawing/2014/main" id="{918F53EA-09C6-490A-9F61-6578D02000B3}"/>
              </a:ext>
            </a:extLst>
          </p:cNvPr>
          <p:cNvSpPr>
            <a:spLocks xmlns:a="http://schemas.openxmlformats.org/drawingml/2006/main" noGrp="1"/>
          </p:cNvSpPr>
          <p:nvPr/>
        </p:nvSpPr>
        <p:spPr>
          <a:xfrm xmlns:a="http://schemas.openxmlformats.org/drawingml/2006/main">
            <a:off x="6343650" y="3590925"/>
            <a:ext cx="76200" cy="504825"/>
          </a:xfrm>
          <a:prstGeom xmlns:a="http://schemas.openxmlformats.org/drawingml/2006/main" prst="roundRect">
            <a:avLst>
              <a:gd name="adj" fmla="val 25000"/>
            </a:avLst>
          </a:prstGeom>
          <a:solidFill xmlns:a="http://schemas.openxmlformats.org/drawingml/2006/main">
            <a:srgbClr val="6FB7FF"/>
          </a:solidFill>
          <a:ln xmlns:a="http://schemas.openxmlformats.org/drawingml/2006/main" w="9525">
            <a:solidFill>
              <a:srgbClr val="6FB7FF"/>
            </a:solidFill>
            <a:prstDash val="solid"/>
          </a:ln>
        </p:spPr>
      </p:sp>
      <p:sp>
        <p:nvSpPr>
          <p:cNvPr id="32" name="">
            <a:extLst xmlns:a="http://schemas.openxmlformats.org/drawingml/2006/main">
              <a:ext uri="{FF2B5EF4-FFF2-40B4-BE49-F238E27FC236}">
                <a16:creationId xmlns:a16="http://schemas.microsoft.com/office/drawing/2014/main" id="{5A563C8A-B939-46BC-9118-680B9831F313}"/>
              </a:ext>
            </a:extLst>
          </p:cNvPr>
          <p:cNvSpPr>
            <a:spLocks xmlns:a="http://schemas.openxmlformats.org/drawingml/2006/main" noGrp="1"/>
          </p:cNvSpPr>
          <p:nvPr/>
        </p:nvSpPr>
        <p:spPr>
          <a:xfrm xmlns:a="http://schemas.openxmlformats.org/drawingml/2006/main">
            <a:off x="6581775" y="3514725"/>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6FB7FF"/>
                </a:solidFill>
                <a:latin typeface="Arial"/>
                <a:ea typeface="Arial"/>
                <a:cs typeface="Arial"/>
              </a:defRPr>
            </a:defPPr>
          </a:lstStyle>
          <a:p xmlns:a="http://schemas.openxmlformats.org/drawingml/2006/main">
            <a:pPr algn="l">
              <a:defRPr sz="1500" b="1">
                <a:solidFill>
                  <a:srgbClr val="6FB7FF"/>
                </a:solidFill>
                <a:latin typeface="Arial"/>
                <a:ea typeface="Arial"/>
                <a:cs typeface="Arial"/>
              </a:defRPr>
            </a:pPr>
            <a:r>
              <a:rPr sz="1500" b="1">
                <a:solidFill>
                  <a:srgbClr val="6FB7FF"/>
                </a:solidFill>
                <a:latin typeface="Arial"/>
                <a:ea typeface="Arial"/>
                <a:cs typeface="Arial"/>
              </a:rPr>
              <a:t>Replica node</a:t>
            </a:r>
          </a:p>
        </p:txBody>
      </p:sp>
      <p:sp>
        <p:nvSpPr>
          <p:cNvPr id="33" name="">
            <a:extLst xmlns:a="http://schemas.openxmlformats.org/drawingml/2006/main">
              <a:ext uri="{FF2B5EF4-FFF2-40B4-BE49-F238E27FC236}">
                <a16:creationId xmlns:a16="http://schemas.microsoft.com/office/drawing/2014/main" id="{F7018475-19EE-442E-80EA-4351BC380531}"/>
              </a:ext>
            </a:extLst>
          </p:cNvPr>
          <p:cNvSpPr>
            <a:spLocks xmlns:a="http://schemas.openxmlformats.org/drawingml/2006/main" noGrp="1"/>
          </p:cNvSpPr>
          <p:nvPr/>
        </p:nvSpPr>
        <p:spPr>
          <a:xfrm xmlns:a="http://schemas.openxmlformats.org/drawingml/2006/main">
            <a:off x="6581775" y="38100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Receives the primary's stream and computes its own SHA-256</a:t>
            </a:r>
          </a:p>
        </p:txBody>
      </p:sp>
      <p:sp>
        <p:nvSpPr>
          <p:cNvPr id="34" name="">
            <a:extLst xmlns:a="http://schemas.openxmlformats.org/drawingml/2006/main">
              <a:ext uri="{FF2B5EF4-FFF2-40B4-BE49-F238E27FC236}">
                <a16:creationId xmlns:a16="http://schemas.microsoft.com/office/drawing/2014/main" id="{5A732994-783C-43D5-8F98-6F612F0158CA}"/>
              </a:ext>
            </a:extLst>
          </p:cNvPr>
          <p:cNvSpPr>
            <a:spLocks xmlns:a="http://schemas.openxmlformats.org/drawingml/2006/main" noGrp="1"/>
          </p:cNvSpPr>
          <p:nvPr/>
        </p:nvSpPr>
        <p:spPr>
          <a:xfrm xmlns:a="http://schemas.openxmlformats.org/drawingml/2006/main">
            <a:off x="6343650" y="4505325"/>
            <a:ext cx="76200" cy="504825"/>
          </a:xfrm>
          <a:prstGeom xmlns:a="http://schemas.openxmlformats.org/drawingml/2006/main" prst="roundRect">
            <a:avLst>
              <a:gd name="adj" fmla="val 25000"/>
            </a:avLst>
          </a:prstGeom>
          <a:solidFill xmlns:a="http://schemas.openxmlformats.org/drawingml/2006/main">
            <a:srgbClr val="B5A2FF"/>
          </a:solidFill>
          <a:ln xmlns:a="http://schemas.openxmlformats.org/drawingml/2006/main" w="9525">
            <a:solidFill>
              <a:srgbClr val="B5A2FF"/>
            </a:solidFill>
            <a:prstDash val="solid"/>
          </a:ln>
        </p:spPr>
      </p:sp>
      <p:sp>
        <p:nvSpPr>
          <p:cNvPr id="35" name="">
            <a:extLst xmlns:a="http://schemas.openxmlformats.org/drawingml/2006/main">
              <a:ext uri="{FF2B5EF4-FFF2-40B4-BE49-F238E27FC236}">
                <a16:creationId xmlns:a16="http://schemas.microsoft.com/office/drawing/2014/main" id="{413F5332-75EF-44E6-9327-FCE4DD7044BE}"/>
              </a:ext>
            </a:extLst>
          </p:cNvPr>
          <p:cNvSpPr>
            <a:spLocks xmlns:a="http://schemas.openxmlformats.org/drawingml/2006/main" noGrp="1"/>
          </p:cNvSpPr>
          <p:nvPr/>
        </p:nvSpPr>
        <p:spPr>
          <a:xfrm xmlns:a="http://schemas.openxmlformats.org/drawingml/2006/main">
            <a:off x="6581775" y="4429125"/>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5A2FF"/>
                </a:solidFill>
                <a:latin typeface="Arial"/>
                <a:ea typeface="Arial"/>
                <a:cs typeface="Arial"/>
              </a:defRPr>
            </a:defPPr>
          </a:lstStyle>
          <a:p xmlns:a="http://schemas.openxmlformats.org/drawingml/2006/main">
            <a:pPr algn="l">
              <a:defRPr sz="1500" b="1">
                <a:solidFill>
                  <a:srgbClr val="B5A2FF"/>
                </a:solidFill>
                <a:latin typeface="Arial"/>
                <a:ea typeface="Arial"/>
                <a:cs typeface="Arial"/>
              </a:defRPr>
            </a:pPr>
            <a:r>
              <a:rPr sz="1500" b="1">
                <a:solidFill>
                  <a:srgbClr val="B5A2FF"/>
                </a:solidFill>
                <a:latin typeface="Arial"/>
                <a:ea typeface="Arial"/>
                <a:cs typeface="Arial"/>
              </a:rPr>
              <a:t>Metadata</a:t>
            </a:r>
          </a:p>
        </p:txBody>
      </p:sp>
      <p:sp>
        <p:nvSpPr>
          <p:cNvPr id="36" name="">
            <a:extLst xmlns:a="http://schemas.openxmlformats.org/drawingml/2006/main">
              <a:ext uri="{FF2B5EF4-FFF2-40B4-BE49-F238E27FC236}">
                <a16:creationId xmlns:a16="http://schemas.microsoft.com/office/drawing/2014/main" id="{EDD3D07E-CF80-4328-995B-0A2AF8901683}"/>
              </a:ext>
            </a:extLst>
          </p:cNvPr>
          <p:cNvSpPr>
            <a:spLocks xmlns:a="http://schemas.openxmlformats.org/drawingml/2006/main" noGrp="1"/>
          </p:cNvSpPr>
          <p:nvPr/>
        </p:nvSpPr>
        <p:spPr>
          <a:xfrm xmlns:a="http://schemas.openxmlformats.org/drawingml/2006/main">
            <a:off x="6581775" y="47244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Stores checksum and byte count with the model/replica records</a:t>
            </a:r>
          </a:p>
        </p:txBody>
      </p:sp>
      <p:sp>
        <p:nvSpPr>
          <p:cNvPr id="37" name="">
            <a:extLst xmlns:a="http://schemas.openxmlformats.org/drawingml/2006/main">
              <a:ext uri="{FF2B5EF4-FFF2-40B4-BE49-F238E27FC236}">
                <a16:creationId xmlns:a16="http://schemas.microsoft.com/office/drawing/2014/main" id="{C155F4DD-3508-4254-A6E8-010BD3DB1659}"/>
              </a:ext>
            </a:extLst>
          </p:cNvPr>
          <p:cNvSpPr>
            <a:spLocks xmlns:a="http://schemas.openxmlformats.org/drawingml/2006/main" noGrp="1"/>
          </p:cNvSpPr>
          <p:nvPr/>
        </p:nvSpPr>
        <p:spPr>
          <a:xfrm xmlns:a="http://schemas.openxmlformats.org/drawingml/2006/main">
            <a:off x="781050" y="5467350"/>
            <a:ext cx="10287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F3F7FA"/>
                </a:solidFill>
                <a:latin typeface="Arial"/>
                <a:ea typeface="Arial"/>
                <a:cs typeface="Arial"/>
              </a:defRPr>
            </a:defPPr>
          </a:lstStyle>
          <a:p xmlns:a="http://schemas.openxmlformats.org/drawingml/2006/main">
            <a:pPr algn="l">
              <a:defRPr sz="1425" b="0">
                <a:solidFill>
                  <a:srgbClr val="F3F7FA"/>
                </a:solidFill>
                <a:latin typeface="Arial"/>
                <a:ea typeface="Arial"/>
                <a:cs typeface="Arial"/>
              </a:defRPr>
            </a:pPr>
            <a:r>
              <a:rPr sz="1425" b="0">
                <a:solidFill>
                  <a:srgbClr val="F3F7FA"/>
                </a:solidFill>
                <a:latin typeface="Arial"/>
                <a:ea typeface="Arial"/>
                <a:cs typeface="Arial"/>
              </a:rPr>
              <a:t>The storage path uses streams rather than loading the entire file into memory. Hash values are calculated and stored, but mismatches are not rejected.</a:t>
            </a:r>
          </a:p>
        </p:txBody>
      </p:sp>
    </p:spTree>
    <p:extLst>
      <p:ext uri="{BB962C8B-B14F-4D97-AF65-F5344CB8AC3E}">
        <p14:creationId xmlns:p14="http://schemas.microsoft.com/office/powerpoint/2010/main" val="1507632928"/>
      </p:ext>
    </p:extLst>
  </p:cSld>
</p:sld>
</file>

<file path=ppt/slides/slide6.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3" name="title-6">
            <a:extLst xmlns:a="http://schemas.openxmlformats.org/drawingml/2006/main">
              <a:ext uri="{FF2B5EF4-FFF2-40B4-BE49-F238E27FC236}">
                <a16:creationId xmlns:a16="http://schemas.microsoft.com/office/drawing/2014/main" id="{B444354F-FA59-49DC-BFFA-2E1109D94A3B}"/>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3F7FA"/>
                </a:solidFill>
                <a:latin typeface="Arial"/>
                <a:ea typeface="Arial"/>
                <a:cs typeface="Arial"/>
              </a:defRPr>
            </a:defPPr>
          </a:lstStyle>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Placement, health and downloads</a:t>
            </a:r>
          </a:p>
        </p:txBody>
      </p:sp>
      <p:sp>
        <p:nvSpPr>
          <p:cNvPr id="2" name="">
            <a:extLst xmlns:a="http://schemas.openxmlformats.org/drawingml/2006/main">
              <a:ext uri="{FF2B5EF4-FFF2-40B4-BE49-F238E27FC236}">
                <a16:creationId xmlns:a16="http://schemas.microsoft.com/office/drawing/2014/main" id="{2334DFFB-644E-483A-B79D-17F41951B741}"/>
              </a:ext>
            </a:extLst>
          </p:cNvPr>
          <p:cNvSpPr>
            <a:spLocks xmlns:a="http://schemas.openxmlformats.org/drawingml/2006/main" noGrp="1"/>
          </p:cNvSpPr>
          <p:nvPr/>
        </p:nvSpPr>
        <p:spPr>
          <a:xfrm xmlns:a="http://schemas.openxmlformats.org/drawingml/2006/main">
            <a:off x="704850" y="962025"/>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A8BDCC"/>
                </a:solidFill>
                <a:latin typeface="Arial"/>
                <a:ea typeface="Arial"/>
                <a:cs typeface="Arial"/>
              </a:defRPr>
            </a:defPPr>
          </a:lstStyle>
          <a:p xmlns:a="http://schemas.openxmlformats.org/drawingml/2006/main">
            <a:pPr algn="l">
              <a:defRPr sz="1425" b="0">
                <a:solidFill>
                  <a:srgbClr val="A8BDCC"/>
                </a:solidFill>
                <a:latin typeface="Arial"/>
                <a:ea typeface="Arial"/>
                <a:cs typeface="Arial"/>
              </a:defRPr>
            </a:pPr>
            <a:r>
              <a:rPr sz="1425" b="0">
                <a:solidFill>
                  <a:srgbClr val="A8BDCC"/>
                </a:solidFill>
                <a:latin typeface="Arial"/>
                <a:ea typeface="Arial"/>
                <a:cs typeface="Arial"/>
              </a:rPr>
              <a:t>Storage decisions are based on reported load; reads use synced replicas on online nodes.</a:t>
            </a:r>
          </a:p>
        </p:txBody>
      </p:sp>
      <p:sp>
        <p:nvSpPr>
          <p:cNvPr id="3" name="">
            <a:extLst xmlns:a="http://schemas.openxmlformats.org/drawingml/2006/main">
              <a:ext uri="{FF2B5EF4-FFF2-40B4-BE49-F238E27FC236}">
                <a16:creationId xmlns:a16="http://schemas.microsoft.com/office/drawing/2014/main" id="{1C017ADA-6EAA-40D3-B839-6653D999151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0374A"/>
            </a:solidFill>
            <a:prstDash val="solid"/>
          </a:ln>
        </p:spPr>
      </p:sp>
      <p:sp>
        <p:nvSpPr>
          <p:cNvPr id="4" name="">
            <a:extLst xmlns:a="http://schemas.openxmlformats.org/drawingml/2006/main">
              <a:ext uri="{FF2B5EF4-FFF2-40B4-BE49-F238E27FC236}">
                <a16:creationId xmlns:a16="http://schemas.microsoft.com/office/drawing/2014/main" id="{0CA0B389-2D79-447D-8DC8-092362F33D0E}"/>
              </a:ext>
            </a:extLst>
          </p:cNvPr>
          <p:cNvSpPr>
            <a:spLocks xmlns:a="http://schemas.openxmlformats.org/drawingml/2006/main" noGrp="1"/>
          </p:cNvSpPr>
          <p:nvPr/>
        </p:nvSpPr>
        <p:spPr>
          <a:xfrm xmlns:a="http://schemas.openxmlformats.org/drawingml/2006/main">
            <a:off x="704850" y="64960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892A6"/>
                </a:solidFill>
                <a:latin typeface="Arial"/>
                <a:ea typeface="Arial"/>
                <a:cs typeface="Arial"/>
              </a:defRPr>
            </a:defPPr>
          </a:lstStyle>
          <a:p xmlns:a="http://schemas.openxmlformats.org/drawingml/2006/main">
            <a:pPr algn="l">
              <a:defRPr sz="900" b="0">
                <a:solidFill>
                  <a:srgbClr val="7892A6"/>
                </a:solidFill>
                <a:latin typeface="Arial"/>
                <a:ea typeface="Arial"/>
                <a:cs typeface="Arial"/>
              </a:defRPr>
            </a:pPr>
            <a:r>
              <a:rPr sz="900" b="0">
                <a:solidFill>
                  <a:srgbClr val="7892A6"/>
                </a:solidFill>
                <a:latin typeface="Arial"/>
                <a:ea typeface="Arial"/>
                <a:cs typeface="Arial"/>
              </a:rPr>
              <a:t>DISTRIBUTED MODEL REPOSITORY  /  PROJECT WALKTHROUGH</a:t>
            </a:r>
          </a:p>
        </p:txBody>
      </p:sp>
      <p:sp>
        <p:nvSpPr>
          <p:cNvPr id="5" name="">
            <a:extLst xmlns:a="http://schemas.openxmlformats.org/drawingml/2006/main">
              <a:ext uri="{FF2B5EF4-FFF2-40B4-BE49-F238E27FC236}">
                <a16:creationId xmlns:a16="http://schemas.microsoft.com/office/drawing/2014/main" id="{27C89446-4E3C-4E90-8155-CAFE53AA0885}"/>
              </a:ext>
            </a:extLst>
          </p:cNvPr>
          <p:cNvSpPr>
            <a:spLocks xmlns:a="http://schemas.openxmlformats.org/drawingml/2006/main" noGrp="1"/>
          </p:cNvSpPr>
          <p:nvPr/>
        </p:nvSpPr>
        <p:spPr>
          <a:xfrm xmlns:a="http://schemas.openxmlformats.org/drawingml/2006/main">
            <a:off x="11049000" y="64865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7892A6"/>
                </a:solidFill>
                <a:latin typeface="Arial"/>
                <a:ea typeface="Arial"/>
                <a:cs typeface="Arial"/>
              </a:defRPr>
            </a:defPPr>
          </a:lstStyle>
          <a:p xmlns:a="http://schemas.openxmlformats.org/drawingml/2006/main">
            <a:pPr algn="r">
              <a:defRPr sz="975" b="0">
                <a:solidFill>
                  <a:srgbClr val="7892A6"/>
                </a:solidFill>
                <a:latin typeface="Arial"/>
                <a:ea typeface="Arial"/>
                <a:cs typeface="Arial"/>
              </a:defRPr>
            </a:pPr>
            <a:r>
              <a:rPr sz="975" b="0">
                <a:solidFill>
                  <a:srgbClr val="7892A6"/>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A2877223-3EA7-47A5-987E-CF2FCC65BC05}"/>
              </a:ext>
            </a:extLst>
          </p:cNvPr>
          <p:cNvSpPr>
            <a:spLocks xmlns:a="http://schemas.openxmlformats.org/drawingml/2006/main" noGrp="1"/>
          </p:cNvSpPr>
          <p:nvPr/>
        </p:nvSpPr>
        <p:spPr>
          <a:xfrm xmlns:a="http://schemas.openxmlformats.org/drawingml/2006/main">
            <a:off x="781050" y="1685925"/>
            <a:ext cx="180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4B860"/>
                </a:solidFill>
                <a:latin typeface="Arial"/>
                <a:ea typeface="Arial"/>
                <a:cs typeface="Arial"/>
              </a:defRPr>
            </a:defPPr>
          </a:lstStyle>
          <a:p xmlns:a="http://schemas.openxmlformats.org/drawingml/2006/main">
            <a:pPr algn="l">
              <a:defRPr sz="1050" b="1">
                <a:solidFill>
                  <a:srgbClr val="F4B860"/>
                </a:solidFill>
                <a:latin typeface="Arial"/>
                <a:ea typeface="Arial"/>
                <a:cs typeface="Arial"/>
              </a:defRPr>
            </a:pPr>
            <a:r>
              <a:rPr sz="1050" b="1">
                <a:solidFill>
                  <a:srgbClr val="F4B860"/>
                </a:solidFill>
                <a:latin typeface="Arial"/>
                <a:ea typeface="Arial"/>
                <a:cs typeface="Arial"/>
              </a:rPr>
              <a:t>STORE</a:t>
            </a:r>
          </a:p>
        </p:txBody>
      </p:sp>
      <p:sp>
        <p:nvSpPr>
          <p:cNvPr id="7" name="">
            <a:extLst xmlns:a="http://schemas.openxmlformats.org/drawingml/2006/main">
              <a:ext uri="{FF2B5EF4-FFF2-40B4-BE49-F238E27FC236}">
                <a16:creationId xmlns:a16="http://schemas.microsoft.com/office/drawing/2014/main" id="{05BC3643-3B54-4F3B-B4B5-CF56145628DE}"/>
              </a:ext>
            </a:extLst>
          </p:cNvPr>
          <p:cNvSpPr>
            <a:spLocks xmlns:a="http://schemas.openxmlformats.org/drawingml/2006/main" noGrp="1"/>
          </p:cNvSpPr>
          <p:nvPr/>
        </p:nvSpPr>
        <p:spPr>
          <a:xfrm xmlns:a="http://schemas.openxmlformats.org/drawingml/2006/main">
            <a:off x="781050" y="2124075"/>
            <a:ext cx="2143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3F7FA"/>
                </a:solidFill>
                <a:latin typeface="Arial"/>
                <a:ea typeface="Arial"/>
                <a:cs typeface="Arial"/>
              </a:defRPr>
            </a:defPPr>
          </a:lstStyle>
          <a:p xmlns:a="http://schemas.openxmlformats.org/drawingml/2006/main">
            <a:pPr algn="l">
              <a:defRPr sz="1800" b="1">
                <a:solidFill>
                  <a:srgbClr val="F3F7FA"/>
                </a:solidFill>
                <a:latin typeface="Arial"/>
                <a:ea typeface="Arial"/>
                <a:cs typeface="Arial"/>
              </a:defRPr>
            </a:pPr>
            <a:r>
              <a:rPr sz="1800" b="1">
                <a:solidFill>
                  <a:srgbClr val="F3F7FA"/>
                </a:solidFill>
                <a:latin typeface="Arial"/>
                <a:ea typeface="Arial"/>
                <a:cs typeface="Arial"/>
              </a:rPr>
              <a:t>Online nodes</a:t>
            </a:r>
          </a:p>
        </p:txBody>
      </p:sp>
      <p:sp>
        <p:nvSpPr>
          <p:cNvPr id="8" name="">
            <a:extLst xmlns:a="http://schemas.openxmlformats.org/drawingml/2006/main">
              <a:ext uri="{FF2B5EF4-FFF2-40B4-BE49-F238E27FC236}">
                <a16:creationId xmlns:a16="http://schemas.microsoft.com/office/drawing/2014/main" id="{25E3C5BC-D66B-46D5-B604-91E5305C6D4D}"/>
              </a:ext>
            </a:extLst>
          </p:cNvPr>
          <p:cNvSpPr>
            <a:spLocks xmlns:a="http://schemas.openxmlformats.org/drawingml/2006/main" noGrp="1"/>
          </p:cNvSpPr>
          <p:nvPr/>
        </p:nvSpPr>
        <p:spPr>
          <a:xfrm xmlns:a="http://schemas.openxmlformats.org/drawingml/2006/main">
            <a:off x="2981325" y="2095500"/>
            <a:ext cx="52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325" b="1">
                <a:solidFill>
                  <a:srgbClr val="27D3B2"/>
                </a:solidFill>
                <a:latin typeface="Arial"/>
                <a:ea typeface="Arial"/>
                <a:cs typeface="Arial"/>
              </a:defRPr>
            </a:defPPr>
          </a:lstStyle>
          <a:p xmlns:a="http://schemas.openxmlformats.org/drawingml/2006/main">
            <a:pPr algn="ctr">
              <a:defRPr sz="2325" b="1">
                <a:solidFill>
                  <a:srgbClr val="27D3B2"/>
                </a:solidFill>
                <a:latin typeface="Arial"/>
                <a:ea typeface="Arial"/>
                <a:cs typeface="Arial"/>
              </a:defRPr>
            </a:pPr>
            <a:r>
              <a:rPr sz="2325" b="1">
                <a:solidFill>
                  <a:srgbClr val="27D3B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50509471-6F8F-4210-BFE5-F6957C1B038E}"/>
              </a:ext>
            </a:extLst>
          </p:cNvPr>
          <p:cNvSpPr>
            <a:spLocks xmlns:a="http://schemas.openxmlformats.org/drawingml/2006/main" noGrp="1"/>
          </p:cNvSpPr>
          <p:nvPr/>
        </p:nvSpPr>
        <p:spPr>
          <a:xfrm xmlns:a="http://schemas.openxmlformats.org/drawingml/2006/main">
            <a:off x="3600450" y="2028825"/>
            <a:ext cx="319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F3F7FA"/>
                </a:solidFill>
                <a:latin typeface="Arial"/>
                <a:ea typeface="Arial"/>
                <a:cs typeface="Arial"/>
              </a:defRPr>
            </a:defPPr>
          </a:lstStyle>
          <a:p xmlns:a="http://schemas.openxmlformats.org/drawingml/2006/main">
            <a:pPr algn="l">
              <a:defRPr sz="1575" b="0">
                <a:solidFill>
                  <a:srgbClr val="F3F7FA"/>
                </a:solidFill>
                <a:latin typeface="Arial"/>
                <a:ea typeface="Arial"/>
                <a:cs typeface="Arial"/>
              </a:defRPr>
            </a:pPr>
            <a:r>
              <a:rPr sz="1575" b="0">
                <a:solidFill>
                  <a:srgbClr val="F3F7FA"/>
                </a:solidFill>
                <a:latin typeface="Arial"/>
                <a:ea typeface="Arial"/>
                <a:cs typeface="Arial"/>
              </a:rPr>
              <a:t>Lowest model count</a:t>
            </a:r>
          </a:p>
          <a:p xmlns:a="http://schemas.openxmlformats.org/drawingml/2006/main">
            <a:pPr algn="l">
              <a:defRPr sz="1575" b="0">
                <a:solidFill>
                  <a:srgbClr val="F3F7FA"/>
                </a:solidFill>
                <a:latin typeface="Arial"/>
                <a:ea typeface="Arial"/>
                <a:cs typeface="Arial"/>
              </a:defRPr>
            </a:pPr>
            <a:r>
              <a:rPr sz="1575" b="0">
                <a:solidFill>
                  <a:srgbClr val="F3F7FA"/>
                </a:solidFill>
                <a:latin typeface="Arial"/>
                <a:ea typeface="Arial"/>
                <a:cs typeface="Arial"/>
              </a:rPr>
              <a:t>then lowest used bytes</a:t>
            </a:r>
          </a:p>
        </p:txBody>
      </p:sp>
      <p:sp>
        <p:nvSpPr>
          <p:cNvPr id="10" name="">
            <a:extLst xmlns:a="http://schemas.openxmlformats.org/drawingml/2006/main">
              <a:ext uri="{FF2B5EF4-FFF2-40B4-BE49-F238E27FC236}">
                <a16:creationId xmlns:a16="http://schemas.microsoft.com/office/drawing/2014/main" id="{0702AC47-9384-4009-A1B3-7592D209145A}"/>
              </a:ext>
            </a:extLst>
          </p:cNvPr>
          <p:cNvSpPr>
            <a:spLocks xmlns:a="http://schemas.openxmlformats.org/drawingml/2006/main" noGrp="1"/>
          </p:cNvSpPr>
          <p:nvPr/>
        </p:nvSpPr>
        <p:spPr>
          <a:xfrm xmlns:a="http://schemas.openxmlformats.org/drawingml/2006/main">
            <a:off x="781050" y="2971800"/>
            <a:ext cx="4714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A8BDCC"/>
                </a:solidFill>
                <a:latin typeface="Arial"/>
                <a:ea typeface="Arial"/>
                <a:cs typeface="Arial"/>
              </a:defRPr>
            </a:defPPr>
          </a:lstStyle>
          <a:p xmlns:a="http://schemas.openxmlformats.org/drawingml/2006/main">
            <a:pPr algn="l">
              <a:defRPr sz="1500" b="0">
                <a:solidFill>
                  <a:srgbClr val="A8BDCC"/>
                </a:solidFill>
                <a:latin typeface="Arial"/>
                <a:ea typeface="Arial"/>
                <a:cs typeface="Arial"/>
              </a:defRPr>
            </a:pPr>
            <a:r>
              <a:rPr sz="1500" b="0">
                <a:solidFill>
                  <a:srgbClr val="A8BDCC"/>
                </a:solidFill>
                <a:latin typeface="Arial"/>
                <a:ea typeface="Arial"/>
                <a:cs typeface="Arial"/>
              </a:rPr>
              <a:t>Mutex + in-flight reservations</a:t>
            </a:r>
          </a:p>
        </p:txBody>
      </p:sp>
      <p:sp>
        <p:nvSpPr>
          <p:cNvPr id="11" name="">
            <a:extLst xmlns:a="http://schemas.openxmlformats.org/drawingml/2006/main">
              <a:ext uri="{FF2B5EF4-FFF2-40B4-BE49-F238E27FC236}">
                <a16:creationId xmlns:a16="http://schemas.microsoft.com/office/drawing/2014/main" id="{889F8474-AC33-47C3-8BFE-7A529EACFFB7}"/>
              </a:ext>
            </a:extLst>
          </p:cNvPr>
          <p:cNvSpPr>
            <a:spLocks xmlns:a="http://schemas.openxmlformats.org/drawingml/2006/main" noGrp="1"/>
          </p:cNvSpPr>
          <p:nvPr/>
        </p:nvSpPr>
        <p:spPr>
          <a:xfrm xmlns:a="http://schemas.openxmlformats.org/drawingml/2006/main">
            <a:off x="781050" y="3514725"/>
            <a:ext cx="470535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2" name="">
            <a:extLst xmlns:a="http://schemas.openxmlformats.org/drawingml/2006/main">
              <a:ext uri="{FF2B5EF4-FFF2-40B4-BE49-F238E27FC236}">
                <a16:creationId xmlns:a16="http://schemas.microsoft.com/office/drawing/2014/main" id="{A7E69CE4-4C6F-4EA3-A174-2783FA75E721}"/>
              </a:ext>
            </a:extLst>
          </p:cNvPr>
          <p:cNvSpPr>
            <a:spLocks xmlns:a="http://schemas.openxmlformats.org/drawingml/2006/main" noGrp="1"/>
          </p:cNvSpPr>
          <p:nvPr/>
        </p:nvSpPr>
        <p:spPr>
          <a:xfrm xmlns:a="http://schemas.openxmlformats.org/drawingml/2006/main">
            <a:off x="781050" y="3848100"/>
            <a:ext cx="180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FB7FF"/>
                </a:solidFill>
                <a:latin typeface="Arial"/>
                <a:ea typeface="Arial"/>
                <a:cs typeface="Arial"/>
              </a:defRPr>
            </a:defPPr>
          </a:lstStyle>
          <a:p xmlns:a="http://schemas.openxmlformats.org/drawingml/2006/main">
            <a:pPr algn="l">
              <a:defRPr sz="1050" b="1">
                <a:solidFill>
                  <a:srgbClr val="6FB7FF"/>
                </a:solidFill>
                <a:latin typeface="Arial"/>
                <a:ea typeface="Arial"/>
                <a:cs typeface="Arial"/>
              </a:defRPr>
            </a:pPr>
            <a:r>
              <a:rPr sz="1050" b="1">
                <a:solidFill>
                  <a:srgbClr val="6FB7FF"/>
                </a:solidFill>
                <a:latin typeface="Arial"/>
                <a:ea typeface="Arial"/>
                <a:cs typeface="Arial"/>
              </a:rPr>
              <a:t>READ</a:t>
            </a:r>
          </a:p>
        </p:txBody>
      </p:sp>
      <p:sp>
        <p:nvSpPr>
          <p:cNvPr id="13" name="">
            <a:extLst xmlns:a="http://schemas.openxmlformats.org/drawingml/2006/main">
              <a:ext uri="{FF2B5EF4-FFF2-40B4-BE49-F238E27FC236}">
                <a16:creationId xmlns:a16="http://schemas.microsoft.com/office/drawing/2014/main" id="{ADDC2199-2501-422B-BA79-48D787932789}"/>
              </a:ext>
            </a:extLst>
          </p:cNvPr>
          <p:cNvSpPr>
            <a:spLocks xmlns:a="http://schemas.openxmlformats.org/drawingml/2006/main" noGrp="1"/>
          </p:cNvSpPr>
          <p:nvPr/>
        </p:nvSpPr>
        <p:spPr>
          <a:xfrm xmlns:a="http://schemas.openxmlformats.org/drawingml/2006/main">
            <a:off x="781050" y="42576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3F7FA"/>
                </a:solidFill>
                <a:latin typeface="Arial"/>
                <a:ea typeface="Arial"/>
                <a:cs typeface="Arial"/>
              </a:defRPr>
            </a:defPPr>
          </a:lstStyle>
          <a:p xmlns:a="http://schemas.openxmlformats.org/drawingml/2006/main">
            <a:pPr algn="l">
              <a:defRPr sz="1800" b="1">
                <a:solidFill>
                  <a:srgbClr val="F3F7FA"/>
                </a:solidFill>
                <a:latin typeface="Arial"/>
                <a:ea typeface="Arial"/>
                <a:cs typeface="Arial"/>
              </a:defRPr>
            </a:pPr>
            <a:r>
              <a:rPr sz="1800" b="1">
                <a:solidFill>
                  <a:srgbClr val="F3F7FA"/>
                </a:solidFill>
                <a:latin typeface="Arial"/>
                <a:ea typeface="Arial"/>
                <a:cs typeface="Arial"/>
              </a:rPr>
              <a:t>Synced replicas</a:t>
            </a:r>
          </a:p>
        </p:txBody>
      </p:sp>
      <p:sp>
        <p:nvSpPr>
          <p:cNvPr id="14" name="">
            <a:extLst xmlns:a="http://schemas.openxmlformats.org/drawingml/2006/main">
              <a:ext uri="{FF2B5EF4-FFF2-40B4-BE49-F238E27FC236}">
                <a16:creationId xmlns:a16="http://schemas.microsoft.com/office/drawing/2014/main" id="{B754F1EC-FB9C-43CA-A2D5-2E941083D2D7}"/>
              </a:ext>
            </a:extLst>
          </p:cNvPr>
          <p:cNvSpPr>
            <a:spLocks xmlns:a="http://schemas.openxmlformats.org/drawingml/2006/main" noGrp="1"/>
          </p:cNvSpPr>
          <p:nvPr/>
        </p:nvSpPr>
        <p:spPr>
          <a:xfrm xmlns:a="http://schemas.openxmlformats.org/drawingml/2006/main">
            <a:off x="3257550" y="4238625"/>
            <a:ext cx="52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325" b="1">
                <a:solidFill>
                  <a:srgbClr val="27D3B2"/>
                </a:solidFill>
                <a:latin typeface="Arial"/>
                <a:ea typeface="Arial"/>
                <a:cs typeface="Arial"/>
              </a:defRPr>
            </a:defPPr>
          </a:lstStyle>
          <a:p xmlns:a="http://schemas.openxmlformats.org/drawingml/2006/main">
            <a:pPr algn="ctr">
              <a:defRPr sz="2325" b="1">
                <a:solidFill>
                  <a:srgbClr val="27D3B2"/>
                </a:solidFill>
                <a:latin typeface="Arial"/>
                <a:ea typeface="Arial"/>
                <a:cs typeface="Arial"/>
              </a:defRPr>
            </a:pPr>
            <a:r>
              <a:rPr sz="2325" b="1">
                <a:solidFill>
                  <a:srgbClr val="27D3B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79FCE8F9-2DB1-4F8F-95F8-452B60914E4F}"/>
              </a:ext>
            </a:extLst>
          </p:cNvPr>
          <p:cNvSpPr>
            <a:spLocks xmlns:a="http://schemas.openxmlformats.org/drawingml/2006/main" noGrp="1"/>
          </p:cNvSpPr>
          <p:nvPr/>
        </p:nvSpPr>
        <p:spPr>
          <a:xfrm xmlns:a="http://schemas.openxmlformats.org/drawingml/2006/main">
            <a:off x="3952875" y="4181475"/>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F3F7FA"/>
                </a:solidFill>
                <a:latin typeface="Arial"/>
                <a:ea typeface="Arial"/>
                <a:cs typeface="Arial"/>
              </a:defRPr>
            </a:defPPr>
          </a:lstStyle>
          <a:p xmlns:a="http://schemas.openxmlformats.org/drawingml/2006/main">
            <a:pPr algn="l">
              <a:defRPr sz="1500" b="0">
                <a:solidFill>
                  <a:srgbClr val="F3F7FA"/>
                </a:solidFill>
                <a:latin typeface="Arial"/>
                <a:ea typeface="Arial"/>
                <a:cs typeface="Arial"/>
              </a:defRPr>
            </a:pPr>
            <a:r>
              <a:rPr sz="1500" b="0">
                <a:solidFill>
                  <a:srgbClr val="F3F7FA"/>
                </a:solidFill>
                <a:latin typeface="Arial"/>
                <a:ea typeface="Arial"/>
                <a:cs typeface="Arial"/>
              </a:rPr>
              <a:t>Online candidates</a:t>
            </a:r>
          </a:p>
          <a:p xmlns:a="http://schemas.openxmlformats.org/drawingml/2006/main">
            <a:pPr algn="l">
              <a:defRPr sz="1500" b="0">
                <a:solidFill>
                  <a:srgbClr val="F3F7FA"/>
                </a:solidFill>
                <a:latin typeface="Arial"/>
                <a:ea typeface="Arial"/>
                <a:cs typeface="Arial"/>
              </a:defRPr>
            </a:pPr>
            <a:r>
              <a:rPr sz="1500" b="0">
                <a:solidFill>
                  <a:srgbClr val="F3F7FA"/>
                </a:solidFill>
                <a:latin typeface="Arial"/>
                <a:ea typeface="Arial"/>
                <a:cs typeface="Arial"/>
              </a:rPr>
              <a:t>round-robin selection</a:t>
            </a:r>
          </a:p>
        </p:txBody>
      </p:sp>
      <p:sp>
        <p:nvSpPr>
          <p:cNvPr id="16" name="">
            <a:extLst xmlns:a="http://schemas.openxmlformats.org/drawingml/2006/main">
              <a:ext uri="{FF2B5EF4-FFF2-40B4-BE49-F238E27FC236}">
                <a16:creationId xmlns:a16="http://schemas.microsoft.com/office/drawing/2014/main" id="{4EFEA586-9AED-492E-995E-1EB797119860}"/>
              </a:ext>
            </a:extLst>
          </p:cNvPr>
          <p:cNvSpPr>
            <a:spLocks xmlns:a="http://schemas.openxmlformats.org/drawingml/2006/main" noGrp="1"/>
          </p:cNvSpPr>
          <p:nvPr/>
        </p:nvSpPr>
        <p:spPr>
          <a:xfrm xmlns:a="http://schemas.openxmlformats.org/drawingml/2006/main">
            <a:off x="781050" y="51054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DCC"/>
                </a:solidFill>
                <a:latin typeface="Arial"/>
                <a:ea typeface="Arial"/>
                <a:cs typeface="Arial"/>
              </a:defRPr>
            </a:defPPr>
          </a:lstStyle>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Coordinator polls node health every 5 seconds.</a:t>
            </a:r>
          </a:p>
        </p:txBody>
      </p:sp>
      <p:sp>
        <p:nvSpPr>
          <p:cNvPr id="17" name="">
            <a:extLst xmlns:a="http://schemas.openxmlformats.org/drawingml/2006/main">
              <a:ext uri="{FF2B5EF4-FFF2-40B4-BE49-F238E27FC236}">
                <a16:creationId xmlns:a16="http://schemas.microsoft.com/office/drawing/2014/main" id="{E30547D1-A8C6-40C7-BBEE-BAA83FAD4922}"/>
              </a:ext>
            </a:extLst>
          </p:cNvPr>
          <p:cNvSpPr>
            <a:spLocks xmlns:a="http://schemas.openxmlformats.org/drawingml/2006/main" noGrp="1"/>
          </p:cNvSpPr>
          <p:nvPr/>
        </p:nvSpPr>
        <p:spPr>
          <a:xfrm xmlns:a="http://schemas.openxmlformats.org/drawingml/2006/main">
            <a:off x="7305675" y="1600200"/>
            <a:ext cx="0" cy="409575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8" name="">
            <a:extLst xmlns:a="http://schemas.openxmlformats.org/drawingml/2006/main">
              <a:ext uri="{FF2B5EF4-FFF2-40B4-BE49-F238E27FC236}">
                <a16:creationId xmlns:a16="http://schemas.microsoft.com/office/drawing/2014/main" id="{F92B298B-31FE-4A80-9D31-65FA24F51BFB}"/>
              </a:ext>
            </a:extLst>
          </p:cNvPr>
          <p:cNvSpPr>
            <a:spLocks xmlns:a="http://schemas.openxmlformats.org/drawingml/2006/main" noGrp="1"/>
          </p:cNvSpPr>
          <p:nvPr/>
        </p:nvSpPr>
        <p:spPr>
          <a:xfrm xmlns:a="http://schemas.openxmlformats.org/drawingml/2006/main">
            <a:off x="7715250" y="1724025"/>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7D3B2"/>
                </a:solidFill>
                <a:latin typeface="Arial"/>
                <a:ea typeface="Arial"/>
                <a:cs typeface="Arial"/>
              </a:defRPr>
            </a:defPPr>
          </a:lstStyle>
          <a:p xmlns:a="http://schemas.openxmlformats.org/drawingml/2006/main">
            <a:pPr algn="l">
              <a:defRPr sz="1050" b="1">
                <a:solidFill>
                  <a:srgbClr val="27D3B2"/>
                </a:solidFill>
                <a:latin typeface="Arial"/>
                <a:ea typeface="Arial"/>
                <a:cs typeface="Arial"/>
              </a:defRPr>
            </a:pPr>
            <a:r>
              <a:rPr sz="1050" b="1">
                <a:solidFill>
                  <a:srgbClr val="27D3B2"/>
                </a:solidFill>
                <a:latin typeface="Arial"/>
                <a:ea typeface="Arial"/>
                <a:cs typeface="Arial"/>
              </a:rPr>
              <a:t>WHAT FAILS OVER GRACEFULLY</a:t>
            </a:r>
          </a:p>
        </p:txBody>
      </p:sp>
      <p:sp>
        <p:nvSpPr>
          <p:cNvPr id="19" name="">
            <a:extLst xmlns:a="http://schemas.openxmlformats.org/drawingml/2006/main">
              <a:ext uri="{FF2B5EF4-FFF2-40B4-BE49-F238E27FC236}">
                <a16:creationId xmlns:a16="http://schemas.microsoft.com/office/drawing/2014/main" id="{4597206F-76BC-42FD-BDF4-2D03EF0C6A15}"/>
              </a:ext>
            </a:extLst>
          </p:cNvPr>
          <p:cNvSpPr>
            <a:spLocks xmlns:a="http://schemas.openxmlformats.org/drawingml/2006/main" noGrp="1"/>
          </p:cNvSpPr>
          <p:nvPr/>
        </p:nvSpPr>
        <p:spPr>
          <a:xfrm xmlns:a="http://schemas.openxmlformats.org/drawingml/2006/main">
            <a:off x="7715250" y="2171700"/>
            <a:ext cx="3476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F3F7FA"/>
                </a:solidFill>
                <a:latin typeface="Arial"/>
                <a:ea typeface="Arial"/>
                <a:cs typeface="Arial"/>
              </a:defRPr>
            </a:defPPr>
          </a:lstStyle>
          <a:p xmlns:a="http://schemas.openxmlformats.org/drawingml/2006/main">
            <a:pPr algn="l">
              <a:defRPr sz="1575" b="0">
                <a:solidFill>
                  <a:srgbClr val="F3F7FA"/>
                </a:solidFill>
                <a:latin typeface="Arial"/>
                <a:ea typeface="Arial"/>
                <a:cs typeface="Arial"/>
              </a:defRPr>
            </a:pPr>
            <a:r>
              <a:rPr sz="1575" b="0">
                <a:solidFill>
                  <a:srgbClr val="F3F7FA"/>
                </a:solidFill>
                <a:latin typeface="Arial"/>
                <a:ea typeface="Arial"/>
                <a:cs typeface="Arial"/>
              </a:rPr>
              <a:t>A node can be marked OFFLINE; downloads can route around it when another synced online replica exists.</a:t>
            </a:r>
          </a:p>
        </p:txBody>
      </p:sp>
      <p:sp>
        <p:nvSpPr>
          <p:cNvPr id="20" name="">
            <a:extLst xmlns:a="http://schemas.openxmlformats.org/drawingml/2006/main">
              <a:ext uri="{FF2B5EF4-FFF2-40B4-BE49-F238E27FC236}">
                <a16:creationId xmlns:a16="http://schemas.microsoft.com/office/drawing/2014/main" id="{A3D14E2F-709D-4852-AF07-A576A1644B36}"/>
              </a:ext>
            </a:extLst>
          </p:cNvPr>
          <p:cNvSpPr>
            <a:spLocks xmlns:a="http://schemas.openxmlformats.org/drawingml/2006/main" noGrp="1"/>
          </p:cNvSpPr>
          <p:nvPr/>
        </p:nvSpPr>
        <p:spPr>
          <a:xfrm xmlns:a="http://schemas.openxmlformats.org/drawingml/2006/main">
            <a:off x="7715250" y="3438525"/>
            <a:ext cx="3571875" cy="1504950"/>
          </a:xfrm>
          <a:prstGeom xmlns:a="http://schemas.openxmlformats.org/drawingml/2006/main" prst="roundRect">
            <a:avLst>
              <a:gd name="adj" fmla="val 5696"/>
            </a:avLst>
          </a:prstGeom>
          <a:solidFill xmlns:a="http://schemas.openxmlformats.org/drawingml/2006/main">
            <a:srgbClr val="241C21"/>
          </a:solidFill>
          <a:ln xmlns:a="http://schemas.openxmlformats.org/drawingml/2006/main" w="9525">
            <a:solidFill>
              <a:srgbClr val="68464A"/>
            </a:solidFill>
            <a:prstDash val="solid"/>
          </a:ln>
        </p:spPr>
      </p:sp>
      <p:sp>
        <p:nvSpPr>
          <p:cNvPr id="21" name="">
            <a:extLst xmlns:a="http://schemas.openxmlformats.org/drawingml/2006/main">
              <a:ext uri="{FF2B5EF4-FFF2-40B4-BE49-F238E27FC236}">
                <a16:creationId xmlns:a16="http://schemas.microsoft.com/office/drawing/2014/main" id="{16279CD1-0F05-455C-9254-95698533FB32}"/>
              </a:ext>
            </a:extLst>
          </p:cNvPr>
          <p:cNvSpPr>
            <a:spLocks xmlns:a="http://schemas.openxmlformats.org/drawingml/2006/main" noGrp="1"/>
          </p:cNvSpPr>
          <p:nvPr/>
        </p:nvSpPr>
        <p:spPr>
          <a:xfrm xmlns:a="http://schemas.openxmlformats.org/drawingml/2006/main">
            <a:off x="7934325" y="36480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17676"/>
                </a:solidFill>
                <a:latin typeface="Arial"/>
                <a:ea typeface="Arial"/>
                <a:cs typeface="Arial"/>
              </a:defRPr>
            </a:defPPr>
          </a:lstStyle>
          <a:p xmlns:a="http://schemas.openxmlformats.org/drawingml/2006/main">
            <a:pPr algn="l">
              <a:defRPr sz="1500" b="1">
                <a:solidFill>
                  <a:srgbClr val="F17676"/>
                </a:solidFill>
                <a:latin typeface="Arial"/>
                <a:ea typeface="Arial"/>
                <a:cs typeface="Arial"/>
              </a:defRPr>
            </a:pPr>
            <a:r>
              <a:rPr sz="1500" b="1">
                <a:solidFill>
                  <a:srgbClr val="F17676"/>
                </a:solidFill>
                <a:latin typeface="Arial"/>
                <a:ea typeface="Arial"/>
                <a:cs typeface="Arial"/>
              </a:rPr>
              <a:t>Known gap</a:t>
            </a:r>
          </a:p>
        </p:txBody>
      </p:sp>
      <p:sp>
        <p:nvSpPr>
          <p:cNvPr id="22" name="">
            <a:extLst xmlns:a="http://schemas.openxmlformats.org/drawingml/2006/main">
              <a:ext uri="{FF2B5EF4-FFF2-40B4-BE49-F238E27FC236}">
                <a16:creationId xmlns:a16="http://schemas.microsoft.com/office/drawing/2014/main" id="{D0336180-DD37-4995-96C3-C21E18D609BC}"/>
              </a:ext>
            </a:extLst>
          </p:cNvPr>
          <p:cNvSpPr>
            <a:spLocks xmlns:a="http://schemas.openxmlformats.org/drawingml/2006/main" noGrp="1"/>
          </p:cNvSpPr>
          <p:nvPr/>
        </p:nvSpPr>
        <p:spPr>
          <a:xfrm xmlns:a="http://schemas.openxmlformats.org/drawingml/2006/main">
            <a:off x="7934325" y="4048125"/>
            <a:ext cx="3095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DCC"/>
                </a:solidFill>
                <a:latin typeface="Arial"/>
                <a:ea typeface="Arial"/>
                <a:cs typeface="Arial"/>
              </a:defRPr>
            </a:defPPr>
          </a:lstStyle>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The code flags the node offline but does not automatically create a replacement replica.</a:t>
            </a:r>
          </a:p>
        </p:txBody>
      </p:sp>
    </p:spTree>
    <p:extLst>
      <p:ext uri="{BB962C8B-B14F-4D97-AF65-F5344CB8AC3E}">
        <p14:creationId xmlns:p14="http://schemas.microsoft.com/office/powerpoint/2010/main" val="1674696931"/>
      </p:ext>
    </p:extLst>
  </p:cSld>
</p:sld>
</file>

<file path=ppt/slides/slide7.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9" name="title-7">
            <a:extLst xmlns:a="http://schemas.openxmlformats.org/drawingml/2006/main">
              <a:ext uri="{FF2B5EF4-FFF2-40B4-BE49-F238E27FC236}">
                <a16:creationId xmlns:a16="http://schemas.microsoft.com/office/drawing/2014/main" id="{2B7FC176-749B-4DBE-8F8B-BE694C346EB5}"/>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3F7FA"/>
                </a:solidFill>
                <a:latin typeface="Arial"/>
                <a:ea typeface="Arial"/>
                <a:cs typeface="Arial"/>
              </a:defRPr>
            </a:defPPr>
          </a:lstStyle>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Communication and observability</a:t>
            </a:r>
          </a:p>
        </p:txBody>
      </p:sp>
      <p:sp>
        <p:nvSpPr>
          <p:cNvPr id="2" name="">
            <a:extLst xmlns:a="http://schemas.openxmlformats.org/drawingml/2006/main">
              <a:ext uri="{FF2B5EF4-FFF2-40B4-BE49-F238E27FC236}">
                <a16:creationId xmlns:a16="http://schemas.microsoft.com/office/drawing/2014/main" id="{4DBB4D94-38C5-431C-9A87-D40DC1C9B43E}"/>
              </a:ext>
            </a:extLst>
          </p:cNvPr>
          <p:cNvSpPr>
            <a:spLocks xmlns:a="http://schemas.openxmlformats.org/drawingml/2006/main" noGrp="1"/>
          </p:cNvSpPr>
          <p:nvPr/>
        </p:nvSpPr>
        <p:spPr>
          <a:xfrm xmlns:a="http://schemas.openxmlformats.org/drawingml/2006/main">
            <a:off x="704850" y="962025"/>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A8BDCC"/>
                </a:solidFill>
                <a:latin typeface="Arial"/>
                <a:ea typeface="Arial"/>
                <a:cs typeface="Arial"/>
              </a:defRPr>
            </a:defPPr>
          </a:lstStyle>
          <a:p xmlns:a="http://schemas.openxmlformats.org/drawingml/2006/main">
            <a:pPr algn="l">
              <a:defRPr sz="1425" b="0">
                <a:solidFill>
                  <a:srgbClr val="A8BDCC"/>
                </a:solidFill>
                <a:latin typeface="Arial"/>
                <a:ea typeface="Arial"/>
                <a:cs typeface="Arial"/>
              </a:defRPr>
            </a:pPr>
            <a:r>
              <a:rPr sz="1425" b="0">
                <a:solidFill>
                  <a:srgbClr val="A8BDCC"/>
                </a:solidFill>
                <a:latin typeface="Arial"/>
                <a:ea typeface="Arial"/>
                <a:cs typeface="Arial"/>
              </a:rPr>
              <a:t>HTTP, gRPC and NATS each serve a different communication role.</a:t>
            </a:r>
          </a:p>
        </p:txBody>
      </p:sp>
      <p:sp>
        <p:nvSpPr>
          <p:cNvPr id="3" name="">
            <a:extLst xmlns:a="http://schemas.openxmlformats.org/drawingml/2006/main">
              <a:ext uri="{FF2B5EF4-FFF2-40B4-BE49-F238E27FC236}">
                <a16:creationId xmlns:a16="http://schemas.microsoft.com/office/drawing/2014/main" id="{87303EEA-8DC9-46CE-8239-B0B4C751667C}"/>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0374A"/>
            </a:solidFill>
            <a:prstDash val="solid"/>
          </a:ln>
        </p:spPr>
      </p:sp>
      <p:sp>
        <p:nvSpPr>
          <p:cNvPr id="4" name="">
            <a:extLst xmlns:a="http://schemas.openxmlformats.org/drawingml/2006/main">
              <a:ext uri="{FF2B5EF4-FFF2-40B4-BE49-F238E27FC236}">
                <a16:creationId xmlns:a16="http://schemas.microsoft.com/office/drawing/2014/main" id="{95F5A596-7154-42DB-8602-C2F65FBFA02B}"/>
              </a:ext>
            </a:extLst>
          </p:cNvPr>
          <p:cNvSpPr>
            <a:spLocks xmlns:a="http://schemas.openxmlformats.org/drawingml/2006/main" noGrp="1"/>
          </p:cNvSpPr>
          <p:nvPr/>
        </p:nvSpPr>
        <p:spPr>
          <a:xfrm xmlns:a="http://schemas.openxmlformats.org/drawingml/2006/main">
            <a:off x="704850" y="64960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892A6"/>
                </a:solidFill>
                <a:latin typeface="Arial"/>
                <a:ea typeface="Arial"/>
                <a:cs typeface="Arial"/>
              </a:defRPr>
            </a:defPPr>
          </a:lstStyle>
          <a:p xmlns:a="http://schemas.openxmlformats.org/drawingml/2006/main">
            <a:pPr algn="l">
              <a:defRPr sz="900" b="0">
                <a:solidFill>
                  <a:srgbClr val="7892A6"/>
                </a:solidFill>
                <a:latin typeface="Arial"/>
                <a:ea typeface="Arial"/>
                <a:cs typeface="Arial"/>
              </a:defRPr>
            </a:pPr>
            <a:r>
              <a:rPr sz="900" b="0">
                <a:solidFill>
                  <a:srgbClr val="7892A6"/>
                </a:solidFill>
                <a:latin typeface="Arial"/>
                <a:ea typeface="Arial"/>
                <a:cs typeface="Arial"/>
              </a:rPr>
              <a:t>DISTRIBUTED MODEL REPOSITORY  /  PROJECT WALKTHROUGH</a:t>
            </a:r>
          </a:p>
        </p:txBody>
      </p:sp>
      <p:sp>
        <p:nvSpPr>
          <p:cNvPr id="5" name="">
            <a:extLst xmlns:a="http://schemas.openxmlformats.org/drawingml/2006/main">
              <a:ext uri="{FF2B5EF4-FFF2-40B4-BE49-F238E27FC236}">
                <a16:creationId xmlns:a16="http://schemas.microsoft.com/office/drawing/2014/main" id="{E6CC31DC-A65D-40ED-8C92-F237C07D9CB1}"/>
              </a:ext>
            </a:extLst>
          </p:cNvPr>
          <p:cNvSpPr>
            <a:spLocks xmlns:a="http://schemas.openxmlformats.org/drawingml/2006/main" noGrp="1"/>
          </p:cNvSpPr>
          <p:nvPr/>
        </p:nvSpPr>
        <p:spPr>
          <a:xfrm xmlns:a="http://schemas.openxmlformats.org/drawingml/2006/main">
            <a:off x="11049000" y="64865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7892A6"/>
                </a:solidFill>
                <a:latin typeface="Arial"/>
                <a:ea typeface="Arial"/>
                <a:cs typeface="Arial"/>
              </a:defRPr>
            </a:defPPr>
          </a:lstStyle>
          <a:p xmlns:a="http://schemas.openxmlformats.org/drawingml/2006/main">
            <a:pPr algn="r">
              <a:defRPr sz="975" b="0">
                <a:solidFill>
                  <a:srgbClr val="7892A6"/>
                </a:solidFill>
                <a:latin typeface="Arial"/>
                <a:ea typeface="Arial"/>
                <a:cs typeface="Arial"/>
              </a:defRPr>
            </a:pPr>
            <a:r>
              <a:rPr sz="975" b="0">
                <a:solidFill>
                  <a:srgbClr val="7892A6"/>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741F8332-E3C7-4FD0-9177-21D94879218C}"/>
              </a:ext>
            </a:extLst>
          </p:cNvPr>
          <p:cNvSpPr>
            <a:spLocks xmlns:a="http://schemas.openxmlformats.org/drawingml/2006/main" noGrp="1"/>
          </p:cNvSpPr>
          <p:nvPr/>
        </p:nvSpPr>
        <p:spPr>
          <a:xfrm xmlns:a="http://schemas.openxmlformats.org/drawingml/2006/main">
            <a:off x="781050" y="1647825"/>
            <a:ext cx="1062990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7" name="">
            <a:extLst xmlns:a="http://schemas.openxmlformats.org/drawingml/2006/main">
              <a:ext uri="{FF2B5EF4-FFF2-40B4-BE49-F238E27FC236}">
                <a16:creationId xmlns:a16="http://schemas.microsoft.com/office/drawing/2014/main" id="{432D8C47-49E7-4067-8E44-80E503B71ABC}"/>
              </a:ext>
            </a:extLst>
          </p:cNvPr>
          <p:cNvSpPr>
            <a:spLocks xmlns:a="http://schemas.openxmlformats.org/drawingml/2006/main" noGrp="1"/>
          </p:cNvSpPr>
          <p:nvPr/>
        </p:nvSpPr>
        <p:spPr>
          <a:xfrm xmlns:a="http://schemas.openxmlformats.org/drawingml/2006/main">
            <a:off x="800100" y="1838325"/>
            <a:ext cx="66675" cy="590550"/>
          </a:xfrm>
          <a:prstGeom xmlns:a="http://schemas.openxmlformats.org/drawingml/2006/main" prst="roundRect">
            <a:avLst>
              <a:gd name="adj" fmla="val 28571"/>
            </a:avLst>
          </a:prstGeom>
          <a:solidFill xmlns:a="http://schemas.openxmlformats.org/drawingml/2006/main">
            <a:srgbClr val="6FB7FF"/>
          </a:solidFill>
          <a:ln xmlns:a="http://schemas.openxmlformats.org/drawingml/2006/main" w="9525">
            <a:solidFill>
              <a:srgbClr val="6FB7FF"/>
            </a:solidFill>
            <a:prstDash val="solid"/>
          </a:ln>
        </p:spPr>
      </p:sp>
      <p:sp>
        <p:nvSpPr>
          <p:cNvPr id="8" name="">
            <a:extLst xmlns:a="http://schemas.openxmlformats.org/drawingml/2006/main">
              <a:ext uri="{FF2B5EF4-FFF2-40B4-BE49-F238E27FC236}">
                <a16:creationId xmlns:a16="http://schemas.microsoft.com/office/drawing/2014/main" id="{395578C8-D9E5-4DD8-BC23-16BD4CC8EC79}"/>
              </a:ext>
            </a:extLst>
          </p:cNvPr>
          <p:cNvSpPr>
            <a:spLocks xmlns:a="http://schemas.openxmlformats.org/drawingml/2006/main" noGrp="1"/>
          </p:cNvSpPr>
          <p:nvPr/>
        </p:nvSpPr>
        <p:spPr>
          <a:xfrm xmlns:a="http://schemas.openxmlformats.org/drawingml/2006/main">
            <a:off x="1038225" y="18288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6FB7FF"/>
                </a:solidFill>
                <a:latin typeface="Arial"/>
                <a:ea typeface="Arial"/>
                <a:cs typeface="Arial"/>
              </a:defRPr>
            </a:defPPr>
          </a:lstStyle>
          <a:p xmlns:a="http://schemas.openxmlformats.org/drawingml/2006/main">
            <a:pPr algn="l">
              <a:defRPr sz="1500" b="1">
                <a:solidFill>
                  <a:srgbClr val="6FB7FF"/>
                </a:solidFill>
                <a:latin typeface="Arial"/>
                <a:ea typeface="Arial"/>
                <a:cs typeface="Arial"/>
              </a:defRPr>
            </a:pPr>
            <a:r>
              <a:rPr sz="1500" b="1">
                <a:solidFill>
                  <a:srgbClr val="6FB7FF"/>
                </a:solidFill>
                <a:latin typeface="Arial"/>
                <a:ea typeface="Arial"/>
                <a:cs typeface="Arial"/>
              </a:rPr>
              <a:t>HTTP REST</a:t>
            </a:r>
          </a:p>
        </p:txBody>
      </p:sp>
      <p:sp>
        <p:nvSpPr>
          <p:cNvPr id="9" name="">
            <a:extLst xmlns:a="http://schemas.openxmlformats.org/drawingml/2006/main">
              <a:ext uri="{FF2B5EF4-FFF2-40B4-BE49-F238E27FC236}">
                <a16:creationId xmlns:a16="http://schemas.microsoft.com/office/drawing/2014/main" id="{77B619CF-BA5D-4631-8ADF-3B849CF5C892}"/>
              </a:ext>
            </a:extLst>
          </p:cNvPr>
          <p:cNvSpPr>
            <a:spLocks xmlns:a="http://schemas.openxmlformats.org/drawingml/2006/main" noGrp="1"/>
          </p:cNvSpPr>
          <p:nvPr/>
        </p:nvSpPr>
        <p:spPr>
          <a:xfrm xmlns:a="http://schemas.openxmlformats.org/drawingml/2006/main">
            <a:off x="3314700" y="1828800"/>
            <a:ext cx="30765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3F7FA"/>
                </a:solidFill>
                <a:latin typeface="Arial"/>
                <a:ea typeface="Arial"/>
                <a:cs typeface="Arial"/>
              </a:defRPr>
            </a:defPPr>
          </a:lstStyle>
          <a:p xmlns:a="http://schemas.openxmlformats.org/drawingml/2006/main">
            <a:pPr algn="l">
              <a:defRPr sz="1350" b="1">
                <a:solidFill>
                  <a:srgbClr val="F3F7FA"/>
                </a:solidFill>
                <a:latin typeface="Arial"/>
                <a:ea typeface="Arial"/>
                <a:cs typeface="Arial"/>
              </a:defRPr>
            </a:pPr>
            <a:r>
              <a:rPr sz="1350" b="1">
                <a:solidFill>
                  <a:srgbClr val="F3F7FA"/>
                </a:solidFill>
                <a:latin typeface="Arial"/>
                <a:ea typeface="Arial"/>
                <a:cs typeface="Arial"/>
              </a:rPr>
              <a:t>Browser / clients ↔ Coordinator</a:t>
            </a:r>
          </a:p>
        </p:txBody>
      </p:sp>
      <p:sp>
        <p:nvSpPr>
          <p:cNvPr id="10" name="">
            <a:extLst xmlns:a="http://schemas.openxmlformats.org/drawingml/2006/main">
              <a:ext uri="{FF2B5EF4-FFF2-40B4-BE49-F238E27FC236}">
                <a16:creationId xmlns:a16="http://schemas.microsoft.com/office/drawing/2014/main" id="{E374E208-6930-41F1-9C7D-F094082805F8}"/>
              </a:ext>
            </a:extLst>
          </p:cNvPr>
          <p:cNvSpPr>
            <a:spLocks xmlns:a="http://schemas.openxmlformats.org/drawingml/2006/main" noGrp="1"/>
          </p:cNvSpPr>
          <p:nvPr/>
        </p:nvSpPr>
        <p:spPr>
          <a:xfrm xmlns:a="http://schemas.openxmlformats.org/drawingml/2006/main">
            <a:off x="6619875" y="1781175"/>
            <a:ext cx="457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Upload, browse, download, node and replica APIs</a:t>
            </a:r>
          </a:p>
        </p:txBody>
      </p:sp>
      <p:sp>
        <p:nvSpPr>
          <p:cNvPr id="11" name="">
            <a:extLst xmlns:a="http://schemas.openxmlformats.org/drawingml/2006/main">
              <a:ext uri="{FF2B5EF4-FFF2-40B4-BE49-F238E27FC236}">
                <a16:creationId xmlns:a16="http://schemas.microsoft.com/office/drawing/2014/main" id="{5DE202C7-02B3-4B09-9D39-827BDE04BCFD}"/>
              </a:ext>
            </a:extLst>
          </p:cNvPr>
          <p:cNvSpPr>
            <a:spLocks xmlns:a="http://schemas.openxmlformats.org/drawingml/2006/main" noGrp="1"/>
          </p:cNvSpPr>
          <p:nvPr/>
        </p:nvSpPr>
        <p:spPr>
          <a:xfrm xmlns:a="http://schemas.openxmlformats.org/drawingml/2006/main">
            <a:off x="781050" y="2714625"/>
            <a:ext cx="1062990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2" name="">
            <a:extLst xmlns:a="http://schemas.openxmlformats.org/drawingml/2006/main">
              <a:ext uri="{FF2B5EF4-FFF2-40B4-BE49-F238E27FC236}">
                <a16:creationId xmlns:a16="http://schemas.microsoft.com/office/drawing/2014/main" id="{3D7CC511-5E01-47A8-9DBC-3BBF00125DEC}"/>
              </a:ext>
            </a:extLst>
          </p:cNvPr>
          <p:cNvSpPr>
            <a:spLocks xmlns:a="http://schemas.openxmlformats.org/drawingml/2006/main" noGrp="1"/>
          </p:cNvSpPr>
          <p:nvPr/>
        </p:nvSpPr>
        <p:spPr>
          <a:xfrm xmlns:a="http://schemas.openxmlformats.org/drawingml/2006/main">
            <a:off x="800100" y="2905125"/>
            <a:ext cx="66675" cy="590550"/>
          </a:xfrm>
          <a:prstGeom xmlns:a="http://schemas.openxmlformats.org/drawingml/2006/main" prst="roundRect">
            <a:avLst>
              <a:gd name="adj" fmla="val 28571"/>
            </a:avLst>
          </a:prstGeom>
          <a:solidFill xmlns:a="http://schemas.openxmlformats.org/drawingml/2006/main">
            <a:srgbClr val="27D3B2"/>
          </a:solidFill>
          <a:ln xmlns:a="http://schemas.openxmlformats.org/drawingml/2006/main" w="9525">
            <a:solidFill>
              <a:srgbClr val="27D3B2"/>
            </a:solidFill>
            <a:prstDash val="solid"/>
          </a:ln>
        </p:spPr>
      </p:sp>
      <p:sp>
        <p:nvSpPr>
          <p:cNvPr id="13" name="">
            <a:extLst xmlns:a="http://schemas.openxmlformats.org/drawingml/2006/main">
              <a:ext uri="{FF2B5EF4-FFF2-40B4-BE49-F238E27FC236}">
                <a16:creationId xmlns:a16="http://schemas.microsoft.com/office/drawing/2014/main" id="{C2D320CE-07E3-483D-88E1-2CFE58F034F1}"/>
              </a:ext>
            </a:extLst>
          </p:cNvPr>
          <p:cNvSpPr>
            <a:spLocks xmlns:a="http://schemas.openxmlformats.org/drawingml/2006/main" noGrp="1"/>
          </p:cNvSpPr>
          <p:nvPr/>
        </p:nvSpPr>
        <p:spPr>
          <a:xfrm xmlns:a="http://schemas.openxmlformats.org/drawingml/2006/main">
            <a:off x="1038225" y="2895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D3B2"/>
                </a:solidFill>
                <a:latin typeface="Arial"/>
                <a:ea typeface="Arial"/>
                <a:cs typeface="Arial"/>
              </a:defRPr>
            </a:defPPr>
          </a:lstStyle>
          <a:p xmlns:a="http://schemas.openxmlformats.org/drawingml/2006/main">
            <a:pPr algn="l">
              <a:defRPr sz="1500" b="1">
                <a:solidFill>
                  <a:srgbClr val="27D3B2"/>
                </a:solidFill>
                <a:latin typeface="Arial"/>
                <a:ea typeface="Arial"/>
                <a:cs typeface="Arial"/>
              </a:defRPr>
            </a:pPr>
            <a:r>
              <a:rPr sz="1500" b="1">
                <a:solidFill>
                  <a:srgbClr val="27D3B2"/>
                </a:solidFill>
                <a:latin typeface="Arial"/>
                <a:ea typeface="Arial"/>
                <a:cs typeface="Arial"/>
              </a:rPr>
              <a:t>gRPC streams</a:t>
            </a:r>
          </a:p>
        </p:txBody>
      </p:sp>
      <p:sp>
        <p:nvSpPr>
          <p:cNvPr id="14" name="">
            <a:extLst xmlns:a="http://schemas.openxmlformats.org/drawingml/2006/main">
              <a:ext uri="{FF2B5EF4-FFF2-40B4-BE49-F238E27FC236}">
                <a16:creationId xmlns:a16="http://schemas.microsoft.com/office/drawing/2014/main" id="{AAB588F2-4ECF-4C40-B455-8D0B38A8AC2A}"/>
              </a:ext>
            </a:extLst>
          </p:cNvPr>
          <p:cNvSpPr>
            <a:spLocks xmlns:a="http://schemas.openxmlformats.org/drawingml/2006/main" noGrp="1"/>
          </p:cNvSpPr>
          <p:nvPr/>
        </p:nvSpPr>
        <p:spPr>
          <a:xfrm xmlns:a="http://schemas.openxmlformats.org/drawingml/2006/main">
            <a:off x="3314700" y="2895600"/>
            <a:ext cx="30765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3F7FA"/>
                </a:solidFill>
                <a:latin typeface="Arial"/>
                <a:ea typeface="Arial"/>
                <a:cs typeface="Arial"/>
              </a:defRPr>
            </a:defPPr>
          </a:lstStyle>
          <a:p xmlns:a="http://schemas.openxmlformats.org/drawingml/2006/main">
            <a:pPr algn="l">
              <a:defRPr sz="1350" b="1">
                <a:solidFill>
                  <a:srgbClr val="F3F7FA"/>
                </a:solidFill>
                <a:latin typeface="Arial"/>
                <a:ea typeface="Arial"/>
                <a:cs typeface="Arial"/>
              </a:defRPr>
            </a:pPr>
            <a:r>
              <a:rPr sz="1350" b="1">
                <a:solidFill>
                  <a:srgbClr val="F3F7FA"/>
                </a:solidFill>
                <a:latin typeface="Arial"/>
                <a:ea typeface="Arial"/>
                <a:cs typeface="Arial"/>
              </a:rPr>
              <a:t>Coordinator ↔ Storage nodes</a:t>
            </a:r>
          </a:p>
        </p:txBody>
      </p:sp>
      <p:sp>
        <p:nvSpPr>
          <p:cNvPr id="15" name="">
            <a:extLst xmlns:a="http://schemas.openxmlformats.org/drawingml/2006/main">
              <a:ext uri="{FF2B5EF4-FFF2-40B4-BE49-F238E27FC236}">
                <a16:creationId xmlns:a16="http://schemas.microsoft.com/office/drawing/2014/main" id="{2977F958-BF63-43DA-B970-8F61BC9D78AF}"/>
              </a:ext>
            </a:extLst>
          </p:cNvPr>
          <p:cNvSpPr>
            <a:spLocks xmlns:a="http://schemas.openxmlformats.org/drawingml/2006/main" noGrp="1"/>
          </p:cNvSpPr>
          <p:nvPr/>
        </p:nvSpPr>
        <p:spPr>
          <a:xfrm xmlns:a="http://schemas.openxmlformats.org/drawingml/2006/main">
            <a:off x="6619875" y="2847975"/>
            <a:ext cx="457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Upload/download chunks and health calls</a:t>
            </a:r>
          </a:p>
        </p:txBody>
      </p:sp>
      <p:sp>
        <p:nvSpPr>
          <p:cNvPr id="16" name="">
            <a:extLst xmlns:a="http://schemas.openxmlformats.org/drawingml/2006/main">
              <a:ext uri="{FF2B5EF4-FFF2-40B4-BE49-F238E27FC236}">
                <a16:creationId xmlns:a16="http://schemas.microsoft.com/office/drawing/2014/main" id="{024D4422-515B-4A46-A839-0008006C6CFA}"/>
              </a:ext>
            </a:extLst>
          </p:cNvPr>
          <p:cNvSpPr>
            <a:spLocks xmlns:a="http://schemas.openxmlformats.org/drawingml/2006/main" noGrp="1"/>
          </p:cNvSpPr>
          <p:nvPr/>
        </p:nvSpPr>
        <p:spPr>
          <a:xfrm xmlns:a="http://schemas.openxmlformats.org/drawingml/2006/main">
            <a:off x="781050" y="3781425"/>
            <a:ext cx="1062990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7" name="">
            <a:extLst xmlns:a="http://schemas.openxmlformats.org/drawingml/2006/main">
              <a:ext uri="{FF2B5EF4-FFF2-40B4-BE49-F238E27FC236}">
                <a16:creationId xmlns:a16="http://schemas.microsoft.com/office/drawing/2014/main" id="{D2BF7963-C6E1-445E-88FA-083BEBEB7BB7}"/>
              </a:ext>
            </a:extLst>
          </p:cNvPr>
          <p:cNvSpPr>
            <a:spLocks xmlns:a="http://schemas.openxmlformats.org/drawingml/2006/main" noGrp="1"/>
          </p:cNvSpPr>
          <p:nvPr/>
        </p:nvSpPr>
        <p:spPr>
          <a:xfrm xmlns:a="http://schemas.openxmlformats.org/drawingml/2006/main">
            <a:off x="800100" y="3971925"/>
            <a:ext cx="66675" cy="590550"/>
          </a:xfrm>
          <a:prstGeom xmlns:a="http://schemas.openxmlformats.org/drawingml/2006/main" prst="roundRect">
            <a:avLst>
              <a:gd name="adj" fmla="val 28571"/>
            </a:avLst>
          </a:prstGeom>
          <a:solidFill xmlns:a="http://schemas.openxmlformats.org/drawingml/2006/main">
            <a:srgbClr val="F4B860"/>
          </a:solidFill>
          <a:ln xmlns:a="http://schemas.openxmlformats.org/drawingml/2006/main" w="9525">
            <a:solidFill>
              <a:srgbClr val="F4B860"/>
            </a:solidFill>
            <a:prstDash val="solid"/>
          </a:ln>
        </p:spPr>
      </p:sp>
      <p:sp>
        <p:nvSpPr>
          <p:cNvPr id="18" name="">
            <a:extLst xmlns:a="http://schemas.openxmlformats.org/drawingml/2006/main">
              <a:ext uri="{FF2B5EF4-FFF2-40B4-BE49-F238E27FC236}">
                <a16:creationId xmlns:a16="http://schemas.microsoft.com/office/drawing/2014/main" id="{FBC1E67C-547C-494B-9BA7-77F82DD317C3}"/>
              </a:ext>
            </a:extLst>
          </p:cNvPr>
          <p:cNvSpPr>
            <a:spLocks xmlns:a="http://schemas.openxmlformats.org/drawingml/2006/main" noGrp="1"/>
          </p:cNvSpPr>
          <p:nvPr/>
        </p:nvSpPr>
        <p:spPr>
          <a:xfrm xmlns:a="http://schemas.openxmlformats.org/drawingml/2006/main">
            <a:off x="1038225" y="39624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4B860"/>
                </a:solidFill>
                <a:latin typeface="Arial"/>
                <a:ea typeface="Arial"/>
                <a:cs typeface="Arial"/>
              </a:defRPr>
            </a:defPPr>
          </a:lstStyle>
          <a:p xmlns:a="http://schemas.openxmlformats.org/drawingml/2006/main">
            <a:pPr algn="l">
              <a:defRPr sz="1500" b="1">
                <a:solidFill>
                  <a:srgbClr val="F4B860"/>
                </a:solidFill>
                <a:latin typeface="Arial"/>
                <a:ea typeface="Arial"/>
                <a:cs typeface="Arial"/>
              </a:defRPr>
            </a:pPr>
            <a:r>
              <a:rPr sz="1500" b="1">
                <a:solidFill>
                  <a:srgbClr val="F4B860"/>
                </a:solidFill>
                <a:latin typeface="Arial"/>
                <a:ea typeface="Arial"/>
                <a:cs typeface="Arial"/>
              </a:rPr>
              <a:t>P2P gRPC</a:t>
            </a:r>
          </a:p>
        </p:txBody>
      </p:sp>
      <p:sp>
        <p:nvSpPr>
          <p:cNvPr id="19" name="">
            <a:extLst xmlns:a="http://schemas.openxmlformats.org/drawingml/2006/main">
              <a:ext uri="{FF2B5EF4-FFF2-40B4-BE49-F238E27FC236}">
                <a16:creationId xmlns:a16="http://schemas.microsoft.com/office/drawing/2014/main" id="{D4F917E3-8AC3-404E-BE66-D2F1A9D7E723}"/>
              </a:ext>
            </a:extLst>
          </p:cNvPr>
          <p:cNvSpPr>
            <a:spLocks xmlns:a="http://schemas.openxmlformats.org/drawingml/2006/main" noGrp="1"/>
          </p:cNvSpPr>
          <p:nvPr/>
        </p:nvSpPr>
        <p:spPr>
          <a:xfrm xmlns:a="http://schemas.openxmlformats.org/drawingml/2006/main">
            <a:off x="3314700" y="3962400"/>
            <a:ext cx="30765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3F7FA"/>
                </a:solidFill>
                <a:latin typeface="Arial"/>
                <a:ea typeface="Arial"/>
                <a:cs typeface="Arial"/>
              </a:defRPr>
            </a:defPPr>
          </a:lstStyle>
          <a:p xmlns:a="http://schemas.openxmlformats.org/drawingml/2006/main">
            <a:pPr algn="l">
              <a:defRPr sz="1350" b="1">
                <a:solidFill>
                  <a:srgbClr val="F3F7FA"/>
                </a:solidFill>
                <a:latin typeface="Arial"/>
                <a:ea typeface="Arial"/>
                <a:cs typeface="Arial"/>
              </a:defRPr>
            </a:pPr>
            <a:r>
              <a:rPr sz="1350" b="1">
                <a:solidFill>
                  <a:srgbClr val="F3F7FA"/>
                </a:solidFill>
                <a:latin typeface="Arial"/>
                <a:ea typeface="Arial"/>
                <a:cs typeface="Arial"/>
              </a:rPr>
              <a:t>Primary node ↔ Replica nodes</a:t>
            </a:r>
          </a:p>
        </p:txBody>
      </p:sp>
      <p:sp>
        <p:nvSpPr>
          <p:cNvPr id="20" name="">
            <a:extLst xmlns:a="http://schemas.openxmlformats.org/drawingml/2006/main">
              <a:ext uri="{FF2B5EF4-FFF2-40B4-BE49-F238E27FC236}">
                <a16:creationId xmlns:a16="http://schemas.microsoft.com/office/drawing/2014/main" id="{C2402040-3DD9-483E-9E50-2EBE3590ED0A}"/>
              </a:ext>
            </a:extLst>
          </p:cNvPr>
          <p:cNvSpPr>
            <a:spLocks xmlns:a="http://schemas.openxmlformats.org/drawingml/2006/main" noGrp="1"/>
          </p:cNvSpPr>
          <p:nvPr/>
        </p:nvSpPr>
        <p:spPr>
          <a:xfrm xmlns:a="http://schemas.openxmlformats.org/drawingml/2006/main">
            <a:off x="6619875" y="3914775"/>
            <a:ext cx="457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Direct replication stream; coordinator stays out of data path</a:t>
            </a:r>
          </a:p>
        </p:txBody>
      </p:sp>
      <p:sp>
        <p:nvSpPr>
          <p:cNvPr id="21" name="">
            <a:extLst xmlns:a="http://schemas.openxmlformats.org/drawingml/2006/main">
              <a:ext uri="{FF2B5EF4-FFF2-40B4-BE49-F238E27FC236}">
                <a16:creationId xmlns:a16="http://schemas.microsoft.com/office/drawing/2014/main" id="{E59701F4-5D50-4FDF-B9D5-99D663FBCFF5}"/>
              </a:ext>
            </a:extLst>
          </p:cNvPr>
          <p:cNvSpPr>
            <a:spLocks xmlns:a="http://schemas.openxmlformats.org/drawingml/2006/main" noGrp="1"/>
          </p:cNvSpPr>
          <p:nvPr/>
        </p:nvSpPr>
        <p:spPr>
          <a:xfrm xmlns:a="http://schemas.openxmlformats.org/drawingml/2006/main">
            <a:off x="781050" y="4848225"/>
            <a:ext cx="1062990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22" name="">
            <a:extLst xmlns:a="http://schemas.openxmlformats.org/drawingml/2006/main">
              <a:ext uri="{FF2B5EF4-FFF2-40B4-BE49-F238E27FC236}">
                <a16:creationId xmlns:a16="http://schemas.microsoft.com/office/drawing/2014/main" id="{46A324DB-9B8D-425C-9164-4EAA4F057E4C}"/>
              </a:ext>
            </a:extLst>
          </p:cNvPr>
          <p:cNvSpPr>
            <a:spLocks xmlns:a="http://schemas.openxmlformats.org/drawingml/2006/main" noGrp="1"/>
          </p:cNvSpPr>
          <p:nvPr/>
        </p:nvSpPr>
        <p:spPr>
          <a:xfrm xmlns:a="http://schemas.openxmlformats.org/drawingml/2006/main">
            <a:off x="800100" y="5038725"/>
            <a:ext cx="66675" cy="590550"/>
          </a:xfrm>
          <a:prstGeom xmlns:a="http://schemas.openxmlformats.org/drawingml/2006/main" prst="roundRect">
            <a:avLst>
              <a:gd name="adj" fmla="val 28571"/>
            </a:avLst>
          </a:prstGeom>
          <a:solidFill xmlns:a="http://schemas.openxmlformats.org/drawingml/2006/main">
            <a:srgbClr val="B5A2FF"/>
          </a:solidFill>
          <a:ln xmlns:a="http://schemas.openxmlformats.org/drawingml/2006/main" w="9525">
            <a:solidFill>
              <a:srgbClr val="B5A2FF"/>
            </a:solidFill>
            <a:prstDash val="solid"/>
          </a:ln>
        </p:spPr>
      </p:sp>
      <p:sp>
        <p:nvSpPr>
          <p:cNvPr id="23" name="">
            <a:extLst xmlns:a="http://schemas.openxmlformats.org/drawingml/2006/main">
              <a:ext uri="{FF2B5EF4-FFF2-40B4-BE49-F238E27FC236}">
                <a16:creationId xmlns:a16="http://schemas.microsoft.com/office/drawing/2014/main" id="{7CDDDD00-6B2A-49E8-9233-47C8BF28DF10}"/>
              </a:ext>
            </a:extLst>
          </p:cNvPr>
          <p:cNvSpPr>
            <a:spLocks xmlns:a="http://schemas.openxmlformats.org/drawingml/2006/main" noGrp="1"/>
          </p:cNvSpPr>
          <p:nvPr/>
        </p:nvSpPr>
        <p:spPr>
          <a:xfrm xmlns:a="http://schemas.openxmlformats.org/drawingml/2006/main">
            <a:off x="1038225" y="5029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5A2FF"/>
                </a:solidFill>
                <a:latin typeface="Arial"/>
                <a:ea typeface="Arial"/>
                <a:cs typeface="Arial"/>
              </a:defRPr>
            </a:defPPr>
          </a:lstStyle>
          <a:p xmlns:a="http://schemas.openxmlformats.org/drawingml/2006/main">
            <a:pPr algn="l">
              <a:defRPr sz="1500" b="1">
                <a:solidFill>
                  <a:srgbClr val="B5A2FF"/>
                </a:solidFill>
                <a:latin typeface="Arial"/>
                <a:ea typeface="Arial"/>
                <a:cs typeface="Arial"/>
              </a:defRPr>
            </a:pPr>
            <a:r>
              <a:rPr sz="1500" b="1">
                <a:solidFill>
                  <a:srgbClr val="B5A2FF"/>
                </a:solidFill>
                <a:latin typeface="Arial"/>
                <a:ea typeface="Arial"/>
                <a:cs typeface="Arial"/>
              </a:rPr>
              <a:t>NATS pub/sub</a:t>
            </a:r>
          </a:p>
        </p:txBody>
      </p:sp>
      <p:sp>
        <p:nvSpPr>
          <p:cNvPr id="24" name="">
            <a:extLst xmlns:a="http://schemas.openxmlformats.org/drawingml/2006/main">
              <a:ext uri="{FF2B5EF4-FFF2-40B4-BE49-F238E27FC236}">
                <a16:creationId xmlns:a16="http://schemas.microsoft.com/office/drawing/2014/main" id="{440718F7-4527-4D54-86CE-25D36D9CC5F5}"/>
              </a:ext>
            </a:extLst>
          </p:cNvPr>
          <p:cNvSpPr>
            <a:spLocks xmlns:a="http://schemas.openxmlformats.org/drawingml/2006/main" noGrp="1"/>
          </p:cNvSpPr>
          <p:nvPr/>
        </p:nvSpPr>
        <p:spPr>
          <a:xfrm xmlns:a="http://schemas.openxmlformats.org/drawingml/2006/main">
            <a:off x="3314700" y="5029200"/>
            <a:ext cx="30765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3F7FA"/>
                </a:solidFill>
                <a:latin typeface="Arial"/>
                <a:ea typeface="Arial"/>
                <a:cs typeface="Arial"/>
              </a:defRPr>
            </a:defPPr>
          </a:lstStyle>
          <a:p xmlns:a="http://schemas.openxmlformats.org/drawingml/2006/main">
            <a:pPr algn="l">
              <a:defRPr sz="1350" b="1">
                <a:solidFill>
                  <a:srgbClr val="F3F7FA"/>
                </a:solidFill>
                <a:latin typeface="Arial"/>
                <a:ea typeface="Arial"/>
                <a:cs typeface="Arial"/>
              </a:defRPr>
            </a:pPr>
            <a:r>
              <a:rPr sz="1350" b="1">
                <a:solidFill>
                  <a:srgbClr val="F3F7FA"/>
                </a:solidFill>
                <a:latin typeface="Arial"/>
                <a:ea typeface="Arial"/>
                <a:cs typeface="Arial"/>
              </a:rPr>
              <a:t>Coordinator + nodes</a:t>
            </a:r>
          </a:p>
        </p:txBody>
      </p:sp>
      <p:sp>
        <p:nvSpPr>
          <p:cNvPr id="25" name="">
            <a:extLst xmlns:a="http://schemas.openxmlformats.org/drawingml/2006/main">
              <a:ext uri="{FF2B5EF4-FFF2-40B4-BE49-F238E27FC236}">
                <a16:creationId xmlns:a16="http://schemas.microsoft.com/office/drawing/2014/main" id="{C7A5BA92-6D43-405A-A983-BFE1FA9AB4CC}"/>
              </a:ext>
            </a:extLst>
          </p:cNvPr>
          <p:cNvSpPr>
            <a:spLocks xmlns:a="http://schemas.openxmlformats.org/drawingml/2006/main" noGrp="1"/>
          </p:cNvSpPr>
          <p:nvPr/>
        </p:nvSpPr>
        <p:spPr>
          <a:xfrm xmlns:a="http://schemas.openxmlformats.org/drawingml/2006/main">
            <a:off x="6619875" y="4981575"/>
            <a:ext cx="457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Lifecycle and node status event subjects</a:t>
            </a:r>
          </a:p>
        </p:txBody>
      </p:sp>
      <p:sp>
        <p:nvSpPr>
          <p:cNvPr id="26" name="">
            <a:extLst xmlns:a="http://schemas.openxmlformats.org/drawingml/2006/main">
              <a:ext uri="{FF2B5EF4-FFF2-40B4-BE49-F238E27FC236}">
                <a16:creationId xmlns:a16="http://schemas.microsoft.com/office/drawing/2014/main" id="{AC6E9A72-A20F-4001-96BA-994380B1F78D}"/>
              </a:ext>
            </a:extLst>
          </p:cNvPr>
          <p:cNvSpPr>
            <a:spLocks xmlns:a="http://schemas.openxmlformats.org/drawingml/2006/main" noGrp="1"/>
          </p:cNvSpPr>
          <p:nvPr/>
        </p:nvSpPr>
        <p:spPr>
          <a:xfrm xmlns:a="http://schemas.openxmlformats.org/drawingml/2006/main">
            <a:off x="781050" y="5915025"/>
            <a:ext cx="1062990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27" name="">
            <a:extLst xmlns:a="http://schemas.openxmlformats.org/drawingml/2006/main">
              <a:ext uri="{FF2B5EF4-FFF2-40B4-BE49-F238E27FC236}">
                <a16:creationId xmlns:a16="http://schemas.microsoft.com/office/drawing/2014/main" id="{345513CB-2E73-4694-80B1-651A07191F4F}"/>
              </a:ext>
            </a:extLst>
          </p:cNvPr>
          <p:cNvSpPr>
            <a:spLocks xmlns:a="http://schemas.openxmlformats.org/drawingml/2006/main" noGrp="1"/>
          </p:cNvSpPr>
          <p:nvPr/>
        </p:nvSpPr>
        <p:spPr>
          <a:xfrm xmlns:a="http://schemas.openxmlformats.org/drawingml/2006/main">
            <a:off x="800100" y="6096000"/>
            <a:ext cx="1838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7D3B2"/>
                </a:solidFill>
                <a:latin typeface="Arial"/>
                <a:ea typeface="Arial"/>
                <a:cs typeface="Arial"/>
              </a:defRPr>
            </a:defPPr>
          </a:lstStyle>
          <a:p xmlns:a="http://schemas.openxmlformats.org/drawingml/2006/main">
            <a:pPr algn="l">
              <a:defRPr sz="1350" b="1">
                <a:solidFill>
                  <a:srgbClr val="27D3B2"/>
                </a:solidFill>
                <a:latin typeface="Arial"/>
                <a:ea typeface="Arial"/>
                <a:cs typeface="Arial"/>
              </a:defRPr>
            </a:pPr>
            <a:r>
              <a:rPr sz="1350" b="1">
                <a:solidFill>
                  <a:srgbClr val="27D3B2"/>
                </a:solidFill>
                <a:latin typeface="Arial"/>
                <a:ea typeface="Arial"/>
                <a:cs typeface="Arial"/>
              </a:rPr>
              <a:t>Requests &amp; Logs</a:t>
            </a:r>
          </a:p>
        </p:txBody>
      </p:sp>
      <p:sp>
        <p:nvSpPr>
          <p:cNvPr id="28" name="">
            <a:extLst xmlns:a="http://schemas.openxmlformats.org/drawingml/2006/main">
              <a:ext uri="{FF2B5EF4-FFF2-40B4-BE49-F238E27FC236}">
                <a16:creationId xmlns:a16="http://schemas.microsoft.com/office/drawing/2014/main" id="{46A5CADF-0E75-4520-80A5-6CFA2411D0F9}"/>
              </a:ext>
            </a:extLst>
          </p:cNvPr>
          <p:cNvSpPr>
            <a:spLocks xmlns:a="http://schemas.openxmlformats.org/drawingml/2006/main" noGrp="1"/>
          </p:cNvSpPr>
          <p:nvPr/>
        </p:nvSpPr>
        <p:spPr>
          <a:xfrm xmlns:a="http://schemas.openxmlformats.org/drawingml/2006/main">
            <a:off x="2686050" y="6096000"/>
            <a:ext cx="714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records cross-service gRPC operations for inspection in the UI</a:t>
            </a:r>
          </a:p>
        </p:txBody>
      </p:sp>
    </p:spTree>
    <p:extLst>
      <p:ext uri="{BB962C8B-B14F-4D97-AF65-F5344CB8AC3E}">
        <p14:creationId xmlns:p14="http://schemas.microsoft.com/office/powerpoint/2010/main" val="819981333"/>
      </p:ext>
    </p:extLst>
  </p:cSld>
</p:sld>
</file>

<file path=ppt/slides/slide8.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42" name="title-8">
            <a:extLst xmlns:a="http://schemas.openxmlformats.org/drawingml/2006/main">
              <a:ext uri="{FF2B5EF4-FFF2-40B4-BE49-F238E27FC236}">
                <a16:creationId xmlns:a16="http://schemas.microsoft.com/office/drawing/2014/main" id="{A15E4D54-5495-420B-9E18-A428A4E0060F}"/>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3F7FA"/>
                </a:solidFill>
                <a:latin typeface="Arial"/>
                <a:ea typeface="Arial"/>
                <a:cs typeface="Arial"/>
              </a:defRPr>
            </a:defPPr>
          </a:lstStyle>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Operator dashboard</a:t>
            </a:r>
          </a:p>
        </p:txBody>
      </p:sp>
      <p:sp>
        <p:nvSpPr>
          <p:cNvPr id="2" name="">
            <a:extLst xmlns:a="http://schemas.openxmlformats.org/drawingml/2006/main">
              <a:ext uri="{FF2B5EF4-FFF2-40B4-BE49-F238E27FC236}">
                <a16:creationId xmlns:a16="http://schemas.microsoft.com/office/drawing/2014/main" id="{85481FFE-FFB7-4875-8C9F-2AE5E6556A4A}"/>
              </a:ext>
            </a:extLst>
          </p:cNvPr>
          <p:cNvSpPr>
            <a:spLocks xmlns:a="http://schemas.openxmlformats.org/drawingml/2006/main" noGrp="1"/>
          </p:cNvSpPr>
          <p:nvPr/>
        </p:nvSpPr>
        <p:spPr>
          <a:xfrm xmlns:a="http://schemas.openxmlformats.org/drawingml/2006/main">
            <a:off x="704850" y="962025"/>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A8BDCC"/>
                </a:solidFill>
                <a:latin typeface="Arial"/>
                <a:ea typeface="Arial"/>
                <a:cs typeface="Arial"/>
              </a:defRPr>
            </a:defPPr>
          </a:lstStyle>
          <a:p xmlns:a="http://schemas.openxmlformats.org/drawingml/2006/main">
            <a:pPr algn="l">
              <a:defRPr sz="1425" b="0">
                <a:solidFill>
                  <a:srgbClr val="A8BDCC"/>
                </a:solidFill>
                <a:latin typeface="Arial"/>
                <a:ea typeface="Arial"/>
                <a:cs typeface="Arial"/>
              </a:defRPr>
            </a:pPr>
            <a:r>
              <a:rPr sz="1425" b="0">
                <a:solidFill>
                  <a:srgbClr val="A8BDCC"/>
                </a:solidFill>
                <a:latin typeface="Arial"/>
                <a:ea typeface="Arial"/>
                <a:cs typeface="Arial"/>
              </a:rPr>
              <a:t>The React interface exposes the repository’s state and its communication traces.</a:t>
            </a:r>
          </a:p>
        </p:txBody>
      </p:sp>
      <p:sp>
        <p:nvSpPr>
          <p:cNvPr id="3" name="">
            <a:extLst xmlns:a="http://schemas.openxmlformats.org/drawingml/2006/main">
              <a:ext uri="{FF2B5EF4-FFF2-40B4-BE49-F238E27FC236}">
                <a16:creationId xmlns:a16="http://schemas.microsoft.com/office/drawing/2014/main" id="{B7079B80-107B-4C07-9002-10015497C996}"/>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0374A"/>
            </a:solidFill>
            <a:prstDash val="solid"/>
          </a:ln>
        </p:spPr>
      </p:sp>
      <p:sp>
        <p:nvSpPr>
          <p:cNvPr id="4" name="">
            <a:extLst xmlns:a="http://schemas.openxmlformats.org/drawingml/2006/main">
              <a:ext uri="{FF2B5EF4-FFF2-40B4-BE49-F238E27FC236}">
                <a16:creationId xmlns:a16="http://schemas.microsoft.com/office/drawing/2014/main" id="{4190C85B-1785-4E28-9423-E65439BC43A0}"/>
              </a:ext>
            </a:extLst>
          </p:cNvPr>
          <p:cNvSpPr>
            <a:spLocks xmlns:a="http://schemas.openxmlformats.org/drawingml/2006/main" noGrp="1"/>
          </p:cNvSpPr>
          <p:nvPr/>
        </p:nvSpPr>
        <p:spPr>
          <a:xfrm xmlns:a="http://schemas.openxmlformats.org/drawingml/2006/main">
            <a:off x="704850" y="64960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892A6"/>
                </a:solidFill>
                <a:latin typeface="Arial"/>
                <a:ea typeface="Arial"/>
                <a:cs typeface="Arial"/>
              </a:defRPr>
            </a:defPPr>
          </a:lstStyle>
          <a:p xmlns:a="http://schemas.openxmlformats.org/drawingml/2006/main">
            <a:pPr algn="l">
              <a:defRPr sz="900" b="0">
                <a:solidFill>
                  <a:srgbClr val="7892A6"/>
                </a:solidFill>
                <a:latin typeface="Arial"/>
                <a:ea typeface="Arial"/>
                <a:cs typeface="Arial"/>
              </a:defRPr>
            </a:pPr>
            <a:r>
              <a:rPr sz="900" b="0">
                <a:solidFill>
                  <a:srgbClr val="7892A6"/>
                </a:solidFill>
                <a:latin typeface="Arial"/>
                <a:ea typeface="Arial"/>
                <a:cs typeface="Arial"/>
              </a:rPr>
              <a:t>DISTRIBUTED MODEL REPOSITORY  /  PROJECT WALKTHROUGH</a:t>
            </a:r>
          </a:p>
        </p:txBody>
      </p:sp>
      <p:sp>
        <p:nvSpPr>
          <p:cNvPr id="5" name="">
            <a:extLst xmlns:a="http://schemas.openxmlformats.org/drawingml/2006/main">
              <a:ext uri="{FF2B5EF4-FFF2-40B4-BE49-F238E27FC236}">
                <a16:creationId xmlns:a16="http://schemas.microsoft.com/office/drawing/2014/main" id="{EC8F34E2-E957-4C14-A64F-793F02A110FB}"/>
              </a:ext>
            </a:extLst>
          </p:cNvPr>
          <p:cNvSpPr>
            <a:spLocks xmlns:a="http://schemas.openxmlformats.org/drawingml/2006/main" noGrp="1"/>
          </p:cNvSpPr>
          <p:nvPr/>
        </p:nvSpPr>
        <p:spPr>
          <a:xfrm xmlns:a="http://schemas.openxmlformats.org/drawingml/2006/main">
            <a:off x="11049000" y="64865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7892A6"/>
                </a:solidFill>
                <a:latin typeface="Arial"/>
                <a:ea typeface="Arial"/>
                <a:cs typeface="Arial"/>
              </a:defRPr>
            </a:defPPr>
          </a:lstStyle>
          <a:p xmlns:a="http://schemas.openxmlformats.org/drawingml/2006/main">
            <a:pPr algn="r">
              <a:defRPr sz="975" b="0">
                <a:solidFill>
                  <a:srgbClr val="7892A6"/>
                </a:solidFill>
                <a:latin typeface="Arial"/>
                <a:ea typeface="Arial"/>
                <a:cs typeface="Arial"/>
              </a:defRPr>
            </a:pPr>
            <a:r>
              <a:rPr sz="975" b="0">
                <a:solidFill>
                  <a:srgbClr val="7892A6"/>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124D7F20-DC9B-4DB7-A19B-499EC349F443}"/>
              </a:ext>
            </a:extLst>
          </p:cNvPr>
          <p:cNvSpPr>
            <a:spLocks xmlns:a="http://schemas.openxmlformats.org/drawingml/2006/main" noGrp="1"/>
          </p:cNvSpPr>
          <p:nvPr/>
        </p:nvSpPr>
        <p:spPr>
          <a:xfrm xmlns:a="http://schemas.openxmlformats.org/drawingml/2006/main">
            <a:off x="714375" y="2076450"/>
            <a:ext cx="1952625" cy="2076450"/>
          </a:xfrm>
          <a:prstGeom xmlns:a="http://schemas.openxmlformats.org/drawingml/2006/main" prst="roundRect">
            <a:avLst>
              <a:gd name="adj" fmla="val 3902"/>
            </a:avLst>
          </a:prstGeom>
          <a:solidFill xmlns:a="http://schemas.openxmlformats.org/drawingml/2006/main">
            <a:srgbClr val="111E2D"/>
          </a:solidFill>
          <a:ln xmlns:a="http://schemas.openxmlformats.org/drawingml/2006/main" w="9525">
            <a:solidFill>
              <a:srgbClr val="29465B"/>
            </a:solidFill>
            <a:prstDash val="solid"/>
          </a:ln>
        </p:spPr>
      </p:sp>
      <p:sp>
        <p:nvSpPr>
          <p:cNvPr id="7" name="">
            <a:extLst xmlns:a="http://schemas.openxmlformats.org/drawingml/2006/main">
              <a:ext uri="{FF2B5EF4-FFF2-40B4-BE49-F238E27FC236}">
                <a16:creationId xmlns:a16="http://schemas.microsoft.com/office/drawing/2014/main" id="{32AB8437-D990-4D5C-A59B-00733D33CB5F}"/>
              </a:ext>
            </a:extLst>
          </p:cNvPr>
          <p:cNvSpPr>
            <a:spLocks xmlns:a="http://schemas.openxmlformats.org/drawingml/2006/main" noGrp="1"/>
          </p:cNvSpPr>
          <p:nvPr/>
        </p:nvSpPr>
        <p:spPr>
          <a:xfrm xmlns:a="http://schemas.openxmlformats.org/drawingml/2006/main">
            <a:off x="714375" y="2076450"/>
            <a:ext cx="1952625" cy="76200"/>
          </a:xfrm>
          <a:prstGeom xmlns:a="http://schemas.openxmlformats.org/drawingml/2006/main" prst="roundRect">
            <a:avLst>
              <a:gd name="adj" fmla="val 25000"/>
            </a:avLst>
          </a:prstGeom>
          <a:solidFill xmlns:a="http://schemas.openxmlformats.org/drawingml/2006/main">
            <a:srgbClr val="27D3B2"/>
          </a:solidFill>
          <a:ln xmlns:a="http://schemas.openxmlformats.org/drawingml/2006/main" w="9525">
            <a:solidFill>
              <a:srgbClr val="27D3B2"/>
            </a:solidFill>
            <a:prstDash val="solid"/>
          </a:ln>
        </p:spPr>
      </p:sp>
      <p:sp>
        <p:nvSpPr>
          <p:cNvPr id="8" name="">
            <a:extLst xmlns:a="http://schemas.openxmlformats.org/drawingml/2006/main">
              <a:ext uri="{FF2B5EF4-FFF2-40B4-BE49-F238E27FC236}">
                <a16:creationId xmlns:a16="http://schemas.microsoft.com/office/drawing/2014/main" id="{543423CD-E884-4B93-8596-9DB0CBBA1C1D}"/>
              </a:ext>
            </a:extLst>
          </p:cNvPr>
          <p:cNvSpPr>
            <a:spLocks xmlns:a="http://schemas.openxmlformats.org/drawingml/2006/main" noGrp="1"/>
          </p:cNvSpPr>
          <p:nvPr/>
        </p:nvSpPr>
        <p:spPr>
          <a:xfrm xmlns:a="http://schemas.openxmlformats.org/drawingml/2006/main">
            <a:off x="866775" y="2333625"/>
            <a:ext cx="165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27D3B2"/>
                </a:solidFill>
                <a:latin typeface="Arial"/>
                <a:ea typeface="Arial"/>
                <a:cs typeface="Arial"/>
              </a:defRPr>
            </a:defPPr>
          </a:lstStyle>
          <a:p xmlns:a="http://schemas.openxmlformats.org/drawingml/2006/main">
            <a:pPr algn="l">
              <a:defRPr sz="1575" b="1">
                <a:solidFill>
                  <a:srgbClr val="27D3B2"/>
                </a:solidFill>
                <a:latin typeface="Arial"/>
                <a:ea typeface="Arial"/>
                <a:cs typeface="Arial"/>
              </a:defRPr>
            </a:pPr>
            <a:r>
              <a:rPr sz="1575" b="1">
                <a:solidFill>
                  <a:srgbClr val="27D3B2"/>
                </a:solidFill>
                <a:latin typeface="Arial"/>
                <a:ea typeface="Arial"/>
                <a:cs typeface="Arial"/>
              </a:rPr>
              <a:t>Dashboard</a:t>
            </a:r>
          </a:p>
        </p:txBody>
      </p:sp>
      <p:sp>
        <p:nvSpPr>
          <p:cNvPr id="9" name="">
            <a:extLst xmlns:a="http://schemas.openxmlformats.org/drawingml/2006/main">
              <a:ext uri="{FF2B5EF4-FFF2-40B4-BE49-F238E27FC236}">
                <a16:creationId xmlns:a16="http://schemas.microsoft.com/office/drawing/2014/main" id="{5CC951A9-4580-4F1B-9A9E-C4AC3C332B88}"/>
              </a:ext>
            </a:extLst>
          </p:cNvPr>
          <p:cNvSpPr>
            <a:spLocks xmlns:a="http://schemas.openxmlformats.org/drawingml/2006/main" noGrp="1"/>
          </p:cNvSpPr>
          <p:nvPr/>
        </p:nvSpPr>
        <p:spPr>
          <a:xfrm xmlns:a="http://schemas.openxmlformats.org/drawingml/2006/main">
            <a:off x="866775" y="2895600"/>
            <a:ext cx="1619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DCC"/>
                </a:solidFill>
                <a:latin typeface="Arial"/>
                <a:ea typeface="Arial"/>
                <a:cs typeface="Arial"/>
              </a:defRPr>
            </a:defPPr>
          </a:lstStyle>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Cluster summary</a:t>
            </a:r>
          </a:p>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and topology</a:t>
            </a:r>
          </a:p>
        </p:txBody>
      </p:sp>
      <p:sp>
        <p:nvSpPr>
          <p:cNvPr id="10" name="">
            <a:extLst xmlns:a="http://schemas.openxmlformats.org/drawingml/2006/main">
              <a:ext uri="{FF2B5EF4-FFF2-40B4-BE49-F238E27FC236}">
                <a16:creationId xmlns:a16="http://schemas.microsoft.com/office/drawing/2014/main" id="{12EA0D01-6A93-4DCF-96FC-E27677EA3586}"/>
              </a:ext>
            </a:extLst>
          </p:cNvPr>
          <p:cNvSpPr>
            <a:spLocks xmlns:a="http://schemas.openxmlformats.org/drawingml/2006/main" noGrp="1"/>
          </p:cNvSpPr>
          <p:nvPr/>
        </p:nvSpPr>
        <p:spPr>
          <a:xfrm xmlns:a="http://schemas.openxmlformats.org/drawingml/2006/main">
            <a:off x="876300" y="3752850"/>
            <a:ext cx="1609725"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1" name="">
            <a:extLst xmlns:a="http://schemas.openxmlformats.org/drawingml/2006/main">
              <a:ext uri="{FF2B5EF4-FFF2-40B4-BE49-F238E27FC236}">
                <a16:creationId xmlns:a16="http://schemas.microsoft.com/office/drawing/2014/main" id="{018BB34F-EA45-4C08-90BE-25A1D329ACD5}"/>
              </a:ext>
            </a:extLst>
          </p:cNvPr>
          <p:cNvSpPr>
            <a:spLocks xmlns:a="http://schemas.openxmlformats.org/drawingml/2006/main" noGrp="1"/>
          </p:cNvSpPr>
          <p:nvPr/>
        </p:nvSpPr>
        <p:spPr>
          <a:xfrm xmlns:a="http://schemas.openxmlformats.org/drawingml/2006/main">
            <a:off x="876300" y="38766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7892A6"/>
                </a:solidFill>
                <a:latin typeface="Arial"/>
                <a:ea typeface="Arial"/>
                <a:cs typeface="Arial"/>
              </a:defRPr>
            </a:defPPr>
          </a:lstStyle>
          <a:p xmlns:a="http://schemas.openxmlformats.org/drawingml/2006/main">
            <a:pPr algn="l">
              <a:defRPr sz="900" b="1">
                <a:solidFill>
                  <a:srgbClr val="7892A6"/>
                </a:solidFill>
                <a:latin typeface="Arial"/>
                <a:ea typeface="Arial"/>
                <a:cs typeface="Arial"/>
              </a:defRPr>
            </a:pPr>
            <a:r>
              <a:rPr sz="900" b="1">
                <a:solidFill>
                  <a:srgbClr val="7892A6"/>
                </a:solidFill>
                <a:latin typeface="Arial"/>
                <a:ea typeface="Arial"/>
                <a:cs typeface="Arial"/>
              </a:rPr>
              <a:t>LIVE VIEW</a:t>
            </a:r>
          </a:p>
        </p:txBody>
      </p:sp>
      <p:sp>
        <p:nvSpPr>
          <p:cNvPr id="12" name="">
            <a:extLst xmlns:a="http://schemas.openxmlformats.org/drawingml/2006/main">
              <a:ext uri="{FF2B5EF4-FFF2-40B4-BE49-F238E27FC236}">
                <a16:creationId xmlns:a16="http://schemas.microsoft.com/office/drawing/2014/main" id="{B9A89D20-A437-4FB9-BE37-AF967EBFE55B}"/>
              </a:ext>
            </a:extLst>
          </p:cNvPr>
          <p:cNvSpPr>
            <a:spLocks xmlns:a="http://schemas.openxmlformats.org/drawingml/2006/main" noGrp="1"/>
          </p:cNvSpPr>
          <p:nvPr/>
        </p:nvSpPr>
        <p:spPr>
          <a:xfrm xmlns:a="http://schemas.openxmlformats.org/drawingml/2006/main">
            <a:off x="2876550" y="2076450"/>
            <a:ext cx="1952625" cy="2076450"/>
          </a:xfrm>
          <a:prstGeom xmlns:a="http://schemas.openxmlformats.org/drawingml/2006/main" prst="roundRect">
            <a:avLst>
              <a:gd name="adj" fmla="val 3902"/>
            </a:avLst>
          </a:prstGeom>
          <a:solidFill xmlns:a="http://schemas.openxmlformats.org/drawingml/2006/main">
            <a:srgbClr val="111E2D"/>
          </a:solidFill>
          <a:ln xmlns:a="http://schemas.openxmlformats.org/drawingml/2006/main" w="9525">
            <a:solidFill>
              <a:srgbClr val="29465B"/>
            </a:solidFill>
            <a:prstDash val="solid"/>
          </a:ln>
        </p:spPr>
      </p:sp>
      <p:sp>
        <p:nvSpPr>
          <p:cNvPr id="13" name="">
            <a:extLst xmlns:a="http://schemas.openxmlformats.org/drawingml/2006/main">
              <a:ext uri="{FF2B5EF4-FFF2-40B4-BE49-F238E27FC236}">
                <a16:creationId xmlns:a16="http://schemas.microsoft.com/office/drawing/2014/main" id="{1F9CA62F-9C87-42A5-873F-3845F5AD71BB}"/>
              </a:ext>
            </a:extLst>
          </p:cNvPr>
          <p:cNvSpPr>
            <a:spLocks xmlns:a="http://schemas.openxmlformats.org/drawingml/2006/main" noGrp="1"/>
          </p:cNvSpPr>
          <p:nvPr/>
        </p:nvSpPr>
        <p:spPr>
          <a:xfrm xmlns:a="http://schemas.openxmlformats.org/drawingml/2006/main">
            <a:off x="2876550" y="2076450"/>
            <a:ext cx="1952625" cy="76200"/>
          </a:xfrm>
          <a:prstGeom xmlns:a="http://schemas.openxmlformats.org/drawingml/2006/main" prst="roundRect">
            <a:avLst>
              <a:gd name="adj" fmla="val 25000"/>
            </a:avLst>
          </a:prstGeom>
          <a:solidFill xmlns:a="http://schemas.openxmlformats.org/drawingml/2006/main">
            <a:srgbClr val="6FB7FF"/>
          </a:solidFill>
          <a:ln xmlns:a="http://schemas.openxmlformats.org/drawingml/2006/main" w="9525">
            <a:solidFill>
              <a:srgbClr val="6FB7FF"/>
            </a:solidFill>
            <a:prstDash val="solid"/>
          </a:ln>
        </p:spPr>
      </p:sp>
      <p:sp>
        <p:nvSpPr>
          <p:cNvPr id="14" name="">
            <a:extLst xmlns:a="http://schemas.openxmlformats.org/drawingml/2006/main">
              <a:ext uri="{FF2B5EF4-FFF2-40B4-BE49-F238E27FC236}">
                <a16:creationId xmlns:a16="http://schemas.microsoft.com/office/drawing/2014/main" id="{EACCB76F-2002-4824-8386-6DEF2D59FD47}"/>
              </a:ext>
            </a:extLst>
          </p:cNvPr>
          <p:cNvSpPr>
            <a:spLocks xmlns:a="http://schemas.openxmlformats.org/drawingml/2006/main" noGrp="1"/>
          </p:cNvSpPr>
          <p:nvPr/>
        </p:nvSpPr>
        <p:spPr>
          <a:xfrm xmlns:a="http://schemas.openxmlformats.org/drawingml/2006/main">
            <a:off x="3028950" y="2333625"/>
            <a:ext cx="165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6FB7FF"/>
                </a:solidFill>
                <a:latin typeface="Arial"/>
                <a:ea typeface="Arial"/>
                <a:cs typeface="Arial"/>
              </a:defRPr>
            </a:defPPr>
          </a:lstStyle>
          <a:p xmlns:a="http://schemas.openxmlformats.org/drawingml/2006/main">
            <a:pPr algn="l">
              <a:defRPr sz="1575" b="1">
                <a:solidFill>
                  <a:srgbClr val="6FB7FF"/>
                </a:solidFill>
                <a:latin typeface="Arial"/>
                <a:ea typeface="Arial"/>
                <a:cs typeface="Arial"/>
              </a:defRPr>
            </a:pPr>
            <a:r>
              <a:rPr sz="1575" b="1">
                <a:solidFill>
                  <a:srgbClr val="6FB7FF"/>
                </a:solidFill>
                <a:latin typeface="Arial"/>
                <a:ea typeface="Arial"/>
                <a:cs typeface="Arial"/>
              </a:rPr>
              <a:t>Models</a:t>
            </a:r>
          </a:p>
        </p:txBody>
      </p:sp>
      <p:sp>
        <p:nvSpPr>
          <p:cNvPr id="15" name="">
            <a:extLst xmlns:a="http://schemas.openxmlformats.org/drawingml/2006/main">
              <a:ext uri="{FF2B5EF4-FFF2-40B4-BE49-F238E27FC236}">
                <a16:creationId xmlns:a16="http://schemas.microsoft.com/office/drawing/2014/main" id="{D5A698EE-74B8-4193-801E-5C47242DEA42}"/>
              </a:ext>
            </a:extLst>
          </p:cNvPr>
          <p:cNvSpPr>
            <a:spLocks xmlns:a="http://schemas.openxmlformats.org/drawingml/2006/main" noGrp="1"/>
          </p:cNvSpPr>
          <p:nvPr/>
        </p:nvSpPr>
        <p:spPr>
          <a:xfrm xmlns:a="http://schemas.openxmlformats.org/drawingml/2006/main">
            <a:off x="3028950" y="2895600"/>
            <a:ext cx="1619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DCC"/>
                </a:solidFill>
                <a:latin typeface="Arial"/>
                <a:ea typeface="Arial"/>
                <a:cs typeface="Arial"/>
              </a:defRPr>
            </a:defPPr>
          </a:lstStyle>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Repository list</a:t>
            </a:r>
          </a:p>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and model details</a:t>
            </a:r>
          </a:p>
        </p:txBody>
      </p:sp>
      <p:sp>
        <p:nvSpPr>
          <p:cNvPr id="16" name="">
            <a:extLst xmlns:a="http://schemas.openxmlformats.org/drawingml/2006/main">
              <a:ext uri="{FF2B5EF4-FFF2-40B4-BE49-F238E27FC236}">
                <a16:creationId xmlns:a16="http://schemas.microsoft.com/office/drawing/2014/main" id="{E0245513-AB7A-4398-9DA5-6314261D40FB}"/>
              </a:ext>
            </a:extLst>
          </p:cNvPr>
          <p:cNvSpPr>
            <a:spLocks xmlns:a="http://schemas.openxmlformats.org/drawingml/2006/main" noGrp="1"/>
          </p:cNvSpPr>
          <p:nvPr/>
        </p:nvSpPr>
        <p:spPr>
          <a:xfrm xmlns:a="http://schemas.openxmlformats.org/drawingml/2006/main">
            <a:off x="3038475" y="3752850"/>
            <a:ext cx="1609725"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7" name="">
            <a:extLst xmlns:a="http://schemas.openxmlformats.org/drawingml/2006/main">
              <a:ext uri="{FF2B5EF4-FFF2-40B4-BE49-F238E27FC236}">
                <a16:creationId xmlns:a16="http://schemas.microsoft.com/office/drawing/2014/main" id="{E3A9CCB8-1E84-4995-92B2-080A0D247C37}"/>
              </a:ext>
            </a:extLst>
          </p:cNvPr>
          <p:cNvSpPr>
            <a:spLocks xmlns:a="http://schemas.openxmlformats.org/drawingml/2006/main" noGrp="1"/>
          </p:cNvSpPr>
          <p:nvPr/>
        </p:nvSpPr>
        <p:spPr>
          <a:xfrm xmlns:a="http://schemas.openxmlformats.org/drawingml/2006/main">
            <a:off x="3038475" y="38766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7892A6"/>
                </a:solidFill>
                <a:latin typeface="Arial"/>
                <a:ea typeface="Arial"/>
                <a:cs typeface="Arial"/>
              </a:defRPr>
            </a:defPPr>
          </a:lstStyle>
          <a:p xmlns:a="http://schemas.openxmlformats.org/drawingml/2006/main">
            <a:pPr algn="l">
              <a:defRPr sz="900" b="1">
                <a:solidFill>
                  <a:srgbClr val="7892A6"/>
                </a:solidFill>
                <a:latin typeface="Arial"/>
                <a:ea typeface="Arial"/>
                <a:cs typeface="Arial"/>
              </a:defRPr>
            </a:pPr>
            <a:r>
              <a:rPr sz="900" b="1">
                <a:solidFill>
                  <a:srgbClr val="7892A6"/>
                </a:solidFill>
                <a:latin typeface="Arial"/>
                <a:ea typeface="Arial"/>
                <a:cs typeface="Arial"/>
              </a:rPr>
              <a:t>LIVE VIEW</a:t>
            </a:r>
          </a:p>
        </p:txBody>
      </p:sp>
      <p:sp>
        <p:nvSpPr>
          <p:cNvPr id="18" name="">
            <a:extLst xmlns:a="http://schemas.openxmlformats.org/drawingml/2006/main">
              <a:ext uri="{FF2B5EF4-FFF2-40B4-BE49-F238E27FC236}">
                <a16:creationId xmlns:a16="http://schemas.microsoft.com/office/drawing/2014/main" id="{33E9ABB9-90BD-4F00-A65A-EA2610EF62F5}"/>
              </a:ext>
            </a:extLst>
          </p:cNvPr>
          <p:cNvSpPr>
            <a:spLocks xmlns:a="http://schemas.openxmlformats.org/drawingml/2006/main" noGrp="1"/>
          </p:cNvSpPr>
          <p:nvPr/>
        </p:nvSpPr>
        <p:spPr>
          <a:xfrm xmlns:a="http://schemas.openxmlformats.org/drawingml/2006/main">
            <a:off x="5038725" y="2076450"/>
            <a:ext cx="1952625" cy="2076450"/>
          </a:xfrm>
          <a:prstGeom xmlns:a="http://schemas.openxmlformats.org/drawingml/2006/main" prst="roundRect">
            <a:avLst>
              <a:gd name="adj" fmla="val 3902"/>
            </a:avLst>
          </a:prstGeom>
          <a:solidFill xmlns:a="http://schemas.openxmlformats.org/drawingml/2006/main">
            <a:srgbClr val="111E2D"/>
          </a:solidFill>
          <a:ln xmlns:a="http://schemas.openxmlformats.org/drawingml/2006/main" w="9525">
            <a:solidFill>
              <a:srgbClr val="29465B"/>
            </a:solidFill>
            <a:prstDash val="solid"/>
          </a:ln>
        </p:spPr>
      </p:sp>
      <p:sp>
        <p:nvSpPr>
          <p:cNvPr id="19" name="">
            <a:extLst xmlns:a="http://schemas.openxmlformats.org/drawingml/2006/main">
              <a:ext uri="{FF2B5EF4-FFF2-40B4-BE49-F238E27FC236}">
                <a16:creationId xmlns:a16="http://schemas.microsoft.com/office/drawing/2014/main" id="{3B8943F6-B871-4381-B425-A603B34A5867}"/>
              </a:ext>
            </a:extLst>
          </p:cNvPr>
          <p:cNvSpPr>
            <a:spLocks xmlns:a="http://schemas.openxmlformats.org/drawingml/2006/main" noGrp="1"/>
          </p:cNvSpPr>
          <p:nvPr/>
        </p:nvSpPr>
        <p:spPr>
          <a:xfrm xmlns:a="http://schemas.openxmlformats.org/drawingml/2006/main">
            <a:off x="5038725" y="2076450"/>
            <a:ext cx="1952625" cy="76200"/>
          </a:xfrm>
          <a:prstGeom xmlns:a="http://schemas.openxmlformats.org/drawingml/2006/main" prst="roundRect">
            <a:avLst>
              <a:gd name="adj" fmla="val 25000"/>
            </a:avLst>
          </a:prstGeom>
          <a:solidFill xmlns:a="http://schemas.openxmlformats.org/drawingml/2006/main">
            <a:srgbClr val="F4B860"/>
          </a:solidFill>
          <a:ln xmlns:a="http://schemas.openxmlformats.org/drawingml/2006/main" w="9525">
            <a:solidFill>
              <a:srgbClr val="F4B860"/>
            </a:solidFill>
            <a:prstDash val="solid"/>
          </a:ln>
        </p:spPr>
      </p:sp>
      <p:sp>
        <p:nvSpPr>
          <p:cNvPr id="20" name="">
            <a:extLst xmlns:a="http://schemas.openxmlformats.org/drawingml/2006/main">
              <a:ext uri="{FF2B5EF4-FFF2-40B4-BE49-F238E27FC236}">
                <a16:creationId xmlns:a16="http://schemas.microsoft.com/office/drawing/2014/main" id="{4D37D512-2AE8-4ADB-8CB0-13648A15F8B2}"/>
              </a:ext>
            </a:extLst>
          </p:cNvPr>
          <p:cNvSpPr>
            <a:spLocks xmlns:a="http://schemas.openxmlformats.org/drawingml/2006/main" noGrp="1"/>
          </p:cNvSpPr>
          <p:nvPr/>
        </p:nvSpPr>
        <p:spPr>
          <a:xfrm xmlns:a="http://schemas.openxmlformats.org/drawingml/2006/main">
            <a:off x="5191125" y="2333625"/>
            <a:ext cx="165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4B860"/>
                </a:solidFill>
                <a:latin typeface="Arial"/>
                <a:ea typeface="Arial"/>
                <a:cs typeface="Arial"/>
              </a:defRPr>
            </a:defPPr>
          </a:lstStyle>
          <a:p xmlns:a="http://schemas.openxmlformats.org/drawingml/2006/main">
            <a:pPr algn="l">
              <a:defRPr sz="1575" b="1">
                <a:solidFill>
                  <a:srgbClr val="F4B860"/>
                </a:solidFill>
                <a:latin typeface="Arial"/>
                <a:ea typeface="Arial"/>
                <a:cs typeface="Arial"/>
              </a:defRPr>
            </a:pPr>
            <a:r>
              <a:rPr sz="1575" b="1">
                <a:solidFill>
                  <a:srgbClr val="F4B860"/>
                </a:solidFill>
                <a:latin typeface="Arial"/>
                <a:ea typeface="Arial"/>
                <a:cs typeface="Arial"/>
              </a:rPr>
              <a:t>Storage nodes</a:t>
            </a:r>
          </a:p>
        </p:txBody>
      </p:sp>
      <p:sp>
        <p:nvSpPr>
          <p:cNvPr id="21" name="">
            <a:extLst xmlns:a="http://schemas.openxmlformats.org/drawingml/2006/main">
              <a:ext uri="{FF2B5EF4-FFF2-40B4-BE49-F238E27FC236}">
                <a16:creationId xmlns:a16="http://schemas.microsoft.com/office/drawing/2014/main" id="{989FBE94-160E-49E2-A40C-047A228D6D77}"/>
              </a:ext>
            </a:extLst>
          </p:cNvPr>
          <p:cNvSpPr>
            <a:spLocks xmlns:a="http://schemas.openxmlformats.org/drawingml/2006/main" noGrp="1"/>
          </p:cNvSpPr>
          <p:nvPr/>
        </p:nvSpPr>
        <p:spPr>
          <a:xfrm xmlns:a="http://schemas.openxmlformats.org/drawingml/2006/main">
            <a:off x="5191125" y="2895600"/>
            <a:ext cx="1619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DCC"/>
                </a:solidFill>
                <a:latin typeface="Arial"/>
                <a:ea typeface="Arial"/>
                <a:cs typeface="Arial"/>
              </a:defRPr>
            </a:defPPr>
          </a:lstStyle>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Online status</a:t>
            </a:r>
          </a:p>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and capacity</a:t>
            </a:r>
          </a:p>
        </p:txBody>
      </p:sp>
      <p:sp>
        <p:nvSpPr>
          <p:cNvPr id="22" name="">
            <a:extLst xmlns:a="http://schemas.openxmlformats.org/drawingml/2006/main">
              <a:ext uri="{FF2B5EF4-FFF2-40B4-BE49-F238E27FC236}">
                <a16:creationId xmlns:a16="http://schemas.microsoft.com/office/drawing/2014/main" id="{A260E875-D099-4F00-B821-8B1277433BA9}"/>
              </a:ext>
            </a:extLst>
          </p:cNvPr>
          <p:cNvSpPr>
            <a:spLocks xmlns:a="http://schemas.openxmlformats.org/drawingml/2006/main" noGrp="1"/>
          </p:cNvSpPr>
          <p:nvPr/>
        </p:nvSpPr>
        <p:spPr>
          <a:xfrm xmlns:a="http://schemas.openxmlformats.org/drawingml/2006/main">
            <a:off x="5200650" y="3752850"/>
            <a:ext cx="1609725"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23" name="">
            <a:extLst xmlns:a="http://schemas.openxmlformats.org/drawingml/2006/main">
              <a:ext uri="{FF2B5EF4-FFF2-40B4-BE49-F238E27FC236}">
                <a16:creationId xmlns:a16="http://schemas.microsoft.com/office/drawing/2014/main" id="{9614F9DE-99BA-4BA9-9E83-9AC1578BABA3}"/>
              </a:ext>
            </a:extLst>
          </p:cNvPr>
          <p:cNvSpPr>
            <a:spLocks xmlns:a="http://schemas.openxmlformats.org/drawingml/2006/main" noGrp="1"/>
          </p:cNvSpPr>
          <p:nvPr/>
        </p:nvSpPr>
        <p:spPr>
          <a:xfrm xmlns:a="http://schemas.openxmlformats.org/drawingml/2006/main">
            <a:off x="5200650" y="38766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7892A6"/>
                </a:solidFill>
                <a:latin typeface="Arial"/>
                <a:ea typeface="Arial"/>
                <a:cs typeface="Arial"/>
              </a:defRPr>
            </a:defPPr>
          </a:lstStyle>
          <a:p xmlns:a="http://schemas.openxmlformats.org/drawingml/2006/main">
            <a:pPr algn="l">
              <a:defRPr sz="900" b="1">
                <a:solidFill>
                  <a:srgbClr val="7892A6"/>
                </a:solidFill>
                <a:latin typeface="Arial"/>
                <a:ea typeface="Arial"/>
                <a:cs typeface="Arial"/>
              </a:defRPr>
            </a:pPr>
            <a:r>
              <a:rPr sz="900" b="1">
                <a:solidFill>
                  <a:srgbClr val="7892A6"/>
                </a:solidFill>
                <a:latin typeface="Arial"/>
                <a:ea typeface="Arial"/>
                <a:cs typeface="Arial"/>
              </a:rPr>
              <a:t>LIVE VIEW</a:t>
            </a:r>
          </a:p>
        </p:txBody>
      </p:sp>
      <p:sp>
        <p:nvSpPr>
          <p:cNvPr id="24" name="">
            <a:extLst xmlns:a="http://schemas.openxmlformats.org/drawingml/2006/main">
              <a:ext uri="{FF2B5EF4-FFF2-40B4-BE49-F238E27FC236}">
                <a16:creationId xmlns:a16="http://schemas.microsoft.com/office/drawing/2014/main" id="{516356AD-008F-494B-B8EF-0D7A34FBDC7B}"/>
              </a:ext>
            </a:extLst>
          </p:cNvPr>
          <p:cNvSpPr>
            <a:spLocks xmlns:a="http://schemas.openxmlformats.org/drawingml/2006/main" noGrp="1"/>
          </p:cNvSpPr>
          <p:nvPr/>
        </p:nvSpPr>
        <p:spPr>
          <a:xfrm xmlns:a="http://schemas.openxmlformats.org/drawingml/2006/main">
            <a:off x="7200900" y="2076450"/>
            <a:ext cx="1952625" cy="2076450"/>
          </a:xfrm>
          <a:prstGeom xmlns:a="http://schemas.openxmlformats.org/drawingml/2006/main" prst="roundRect">
            <a:avLst>
              <a:gd name="adj" fmla="val 3902"/>
            </a:avLst>
          </a:prstGeom>
          <a:solidFill xmlns:a="http://schemas.openxmlformats.org/drawingml/2006/main">
            <a:srgbClr val="111E2D"/>
          </a:solidFill>
          <a:ln xmlns:a="http://schemas.openxmlformats.org/drawingml/2006/main" w="9525">
            <a:solidFill>
              <a:srgbClr val="29465B"/>
            </a:solidFill>
            <a:prstDash val="solid"/>
          </a:ln>
        </p:spPr>
      </p:sp>
      <p:sp>
        <p:nvSpPr>
          <p:cNvPr id="25" name="">
            <a:extLst xmlns:a="http://schemas.openxmlformats.org/drawingml/2006/main">
              <a:ext uri="{FF2B5EF4-FFF2-40B4-BE49-F238E27FC236}">
                <a16:creationId xmlns:a16="http://schemas.microsoft.com/office/drawing/2014/main" id="{A5062F2E-6F49-4430-825A-6D6267FA48DA}"/>
              </a:ext>
            </a:extLst>
          </p:cNvPr>
          <p:cNvSpPr>
            <a:spLocks xmlns:a="http://schemas.openxmlformats.org/drawingml/2006/main" noGrp="1"/>
          </p:cNvSpPr>
          <p:nvPr/>
        </p:nvSpPr>
        <p:spPr>
          <a:xfrm xmlns:a="http://schemas.openxmlformats.org/drawingml/2006/main">
            <a:off x="7200900" y="2076450"/>
            <a:ext cx="1952625" cy="76200"/>
          </a:xfrm>
          <a:prstGeom xmlns:a="http://schemas.openxmlformats.org/drawingml/2006/main" prst="roundRect">
            <a:avLst>
              <a:gd name="adj" fmla="val 25000"/>
            </a:avLst>
          </a:prstGeom>
          <a:solidFill xmlns:a="http://schemas.openxmlformats.org/drawingml/2006/main">
            <a:srgbClr val="B5A2FF"/>
          </a:solidFill>
          <a:ln xmlns:a="http://schemas.openxmlformats.org/drawingml/2006/main" w="9525">
            <a:solidFill>
              <a:srgbClr val="B5A2FF"/>
            </a:solidFill>
            <a:prstDash val="solid"/>
          </a:ln>
        </p:spPr>
      </p:sp>
      <p:sp>
        <p:nvSpPr>
          <p:cNvPr id="26" name="">
            <a:extLst xmlns:a="http://schemas.openxmlformats.org/drawingml/2006/main">
              <a:ext uri="{FF2B5EF4-FFF2-40B4-BE49-F238E27FC236}">
                <a16:creationId xmlns:a16="http://schemas.microsoft.com/office/drawing/2014/main" id="{308D504B-E8BA-49F4-B76A-345D677922C8}"/>
              </a:ext>
            </a:extLst>
          </p:cNvPr>
          <p:cNvSpPr>
            <a:spLocks xmlns:a="http://schemas.openxmlformats.org/drawingml/2006/main" noGrp="1"/>
          </p:cNvSpPr>
          <p:nvPr/>
        </p:nvSpPr>
        <p:spPr>
          <a:xfrm xmlns:a="http://schemas.openxmlformats.org/drawingml/2006/main">
            <a:off x="7353300" y="2333625"/>
            <a:ext cx="165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B5A2FF"/>
                </a:solidFill>
                <a:latin typeface="Arial"/>
                <a:ea typeface="Arial"/>
                <a:cs typeface="Arial"/>
              </a:defRPr>
            </a:defPPr>
          </a:lstStyle>
          <a:p xmlns:a="http://schemas.openxmlformats.org/drawingml/2006/main">
            <a:pPr algn="l">
              <a:defRPr sz="1575" b="1">
                <a:solidFill>
                  <a:srgbClr val="B5A2FF"/>
                </a:solidFill>
                <a:latin typeface="Arial"/>
                <a:ea typeface="Arial"/>
                <a:cs typeface="Arial"/>
              </a:defRPr>
            </a:pPr>
            <a:r>
              <a:rPr sz="1575" b="1">
                <a:solidFill>
                  <a:srgbClr val="B5A2FF"/>
                </a:solidFill>
                <a:latin typeface="Arial"/>
                <a:ea typeface="Arial"/>
                <a:cs typeface="Arial"/>
              </a:rPr>
              <a:t>Replication</a:t>
            </a:r>
          </a:p>
        </p:txBody>
      </p:sp>
      <p:sp>
        <p:nvSpPr>
          <p:cNvPr id="27" name="">
            <a:extLst xmlns:a="http://schemas.openxmlformats.org/drawingml/2006/main">
              <a:ext uri="{FF2B5EF4-FFF2-40B4-BE49-F238E27FC236}">
                <a16:creationId xmlns:a16="http://schemas.microsoft.com/office/drawing/2014/main" id="{C938D9C6-13B3-465C-B327-E3E3F4C6E455}"/>
              </a:ext>
            </a:extLst>
          </p:cNvPr>
          <p:cNvSpPr>
            <a:spLocks xmlns:a="http://schemas.openxmlformats.org/drawingml/2006/main" noGrp="1"/>
          </p:cNvSpPr>
          <p:nvPr/>
        </p:nvSpPr>
        <p:spPr>
          <a:xfrm xmlns:a="http://schemas.openxmlformats.org/drawingml/2006/main">
            <a:off x="7353300" y="2895600"/>
            <a:ext cx="1619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DCC"/>
                </a:solidFill>
                <a:latin typeface="Arial"/>
                <a:ea typeface="Arial"/>
                <a:cs typeface="Arial"/>
              </a:defRPr>
            </a:defPPr>
          </a:lstStyle>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Replica sets</a:t>
            </a:r>
          </a:p>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and sync state</a:t>
            </a:r>
          </a:p>
        </p:txBody>
      </p:sp>
      <p:sp>
        <p:nvSpPr>
          <p:cNvPr id="28" name="">
            <a:extLst xmlns:a="http://schemas.openxmlformats.org/drawingml/2006/main">
              <a:ext uri="{FF2B5EF4-FFF2-40B4-BE49-F238E27FC236}">
                <a16:creationId xmlns:a16="http://schemas.microsoft.com/office/drawing/2014/main" id="{45B6021D-D241-4714-84FD-5B68C13F7BC6}"/>
              </a:ext>
            </a:extLst>
          </p:cNvPr>
          <p:cNvSpPr>
            <a:spLocks xmlns:a="http://schemas.openxmlformats.org/drawingml/2006/main" noGrp="1"/>
          </p:cNvSpPr>
          <p:nvPr/>
        </p:nvSpPr>
        <p:spPr>
          <a:xfrm xmlns:a="http://schemas.openxmlformats.org/drawingml/2006/main">
            <a:off x="7362825" y="3752850"/>
            <a:ext cx="1609725"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29" name="">
            <a:extLst xmlns:a="http://schemas.openxmlformats.org/drawingml/2006/main">
              <a:ext uri="{FF2B5EF4-FFF2-40B4-BE49-F238E27FC236}">
                <a16:creationId xmlns:a16="http://schemas.microsoft.com/office/drawing/2014/main" id="{4EB6D8ED-FD4A-49C3-B54D-33059FA7B91C}"/>
              </a:ext>
            </a:extLst>
          </p:cNvPr>
          <p:cNvSpPr>
            <a:spLocks xmlns:a="http://schemas.openxmlformats.org/drawingml/2006/main" noGrp="1"/>
          </p:cNvSpPr>
          <p:nvPr/>
        </p:nvSpPr>
        <p:spPr>
          <a:xfrm xmlns:a="http://schemas.openxmlformats.org/drawingml/2006/main">
            <a:off x="7362825" y="38766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7892A6"/>
                </a:solidFill>
                <a:latin typeface="Arial"/>
                <a:ea typeface="Arial"/>
                <a:cs typeface="Arial"/>
              </a:defRPr>
            </a:defPPr>
          </a:lstStyle>
          <a:p xmlns:a="http://schemas.openxmlformats.org/drawingml/2006/main">
            <a:pPr algn="l">
              <a:defRPr sz="900" b="1">
                <a:solidFill>
                  <a:srgbClr val="7892A6"/>
                </a:solidFill>
                <a:latin typeface="Arial"/>
                <a:ea typeface="Arial"/>
                <a:cs typeface="Arial"/>
              </a:defRPr>
            </a:pPr>
            <a:r>
              <a:rPr sz="900" b="1">
                <a:solidFill>
                  <a:srgbClr val="7892A6"/>
                </a:solidFill>
                <a:latin typeface="Arial"/>
                <a:ea typeface="Arial"/>
                <a:cs typeface="Arial"/>
              </a:rPr>
              <a:t>LIVE VIEW</a:t>
            </a:r>
          </a:p>
        </p:txBody>
      </p:sp>
      <p:sp>
        <p:nvSpPr>
          <p:cNvPr id="30" name="">
            <a:extLst xmlns:a="http://schemas.openxmlformats.org/drawingml/2006/main">
              <a:ext uri="{FF2B5EF4-FFF2-40B4-BE49-F238E27FC236}">
                <a16:creationId xmlns:a16="http://schemas.microsoft.com/office/drawing/2014/main" id="{A73C9ADD-6438-40CF-9B15-4951E483AE0D}"/>
              </a:ext>
            </a:extLst>
          </p:cNvPr>
          <p:cNvSpPr>
            <a:spLocks xmlns:a="http://schemas.openxmlformats.org/drawingml/2006/main" noGrp="1"/>
          </p:cNvSpPr>
          <p:nvPr/>
        </p:nvSpPr>
        <p:spPr>
          <a:xfrm xmlns:a="http://schemas.openxmlformats.org/drawingml/2006/main">
            <a:off x="9363075" y="2076450"/>
            <a:ext cx="1952625" cy="2076450"/>
          </a:xfrm>
          <a:prstGeom xmlns:a="http://schemas.openxmlformats.org/drawingml/2006/main" prst="roundRect">
            <a:avLst>
              <a:gd name="adj" fmla="val 3902"/>
            </a:avLst>
          </a:prstGeom>
          <a:solidFill xmlns:a="http://schemas.openxmlformats.org/drawingml/2006/main">
            <a:srgbClr val="111E2D"/>
          </a:solidFill>
          <a:ln xmlns:a="http://schemas.openxmlformats.org/drawingml/2006/main" w="9525">
            <a:solidFill>
              <a:srgbClr val="29465B"/>
            </a:solidFill>
            <a:prstDash val="solid"/>
          </a:ln>
        </p:spPr>
      </p:sp>
      <p:sp>
        <p:nvSpPr>
          <p:cNvPr id="31" name="">
            <a:extLst xmlns:a="http://schemas.openxmlformats.org/drawingml/2006/main">
              <a:ext uri="{FF2B5EF4-FFF2-40B4-BE49-F238E27FC236}">
                <a16:creationId xmlns:a16="http://schemas.microsoft.com/office/drawing/2014/main" id="{8693CF64-CED9-405C-AA96-4E27BE8AC445}"/>
              </a:ext>
            </a:extLst>
          </p:cNvPr>
          <p:cNvSpPr>
            <a:spLocks xmlns:a="http://schemas.openxmlformats.org/drawingml/2006/main" noGrp="1"/>
          </p:cNvSpPr>
          <p:nvPr/>
        </p:nvSpPr>
        <p:spPr>
          <a:xfrm xmlns:a="http://schemas.openxmlformats.org/drawingml/2006/main">
            <a:off x="9363075" y="2076450"/>
            <a:ext cx="1952625" cy="76200"/>
          </a:xfrm>
          <a:prstGeom xmlns:a="http://schemas.openxmlformats.org/drawingml/2006/main" prst="roundRect">
            <a:avLst>
              <a:gd name="adj" fmla="val 25000"/>
            </a:avLst>
          </a:prstGeom>
          <a:solidFill xmlns:a="http://schemas.openxmlformats.org/drawingml/2006/main">
            <a:srgbClr val="F17676"/>
          </a:solidFill>
          <a:ln xmlns:a="http://schemas.openxmlformats.org/drawingml/2006/main" w="9525">
            <a:solidFill>
              <a:srgbClr val="F17676"/>
            </a:solidFill>
            <a:prstDash val="solid"/>
          </a:ln>
        </p:spPr>
      </p:sp>
      <p:sp>
        <p:nvSpPr>
          <p:cNvPr id="32" name="">
            <a:extLst xmlns:a="http://schemas.openxmlformats.org/drawingml/2006/main">
              <a:ext uri="{FF2B5EF4-FFF2-40B4-BE49-F238E27FC236}">
                <a16:creationId xmlns:a16="http://schemas.microsoft.com/office/drawing/2014/main" id="{DFDD2426-2AC4-4F66-86BA-1F2523EEE354}"/>
              </a:ext>
            </a:extLst>
          </p:cNvPr>
          <p:cNvSpPr>
            <a:spLocks xmlns:a="http://schemas.openxmlformats.org/drawingml/2006/main" noGrp="1"/>
          </p:cNvSpPr>
          <p:nvPr/>
        </p:nvSpPr>
        <p:spPr>
          <a:xfrm xmlns:a="http://schemas.openxmlformats.org/drawingml/2006/main">
            <a:off x="9515475" y="2333625"/>
            <a:ext cx="165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17676"/>
                </a:solidFill>
                <a:latin typeface="Arial"/>
                <a:ea typeface="Arial"/>
                <a:cs typeface="Arial"/>
              </a:defRPr>
            </a:defPPr>
          </a:lstStyle>
          <a:p xmlns:a="http://schemas.openxmlformats.org/drawingml/2006/main">
            <a:pPr algn="l">
              <a:defRPr sz="1575" b="1">
                <a:solidFill>
                  <a:srgbClr val="F17676"/>
                </a:solidFill>
                <a:latin typeface="Arial"/>
                <a:ea typeface="Arial"/>
                <a:cs typeface="Arial"/>
              </a:defRPr>
            </a:pPr>
            <a:r>
              <a:rPr sz="1575" b="1">
                <a:solidFill>
                  <a:srgbClr val="F17676"/>
                </a:solidFill>
                <a:latin typeface="Arial"/>
                <a:ea typeface="Arial"/>
                <a:cs typeface="Arial"/>
              </a:rPr>
              <a:t>Requests</a:t>
            </a:r>
          </a:p>
        </p:txBody>
      </p:sp>
      <p:sp>
        <p:nvSpPr>
          <p:cNvPr id="33" name="">
            <a:extLst xmlns:a="http://schemas.openxmlformats.org/drawingml/2006/main">
              <a:ext uri="{FF2B5EF4-FFF2-40B4-BE49-F238E27FC236}">
                <a16:creationId xmlns:a16="http://schemas.microsoft.com/office/drawing/2014/main" id="{5F4173C7-E966-4D84-8443-1260628FC54B}"/>
              </a:ext>
            </a:extLst>
          </p:cNvPr>
          <p:cNvSpPr>
            <a:spLocks xmlns:a="http://schemas.openxmlformats.org/drawingml/2006/main" noGrp="1"/>
          </p:cNvSpPr>
          <p:nvPr/>
        </p:nvSpPr>
        <p:spPr>
          <a:xfrm xmlns:a="http://schemas.openxmlformats.org/drawingml/2006/main">
            <a:off x="9515475" y="2895600"/>
            <a:ext cx="1619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DCC"/>
                </a:solidFill>
                <a:latin typeface="Arial"/>
                <a:ea typeface="Arial"/>
                <a:cs typeface="Arial"/>
              </a:defRPr>
            </a:defPPr>
          </a:lstStyle>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gRPC traces</a:t>
            </a:r>
          </a:p>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and system logs</a:t>
            </a:r>
          </a:p>
        </p:txBody>
      </p:sp>
      <p:sp>
        <p:nvSpPr>
          <p:cNvPr id="34" name="">
            <a:extLst xmlns:a="http://schemas.openxmlformats.org/drawingml/2006/main">
              <a:ext uri="{FF2B5EF4-FFF2-40B4-BE49-F238E27FC236}">
                <a16:creationId xmlns:a16="http://schemas.microsoft.com/office/drawing/2014/main" id="{7CCC0A67-5170-4848-8BC4-25FFEAD2B36C}"/>
              </a:ext>
            </a:extLst>
          </p:cNvPr>
          <p:cNvSpPr>
            <a:spLocks xmlns:a="http://schemas.openxmlformats.org/drawingml/2006/main" noGrp="1"/>
          </p:cNvSpPr>
          <p:nvPr/>
        </p:nvSpPr>
        <p:spPr>
          <a:xfrm xmlns:a="http://schemas.openxmlformats.org/drawingml/2006/main">
            <a:off x="9525000" y="3752850"/>
            <a:ext cx="1609725"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35" name="">
            <a:extLst xmlns:a="http://schemas.openxmlformats.org/drawingml/2006/main">
              <a:ext uri="{FF2B5EF4-FFF2-40B4-BE49-F238E27FC236}">
                <a16:creationId xmlns:a16="http://schemas.microsoft.com/office/drawing/2014/main" id="{3FB902DC-0521-4F00-8A44-536A22F12A53}"/>
              </a:ext>
            </a:extLst>
          </p:cNvPr>
          <p:cNvSpPr>
            <a:spLocks xmlns:a="http://schemas.openxmlformats.org/drawingml/2006/main" noGrp="1"/>
          </p:cNvSpPr>
          <p:nvPr/>
        </p:nvSpPr>
        <p:spPr>
          <a:xfrm xmlns:a="http://schemas.openxmlformats.org/drawingml/2006/main">
            <a:off x="9525000" y="38766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7892A6"/>
                </a:solidFill>
                <a:latin typeface="Arial"/>
                <a:ea typeface="Arial"/>
                <a:cs typeface="Arial"/>
              </a:defRPr>
            </a:defPPr>
          </a:lstStyle>
          <a:p xmlns:a="http://schemas.openxmlformats.org/drawingml/2006/main">
            <a:pPr algn="l">
              <a:defRPr sz="900" b="1">
                <a:solidFill>
                  <a:srgbClr val="7892A6"/>
                </a:solidFill>
                <a:latin typeface="Arial"/>
                <a:ea typeface="Arial"/>
                <a:cs typeface="Arial"/>
              </a:defRPr>
            </a:pPr>
            <a:r>
              <a:rPr sz="900" b="1">
                <a:solidFill>
                  <a:srgbClr val="7892A6"/>
                </a:solidFill>
                <a:latin typeface="Arial"/>
                <a:ea typeface="Arial"/>
                <a:cs typeface="Arial"/>
              </a:rPr>
              <a:t>LIVE VIEW</a:t>
            </a:r>
          </a:p>
        </p:txBody>
      </p:sp>
      <p:sp>
        <p:nvSpPr>
          <p:cNvPr id="36" name="">
            <a:extLst xmlns:a="http://schemas.openxmlformats.org/drawingml/2006/main">
              <a:ext uri="{FF2B5EF4-FFF2-40B4-BE49-F238E27FC236}">
                <a16:creationId xmlns:a16="http://schemas.microsoft.com/office/drawing/2014/main" id="{0A4BE084-864E-4F93-B6D3-560E9FAD4634}"/>
              </a:ext>
            </a:extLst>
          </p:cNvPr>
          <p:cNvSpPr>
            <a:spLocks xmlns:a="http://schemas.openxmlformats.org/drawingml/2006/main" noGrp="1"/>
          </p:cNvSpPr>
          <p:nvPr/>
        </p:nvSpPr>
        <p:spPr>
          <a:xfrm xmlns:a="http://schemas.openxmlformats.org/drawingml/2006/main">
            <a:off x="933450" y="4762500"/>
            <a:ext cx="1847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Upload model</a:t>
            </a:r>
          </a:p>
        </p:txBody>
      </p:sp>
      <p:sp>
        <p:nvSpPr>
          <p:cNvPr id="37" name="">
            <a:extLst xmlns:a="http://schemas.openxmlformats.org/drawingml/2006/main">
              <a:ext uri="{FF2B5EF4-FFF2-40B4-BE49-F238E27FC236}">
                <a16:creationId xmlns:a16="http://schemas.microsoft.com/office/drawing/2014/main" id="{0DCE84C4-AA07-4EA2-B125-AD6DD060F437}"/>
              </a:ext>
            </a:extLst>
          </p:cNvPr>
          <p:cNvSpPr>
            <a:spLocks xmlns:a="http://schemas.openxmlformats.org/drawingml/2006/main" noGrp="1"/>
          </p:cNvSpPr>
          <p:nvPr/>
        </p:nvSpPr>
        <p:spPr>
          <a:xfrm xmlns:a="http://schemas.openxmlformats.org/drawingml/2006/main">
            <a:off x="933450" y="513397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Choose file + metadata</a:t>
            </a:r>
          </a:p>
        </p:txBody>
      </p:sp>
      <p:sp>
        <p:nvSpPr>
          <p:cNvPr id="38" name="">
            <a:extLst xmlns:a="http://schemas.openxmlformats.org/drawingml/2006/main">
              <a:ext uri="{FF2B5EF4-FFF2-40B4-BE49-F238E27FC236}">
                <a16:creationId xmlns:a16="http://schemas.microsoft.com/office/drawing/2014/main" id="{F33AFE24-E53E-4A86-AE79-6C00C9AB9FEF}"/>
              </a:ext>
            </a:extLst>
          </p:cNvPr>
          <p:cNvSpPr>
            <a:spLocks xmlns:a="http://schemas.openxmlformats.org/drawingml/2006/main" noGrp="1"/>
          </p:cNvSpPr>
          <p:nvPr/>
        </p:nvSpPr>
        <p:spPr>
          <a:xfrm xmlns:a="http://schemas.openxmlformats.org/drawingml/2006/main">
            <a:off x="4724400" y="47625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Inspect replica copies</a:t>
            </a:r>
          </a:p>
        </p:txBody>
      </p:sp>
      <p:sp>
        <p:nvSpPr>
          <p:cNvPr id="39" name="">
            <a:extLst xmlns:a="http://schemas.openxmlformats.org/drawingml/2006/main">
              <a:ext uri="{FF2B5EF4-FFF2-40B4-BE49-F238E27FC236}">
                <a16:creationId xmlns:a16="http://schemas.microsoft.com/office/drawing/2014/main" id="{31830AB4-E20E-4FE5-A544-2D5C396A5373}"/>
              </a:ext>
            </a:extLst>
          </p:cNvPr>
          <p:cNvSpPr>
            <a:spLocks xmlns:a="http://schemas.openxmlformats.org/drawingml/2006/main" noGrp="1"/>
          </p:cNvSpPr>
          <p:nvPr/>
        </p:nvSpPr>
        <p:spPr>
          <a:xfrm xmlns:a="http://schemas.openxmlformats.org/drawingml/2006/main">
            <a:off x="4724400" y="51339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Compare per-node sync status</a:t>
            </a:r>
          </a:p>
        </p:txBody>
      </p:sp>
      <p:sp>
        <p:nvSpPr>
          <p:cNvPr id="40" name="">
            <a:extLst xmlns:a="http://schemas.openxmlformats.org/drawingml/2006/main">
              <a:ext uri="{FF2B5EF4-FFF2-40B4-BE49-F238E27FC236}">
                <a16:creationId xmlns:a16="http://schemas.microsoft.com/office/drawing/2014/main" id="{17D67687-FE00-4F7F-9A39-E51435A3C48E}"/>
              </a:ext>
            </a:extLst>
          </p:cNvPr>
          <p:cNvSpPr>
            <a:spLocks xmlns:a="http://schemas.openxmlformats.org/drawingml/2006/main" noGrp="1"/>
          </p:cNvSpPr>
          <p:nvPr/>
        </p:nvSpPr>
        <p:spPr>
          <a:xfrm xmlns:a="http://schemas.openxmlformats.org/drawingml/2006/main">
            <a:off x="8648700" y="4762500"/>
            <a:ext cx="2238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3F7FA"/>
                </a:solidFill>
                <a:latin typeface="Arial"/>
                <a:ea typeface="Arial"/>
                <a:cs typeface="Arial"/>
              </a:defRPr>
            </a:defPPr>
          </a:lstStyle>
          <a:p xmlns:a="http://schemas.openxmlformats.org/drawingml/2006/main">
            <a:pPr algn="l">
              <a:defRPr sz="1575" b="1">
                <a:solidFill>
                  <a:srgbClr val="F3F7FA"/>
                </a:solidFill>
                <a:latin typeface="Arial"/>
                <a:ea typeface="Arial"/>
                <a:cs typeface="Arial"/>
              </a:defRPr>
            </a:pPr>
            <a:r>
              <a:rPr sz="1575" b="1">
                <a:solidFill>
                  <a:srgbClr val="F3F7FA"/>
                </a:solidFill>
                <a:latin typeface="Arial"/>
                <a:ea typeface="Arial"/>
                <a:cs typeface="Arial"/>
              </a:rPr>
              <a:t>Trace service calls</a:t>
            </a:r>
          </a:p>
        </p:txBody>
      </p:sp>
      <p:sp>
        <p:nvSpPr>
          <p:cNvPr id="41" name="">
            <a:extLst xmlns:a="http://schemas.openxmlformats.org/drawingml/2006/main">
              <a:ext uri="{FF2B5EF4-FFF2-40B4-BE49-F238E27FC236}">
                <a16:creationId xmlns:a16="http://schemas.microsoft.com/office/drawing/2014/main" id="{BB955D9D-5A2B-4616-AC28-6423462ADF2C}"/>
              </a:ext>
            </a:extLst>
          </p:cNvPr>
          <p:cNvSpPr>
            <a:spLocks xmlns:a="http://schemas.openxmlformats.org/drawingml/2006/main" noGrp="1"/>
          </p:cNvSpPr>
          <p:nvPr/>
        </p:nvSpPr>
        <p:spPr>
          <a:xfrm xmlns:a="http://schemas.openxmlformats.org/drawingml/2006/main">
            <a:off x="8648700" y="5133975"/>
            <a:ext cx="2800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See source, target, protocol and result</a:t>
            </a:r>
          </a:p>
        </p:txBody>
      </p:sp>
    </p:spTree>
    <p:extLst>
      <p:ext uri="{BB962C8B-B14F-4D97-AF65-F5344CB8AC3E}">
        <p14:creationId xmlns:p14="http://schemas.microsoft.com/office/powerpoint/2010/main" val="1055541211"/>
      </p:ext>
    </p:extLst>
  </p:cSld>
</p:sld>
</file>

<file path=ppt/slides/slide9.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36" name="title-9">
            <a:extLst xmlns:a="http://schemas.openxmlformats.org/drawingml/2006/main">
              <a:ext uri="{FF2B5EF4-FFF2-40B4-BE49-F238E27FC236}">
                <a16:creationId xmlns:a16="http://schemas.microsoft.com/office/drawing/2014/main" id="{CDF98D24-FC84-4977-90A0-9D5DAAB3A8BA}"/>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3F7FA"/>
                </a:solidFill>
                <a:latin typeface="Arial"/>
                <a:ea typeface="Arial"/>
                <a:cs typeface="Arial"/>
              </a:defRPr>
            </a:defPPr>
          </a:lstStyle>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Docker Compose deployment</a:t>
            </a:r>
          </a:p>
        </p:txBody>
      </p:sp>
      <p:sp>
        <p:nvSpPr>
          <p:cNvPr id="2" name="">
            <a:extLst xmlns:a="http://schemas.openxmlformats.org/drawingml/2006/main">
              <a:ext uri="{FF2B5EF4-FFF2-40B4-BE49-F238E27FC236}">
                <a16:creationId xmlns:a16="http://schemas.microsoft.com/office/drawing/2014/main" id="{89780C8B-5C8A-4101-ACCA-FF2EF976053E}"/>
              </a:ext>
            </a:extLst>
          </p:cNvPr>
          <p:cNvSpPr>
            <a:spLocks xmlns:a="http://schemas.openxmlformats.org/drawingml/2006/main" noGrp="1"/>
          </p:cNvSpPr>
          <p:nvPr/>
        </p:nvSpPr>
        <p:spPr>
          <a:xfrm xmlns:a="http://schemas.openxmlformats.org/drawingml/2006/main">
            <a:off x="704850" y="962025"/>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A8BDCC"/>
                </a:solidFill>
                <a:latin typeface="Arial"/>
                <a:ea typeface="Arial"/>
                <a:cs typeface="Arial"/>
              </a:defRPr>
            </a:defPPr>
          </a:lstStyle>
          <a:p xmlns:a="http://schemas.openxmlformats.org/drawingml/2006/main">
            <a:pPr algn="l">
              <a:defRPr sz="1425" b="0">
                <a:solidFill>
                  <a:srgbClr val="A8BDCC"/>
                </a:solidFill>
                <a:latin typeface="Arial"/>
                <a:ea typeface="Arial"/>
                <a:cs typeface="Arial"/>
              </a:defRPr>
            </a:pPr>
            <a:r>
              <a:rPr sz="1425" b="0">
                <a:solidFill>
                  <a:srgbClr val="A8BDCC"/>
                </a:solidFill>
                <a:latin typeface="Arial"/>
                <a:ea typeface="Arial"/>
                <a:cs typeface="Arial"/>
              </a:rPr>
              <a:t>One command starts the UI, API coordinator, three storage nodes and two infrastructure services.</a:t>
            </a:r>
          </a:p>
        </p:txBody>
      </p:sp>
      <p:sp>
        <p:nvSpPr>
          <p:cNvPr id="3" name="">
            <a:extLst xmlns:a="http://schemas.openxmlformats.org/drawingml/2006/main">
              <a:ext uri="{FF2B5EF4-FFF2-40B4-BE49-F238E27FC236}">
                <a16:creationId xmlns:a16="http://schemas.microsoft.com/office/drawing/2014/main" id="{43776ECC-4DC7-4954-B96C-7001A2A2896B}"/>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0374A"/>
            </a:solidFill>
            <a:prstDash val="solid"/>
          </a:ln>
        </p:spPr>
      </p:sp>
      <p:sp>
        <p:nvSpPr>
          <p:cNvPr id="4" name="">
            <a:extLst xmlns:a="http://schemas.openxmlformats.org/drawingml/2006/main">
              <a:ext uri="{FF2B5EF4-FFF2-40B4-BE49-F238E27FC236}">
                <a16:creationId xmlns:a16="http://schemas.microsoft.com/office/drawing/2014/main" id="{039B0E80-977A-40B3-B068-888F2D74BD55}"/>
              </a:ext>
            </a:extLst>
          </p:cNvPr>
          <p:cNvSpPr>
            <a:spLocks xmlns:a="http://schemas.openxmlformats.org/drawingml/2006/main" noGrp="1"/>
          </p:cNvSpPr>
          <p:nvPr/>
        </p:nvSpPr>
        <p:spPr>
          <a:xfrm xmlns:a="http://schemas.openxmlformats.org/drawingml/2006/main">
            <a:off x="704850" y="64960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892A6"/>
                </a:solidFill>
                <a:latin typeface="Arial"/>
                <a:ea typeface="Arial"/>
                <a:cs typeface="Arial"/>
              </a:defRPr>
            </a:defPPr>
          </a:lstStyle>
          <a:p xmlns:a="http://schemas.openxmlformats.org/drawingml/2006/main">
            <a:pPr algn="l">
              <a:defRPr sz="900" b="0">
                <a:solidFill>
                  <a:srgbClr val="7892A6"/>
                </a:solidFill>
                <a:latin typeface="Arial"/>
                <a:ea typeface="Arial"/>
                <a:cs typeface="Arial"/>
              </a:defRPr>
            </a:pPr>
            <a:r>
              <a:rPr sz="900" b="0">
                <a:solidFill>
                  <a:srgbClr val="7892A6"/>
                </a:solidFill>
                <a:latin typeface="Arial"/>
                <a:ea typeface="Arial"/>
                <a:cs typeface="Arial"/>
              </a:rPr>
              <a:t>DISTRIBUTED MODEL REPOSITORY  /  PROJECT WALKTHROUGH</a:t>
            </a:r>
          </a:p>
        </p:txBody>
      </p:sp>
      <p:sp>
        <p:nvSpPr>
          <p:cNvPr id="5" name="">
            <a:extLst xmlns:a="http://schemas.openxmlformats.org/drawingml/2006/main">
              <a:ext uri="{FF2B5EF4-FFF2-40B4-BE49-F238E27FC236}">
                <a16:creationId xmlns:a16="http://schemas.microsoft.com/office/drawing/2014/main" id="{215B1FFC-694F-4B85-B886-17884E5CFE31}"/>
              </a:ext>
            </a:extLst>
          </p:cNvPr>
          <p:cNvSpPr>
            <a:spLocks xmlns:a="http://schemas.openxmlformats.org/drawingml/2006/main" noGrp="1"/>
          </p:cNvSpPr>
          <p:nvPr/>
        </p:nvSpPr>
        <p:spPr>
          <a:xfrm xmlns:a="http://schemas.openxmlformats.org/drawingml/2006/main">
            <a:off x="11049000" y="64865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7892A6"/>
                </a:solidFill>
                <a:latin typeface="Arial"/>
                <a:ea typeface="Arial"/>
                <a:cs typeface="Arial"/>
              </a:defRPr>
            </a:defPPr>
          </a:lstStyle>
          <a:p xmlns:a="http://schemas.openxmlformats.org/drawingml/2006/main">
            <a:pPr algn="r">
              <a:defRPr sz="975" b="0">
                <a:solidFill>
                  <a:srgbClr val="7892A6"/>
                </a:solidFill>
                <a:latin typeface="Arial"/>
                <a:ea typeface="Arial"/>
                <a:cs typeface="Arial"/>
              </a:defRPr>
            </a:pPr>
            <a:r>
              <a:rPr sz="975" b="0">
                <a:solidFill>
                  <a:srgbClr val="7892A6"/>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EA0CE896-4F1F-41A7-9105-EB60FF4FE957}"/>
              </a:ext>
            </a:extLst>
          </p:cNvPr>
          <p:cNvSpPr>
            <a:spLocks xmlns:a="http://schemas.openxmlformats.org/drawingml/2006/main" noGrp="1"/>
          </p:cNvSpPr>
          <p:nvPr/>
        </p:nvSpPr>
        <p:spPr>
          <a:xfrm xmlns:a="http://schemas.openxmlformats.org/drawingml/2006/main">
            <a:off x="781050" y="1571625"/>
            <a:ext cx="504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7D3B2"/>
                </a:solidFill>
                <a:latin typeface="Arial"/>
                <a:ea typeface="Arial"/>
                <a:cs typeface="Arial"/>
              </a:defRPr>
            </a:defPPr>
          </a:lstStyle>
          <a:p xmlns:a="http://schemas.openxmlformats.org/drawingml/2006/main">
            <a:pPr algn="l">
              <a:defRPr sz="1050" b="1">
                <a:solidFill>
                  <a:srgbClr val="27D3B2"/>
                </a:solidFill>
                <a:latin typeface="Arial"/>
                <a:ea typeface="Arial"/>
                <a:cs typeface="Arial"/>
              </a:defRPr>
            </a:pPr>
            <a:r>
              <a:rPr sz="1050" b="1">
                <a:solidFill>
                  <a:srgbClr val="27D3B2"/>
                </a:solidFill>
                <a:latin typeface="Arial"/>
                <a:ea typeface="Arial"/>
                <a:cs typeface="Arial"/>
              </a:rPr>
              <a:t>CMD · PROJECT DIRECTORY</a:t>
            </a:r>
          </a:p>
        </p:txBody>
      </p:sp>
      <p:sp>
        <p:nvSpPr>
          <p:cNvPr id="7" name="">
            <a:extLst xmlns:a="http://schemas.openxmlformats.org/drawingml/2006/main">
              <a:ext uri="{FF2B5EF4-FFF2-40B4-BE49-F238E27FC236}">
                <a16:creationId xmlns:a16="http://schemas.microsoft.com/office/drawing/2014/main" id="{C53435AA-598B-4EF0-9B88-EE0C426D8C49}"/>
              </a:ext>
            </a:extLst>
          </p:cNvPr>
          <p:cNvSpPr>
            <a:spLocks xmlns:a="http://schemas.openxmlformats.org/drawingml/2006/main" noGrp="1"/>
          </p:cNvSpPr>
          <p:nvPr/>
        </p:nvSpPr>
        <p:spPr>
          <a:xfrm xmlns:a="http://schemas.openxmlformats.org/drawingml/2006/main">
            <a:off x="742950" y="1933575"/>
            <a:ext cx="5457825" cy="3267075"/>
          </a:xfrm>
          <a:prstGeom xmlns:a="http://schemas.openxmlformats.org/drawingml/2006/main" prst="roundRect">
            <a:avLst>
              <a:gd name="adj" fmla="val 2624"/>
            </a:avLst>
          </a:prstGeom>
          <a:solidFill xmlns:a="http://schemas.openxmlformats.org/drawingml/2006/main">
            <a:srgbClr val="0A1724"/>
          </a:solidFill>
          <a:ln xmlns:a="http://schemas.openxmlformats.org/drawingml/2006/main" w="9525">
            <a:solidFill>
              <a:srgbClr val="29465B"/>
            </a:solidFill>
            <a:prstDash val="solid"/>
          </a:ln>
        </p:spPr>
      </p:sp>
      <p:sp>
        <p:nvSpPr>
          <p:cNvPr id="8" name="">
            <a:extLst xmlns:a="http://schemas.openxmlformats.org/drawingml/2006/main">
              <a:ext uri="{FF2B5EF4-FFF2-40B4-BE49-F238E27FC236}">
                <a16:creationId xmlns:a16="http://schemas.microsoft.com/office/drawing/2014/main" id="{C62C9ADD-FC67-410F-9D7B-5F7616B1E12A}"/>
              </a:ext>
            </a:extLst>
          </p:cNvPr>
          <p:cNvSpPr>
            <a:spLocks xmlns:a="http://schemas.openxmlformats.org/drawingml/2006/main" noGrp="1"/>
          </p:cNvSpPr>
          <p:nvPr/>
        </p:nvSpPr>
        <p:spPr>
          <a:xfrm xmlns:a="http://schemas.openxmlformats.org/drawingml/2006/main">
            <a:off x="942975" y="21907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7892A6"/>
                </a:solidFill>
                <a:latin typeface="Arial"/>
                <a:ea typeface="Arial"/>
                <a:cs typeface="Arial"/>
              </a:defRPr>
            </a:defPPr>
          </a:lstStyle>
          <a:p xmlns:a="http://schemas.openxmlformats.org/drawingml/2006/main">
            <a:pPr algn="l">
              <a:defRPr sz="1050" b="1">
                <a:solidFill>
                  <a:srgbClr val="7892A6"/>
                </a:solidFill>
                <a:latin typeface="Arial"/>
                <a:ea typeface="Arial"/>
                <a:cs typeface="Arial"/>
              </a:defRPr>
            </a:pPr>
            <a:r>
              <a:rPr sz="1050" b="1">
                <a:solidFill>
                  <a:srgbClr val="7892A6"/>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3A498410-92F0-4C8B-9FED-6ED74A1B7619}"/>
              </a:ext>
            </a:extLst>
          </p:cNvPr>
          <p:cNvSpPr>
            <a:spLocks xmlns:a="http://schemas.openxmlformats.org/drawingml/2006/main" noGrp="1"/>
          </p:cNvSpPr>
          <p:nvPr/>
        </p:nvSpPr>
        <p:spPr>
          <a:xfrm xmlns:a="http://schemas.openxmlformats.org/drawingml/2006/main">
            <a:off x="1381125" y="2181225"/>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3F7FA"/>
                </a:solidFill>
                <a:latin typeface="Arial"/>
                <a:ea typeface="Arial"/>
                <a:cs typeface="Arial"/>
              </a:defRPr>
            </a:defPPr>
          </a:lstStyle>
          <a:p xmlns:a="http://schemas.openxmlformats.org/drawingml/2006/main">
            <a:pPr algn="l">
              <a:defRPr sz="1275" b="0">
                <a:solidFill>
                  <a:srgbClr val="F3F7FA"/>
                </a:solidFill>
                <a:latin typeface="Arial"/>
                <a:ea typeface="Arial"/>
                <a:cs typeface="Arial"/>
              </a:defRPr>
            </a:pPr>
            <a:r>
              <a:rPr sz="1275" b="0">
                <a:solidFill>
                  <a:srgbClr val="F3F7FA"/>
                </a:solidFill>
                <a:latin typeface="Arial"/>
                <a:ea typeface="Arial"/>
                <a:cs typeface="Arial"/>
              </a:rPr>
              <a:t>cd /d D:\BTech\DS\DS_Project</a:t>
            </a:r>
          </a:p>
        </p:txBody>
      </p:sp>
      <p:sp>
        <p:nvSpPr>
          <p:cNvPr id="10" name="">
            <a:extLst xmlns:a="http://schemas.openxmlformats.org/drawingml/2006/main">
              <a:ext uri="{FF2B5EF4-FFF2-40B4-BE49-F238E27FC236}">
                <a16:creationId xmlns:a16="http://schemas.microsoft.com/office/drawing/2014/main" id="{17E11ECC-1ADA-4C9C-ABDB-ADEBB971AF29}"/>
              </a:ext>
            </a:extLst>
          </p:cNvPr>
          <p:cNvSpPr>
            <a:spLocks xmlns:a="http://schemas.openxmlformats.org/drawingml/2006/main" noGrp="1"/>
          </p:cNvSpPr>
          <p:nvPr/>
        </p:nvSpPr>
        <p:spPr>
          <a:xfrm xmlns:a="http://schemas.openxmlformats.org/drawingml/2006/main">
            <a:off x="942975" y="2828925"/>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7892A6"/>
                </a:solidFill>
                <a:latin typeface="Arial"/>
                <a:ea typeface="Arial"/>
                <a:cs typeface="Arial"/>
              </a:defRPr>
            </a:defPPr>
          </a:lstStyle>
          <a:p xmlns:a="http://schemas.openxmlformats.org/drawingml/2006/main">
            <a:pPr algn="l">
              <a:defRPr sz="1050" b="1">
                <a:solidFill>
                  <a:srgbClr val="7892A6"/>
                </a:solidFill>
                <a:latin typeface="Arial"/>
                <a:ea typeface="Arial"/>
                <a:cs typeface="Arial"/>
              </a:defRPr>
            </a:pPr>
            <a:r>
              <a:rPr sz="1050" b="1">
                <a:solidFill>
                  <a:srgbClr val="7892A6"/>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F8D82048-248D-421D-9ABB-91495C25D933}"/>
              </a:ext>
            </a:extLst>
          </p:cNvPr>
          <p:cNvSpPr>
            <a:spLocks xmlns:a="http://schemas.openxmlformats.org/drawingml/2006/main" noGrp="1"/>
          </p:cNvSpPr>
          <p:nvPr/>
        </p:nvSpPr>
        <p:spPr>
          <a:xfrm xmlns:a="http://schemas.openxmlformats.org/drawingml/2006/main">
            <a:off x="1381125" y="2819400"/>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3F7FA"/>
                </a:solidFill>
                <a:latin typeface="Arial"/>
                <a:ea typeface="Arial"/>
                <a:cs typeface="Arial"/>
              </a:defRPr>
            </a:defPPr>
          </a:lstStyle>
          <a:p xmlns:a="http://schemas.openxmlformats.org/drawingml/2006/main">
            <a:pPr algn="l">
              <a:defRPr sz="1275" b="0">
                <a:solidFill>
                  <a:srgbClr val="F3F7FA"/>
                </a:solidFill>
                <a:latin typeface="Arial"/>
                <a:ea typeface="Arial"/>
                <a:cs typeface="Arial"/>
              </a:defRPr>
            </a:pPr>
            <a:r>
              <a:rPr sz="1275" b="0">
                <a:solidFill>
                  <a:srgbClr val="F3F7FA"/>
                </a:solidFill>
                <a:latin typeface="Arial"/>
                <a:ea typeface="Arial"/>
                <a:cs typeface="Arial"/>
              </a:rPr>
              <a:t>docker compose up --build -d</a:t>
            </a:r>
          </a:p>
        </p:txBody>
      </p:sp>
      <p:sp>
        <p:nvSpPr>
          <p:cNvPr id="12" name="">
            <a:extLst xmlns:a="http://schemas.openxmlformats.org/drawingml/2006/main">
              <a:ext uri="{FF2B5EF4-FFF2-40B4-BE49-F238E27FC236}">
                <a16:creationId xmlns:a16="http://schemas.microsoft.com/office/drawing/2014/main" id="{5EF92C2A-9EEA-4CFE-A2C1-ADDB495B81E0}"/>
              </a:ext>
            </a:extLst>
          </p:cNvPr>
          <p:cNvSpPr>
            <a:spLocks xmlns:a="http://schemas.openxmlformats.org/drawingml/2006/main" noGrp="1"/>
          </p:cNvSpPr>
          <p:nvPr/>
        </p:nvSpPr>
        <p:spPr>
          <a:xfrm xmlns:a="http://schemas.openxmlformats.org/drawingml/2006/main">
            <a:off x="942975" y="346710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7892A6"/>
                </a:solidFill>
                <a:latin typeface="Arial"/>
                <a:ea typeface="Arial"/>
                <a:cs typeface="Arial"/>
              </a:defRPr>
            </a:defPPr>
          </a:lstStyle>
          <a:p xmlns:a="http://schemas.openxmlformats.org/drawingml/2006/main">
            <a:pPr algn="l">
              <a:defRPr sz="1050" b="1">
                <a:solidFill>
                  <a:srgbClr val="7892A6"/>
                </a:solidFill>
                <a:latin typeface="Arial"/>
                <a:ea typeface="Arial"/>
                <a:cs typeface="Arial"/>
              </a:defRPr>
            </a:pPr>
            <a:r>
              <a:rPr sz="1050" b="1">
                <a:solidFill>
                  <a:srgbClr val="7892A6"/>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1F0D3E03-0190-45EE-ABC4-B4A9FA63E2F0}"/>
              </a:ext>
            </a:extLst>
          </p:cNvPr>
          <p:cNvSpPr>
            <a:spLocks xmlns:a="http://schemas.openxmlformats.org/drawingml/2006/main" noGrp="1"/>
          </p:cNvSpPr>
          <p:nvPr/>
        </p:nvSpPr>
        <p:spPr>
          <a:xfrm xmlns:a="http://schemas.openxmlformats.org/drawingml/2006/main">
            <a:off x="1381125" y="3457575"/>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3F7FA"/>
                </a:solidFill>
                <a:latin typeface="Arial"/>
                <a:ea typeface="Arial"/>
                <a:cs typeface="Arial"/>
              </a:defRPr>
            </a:defPPr>
          </a:lstStyle>
          <a:p xmlns:a="http://schemas.openxmlformats.org/drawingml/2006/main">
            <a:pPr algn="l">
              <a:defRPr sz="1275" b="0">
                <a:solidFill>
                  <a:srgbClr val="F3F7FA"/>
                </a:solidFill>
                <a:latin typeface="Arial"/>
                <a:ea typeface="Arial"/>
                <a:cs typeface="Arial"/>
              </a:defRPr>
            </a:pPr>
            <a:r>
              <a:rPr sz="1275" b="0">
                <a:solidFill>
                  <a:srgbClr val="F3F7FA"/>
                </a:solidFill>
                <a:latin typeface="Arial"/>
                <a:ea typeface="Arial"/>
                <a:cs typeface="Arial"/>
              </a:rPr>
              <a:t>docker compose ps</a:t>
            </a:r>
          </a:p>
        </p:txBody>
      </p:sp>
      <p:sp>
        <p:nvSpPr>
          <p:cNvPr id="14" name="">
            <a:extLst xmlns:a="http://schemas.openxmlformats.org/drawingml/2006/main">
              <a:ext uri="{FF2B5EF4-FFF2-40B4-BE49-F238E27FC236}">
                <a16:creationId xmlns:a16="http://schemas.microsoft.com/office/drawing/2014/main" id="{17BFB67D-1CD6-45AA-B3CE-B7679C4CDEF9}"/>
              </a:ext>
            </a:extLst>
          </p:cNvPr>
          <p:cNvSpPr>
            <a:spLocks xmlns:a="http://schemas.openxmlformats.org/drawingml/2006/main" noGrp="1"/>
          </p:cNvSpPr>
          <p:nvPr/>
        </p:nvSpPr>
        <p:spPr>
          <a:xfrm xmlns:a="http://schemas.openxmlformats.org/drawingml/2006/main">
            <a:off x="942975" y="4105275"/>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7892A6"/>
                </a:solidFill>
                <a:latin typeface="Arial"/>
                <a:ea typeface="Arial"/>
                <a:cs typeface="Arial"/>
              </a:defRPr>
            </a:defPPr>
          </a:lstStyle>
          <a:p xmlns:a="http://schemas.openxmlformats.org/drawingml/2006/main">
            <a:pPr algn="l">
              <a:defRPr sz="1050" b="1">
                <a:solidFill>
                  <a:srgbClr val="7892A6"/>
                </a:solidFill>
                <a:latin typeface="Arial"/>
                <a:ea typeface="Arial"/>
                <a:cs typeface="Arial"/>
              </a:defRPr>
            </a:pPr>
            <a:r>
              <a:rPr sz="1050" b="1">
                <a:solidFill>
                  <a:srgbClr val="7892A6"/>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007D4F25-8681-4D49-B91C-F6F3C3C5A689}"/>
              </a:ext>
            </a:extLst>
          </p:cNvPr>
          <p:cNvSpPr>
            <a:spLocks xmlns:a="http://schemas.openxmlformats.org/drawingml/2006/main" noGrp="1"/>
          </p:cNvSpPr>
          <p:nvPr/>
        </p:nvSpPr>
        <p:spPr>
          <a:xfrm xmlns:a="http://schemas.openxmlformats.org/drawingml/2006/main">
            <a:off x="1381125" y="4095750"/>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3F7FA"/>
                </a:solidFill>
                <a:latin typeface="Arial"/>
                <a:ea typeface="Arial"/>
                <a:cs typeface="Arial"/>
              </a:defRPr>
            </a:defPPr>
          </a:lstStyle>
          <a:p xmlns:a="http://schemas.openxmlformats.org/drawingml/2006/main">
            <a:pPr algn="l">
              <a:defRPr sz="1275" b="0">
                <a:solidFill>
                  <a:srgbClr val="F3F7FA"/>
                </a:solidFill>
                <a:latin typeface="Arial"/>
                <a:ea typeface="Arial"/>
                <a:cs typeface="Arial"/>
              </a:defRPr>
            </a:pPr>
            <a:r>
              <a:rPr sz="1275" b="0">
                <a:solidFill>
                  <a:srgbClr val="F3F7FA"/>
                </a:solidFill>
                <a:latin typeface="Arial"/>
                <a:ea typeface="Arial"/>
                <a:cs typeface="Arial"/>
              </a:rPr>
              <a:t>docker compose logs -f coordinator storage-node-1</a:t>
            </a:r>
          </a:p>
        </p:txBody>
      </p:sp>
      <p:sp>
        <p:nvSpPr>
          <p:cNvPr id="16" name="">
            <a:extLst xmlns:a="http://schemas.openxmlformats.org/drawingml/2006/main">
              <a:ext uri="{FF2B5EF4-FFF2-40B4-BE49-F238E27FC236}">
                <a16:creationId xmlns:a16="http://schemas.microsoft.com/office/drawing/2014/main" id="{9EB3EB15-D91C-4142-9314-67D9D9304A0B}"/>
              </a:ext>
            </a:extLst>
          </p:cNvPr>
          <p:cNvSpPr>
            <a:spLocks xmlns:a="http://schemas.openxmlformats.org/drawingml/2006/main" noGrp="1"/>
          </p:cNvSpPr>
          <p:nvPr/>
        </p:nvSpPr>
        <p:spPr>
          <a:xfrm xmlns:a="http://schemas.openxmlformats.org/drawingml/2006/main">
            <a:off x="952500" y="47625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D3B2"/>
                </a:solidFill>
                <a:latin typeface="Arial"/>
                <a:ea typeface="Arial"/>
                <a:cs typeface="Arial"/>
              </a:defRPr>
            </a:defPPr>
          </a:lstStyle>
          <a:p xmlns:a="http://schemas.openxmlformats.org/drawingml/2006/main">
            <a:pPr algn="l">
              <a:defRPr sz="1500" b="1">
                <a:solidFill>
                  <a:srgbClr val="27D3B2"/>
                </a:solidFill>
                <a:latin typeface="Arial"/>
                <a:ea typeface="Arial"/>
                <a:cs typeface="Arial"/>
              </a:defRPr>
            </a:pPr>
            <a:r>
              <a:rPr sz="1500" b="1">
                <a:solidFill>
                  <a:srgbClr val="27D3B2"/>
                </a:solidFill>
                <a:latin typeface="Arial"/>
                <a:ea typeface="Arial"/>
                <a:cs typeface="Arial"/>
              </a:rPr>
              <a:t>Open  http://localhost:3000</a:t>
            </a:r>
          </a:p>
        </p:txBody>
      </p:sp>
      <p:sp>
        <p:nvSpPr>
          <p:cNvPr id="17" name="">
            <a:extLst xmlns:a="http://schemas.openxmlformats.org/drawingml/2006/main">
              <a:ext uri="{FF2B5EF4-FFF2-40B4-BE49-F238E27FC236}">
                <a16:creationId xmlns:a16="http://schemas.microsoft.com/office/drawing/2014/main" id="{FFE18945-2EE9-42FF-9288-B4BF79C1D754}"/>
              </a:ext>
            </a:extLst>
          </p:cNvPr>
          <p:cNvSpPr>
            <a:spLocks xmlns:a="http://schemas.openxmlformats.org/drawingml/2006/main" noGrp="1"/>
          </p:cNvSpPr>
          <p:nvPr/>
        </p:nvSpPr>
        <p:spPr>
          <a:xfrm xmlns:a="http://schemas.openxmlformats.org/drawingml/2006/main">
            <a:off x="6800850" y="1619250"/>
            <a:ext cx="4476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7892A6"/>
                </a:solidFill>
                <a:latin typeface="Arial"/>
                <a:ea typeface="Arial"/>
                <a:cs typeface="Arial"/>
              </a:defRPr>
            </a:defPPr>
          </a:lstStyle>
          <a:p xmlns:a="http://schemas.openxmlformats.org/drawingml/2006/main">
            <a:pPr algn="l">
              <a:defRPr sz="1050" b="1">
                <a:solidFill>
                  <a:srgbClr val="7892A6"/>
                </a:solidFill>
                <a:latin typeface="Arial"/>
                <a:ea typeface="Arial"/>
                <a:cs typeface="Arial"/>
              </a:defRPr>
            </a:pPr>
            <a:r>
              <a:rPr sz="1050" b="1">
                <a:solidFill>
                  <a:srgbClr val="7892A6"/>
                </a:solidFill>
                <a:latin typeface="Arial"/>
                <a:ea typeface="Arial"/>
                <a:cs typeface="Arial"/>
              </a:rPr>
              <a:t>COMPOSE SERVICES</a:t>
            </a:r>
          </a:p>
        </p:txBody>
      </p:sp>
      <p:sp>
        <p:nvSpPr>
          <p:cNvPr id="18" name="">
            <a:extLst xmlns:a="http://schemas.openxmlformats.org/drawingml/2006/main">
              <a:ext uri="{FF2B5EF4-FFF2-40B4-BE49-F238E27FC236}">
                <a16:creationId xmlns:a16="http://schemas.microsoft.com/office/drawing/2014/main" id="{D027FD4B-B403-4F41-968D-424D2B20E70C}"/>
              </a:ext>
            </a:extLst>
          </p:cNvPr>
          <p:cNvSpPr>
            <a:spLocks xmlns:a="http://schemas.openxmlformats.org/drawingml/2006/main" noGrp="1"/>
          </p:cNvSpPr>
          <p:nvPr/>
        </p:nvSpPr>
        <p:spPr>
          <a:xfrm xmlns:a="http://schemas.openxmlformats.org/drawingml/2006/main">
            <a:off x="6810375" y="2028825"/>
            <a:ext cx="57150" cy="352425"/>
          </a:xfrm>
          <a:prstGeom xmlns:a="http://schemas.openxmlformats.org/drawingml/2006/main" prst="roundRect">
            <a:avLst>
              <a:gd name="adj" fmla="val 33333"/>
            </a:avLst>
          </a:prstGeom>
          <a:solidFill xmlns:a="http://schemas.openxmlformats.org/drawingml/2006/main">
            <a:srgbClr val="6FB7FF"/>
          </a:solidFill>
          <a:ln xmlns:a="http://schemas.openxmlformats.org/drawingml/2006/main" w="9525">
            <a:solidFill>
              <a:srgbClr val="6FB7FF"/>
            </a:solidFill>
            <a:prstDash val="solid"/>
          </a:ln>
        </p:spPr>
      </p:sp>
      <p:sp>
        <p:nvSpPr>
          <p:cNvPr id="19" name="">
            <a:extLst xmlns:a="http://schemas.openxmlformats.org/drawingml/2006/main">
              <a:ext uri="{FF2B5EF4-FFF2-40B4-BE49-F238E27FC236}">
                <a16:creationId xmlns:a16="http://schemas.microsoft.com/office/drawing/2014/main" id="{C1A332C3-BEDF-4DDF-B92F-E048311B92EE}"/>
              </a:ext>
            </a:extLst>
          </p:cNvPr>
          <p:cNvSpPr>
            <a:spLocks xmlns:a="http://schemas.openxmlformats.org/drawingml/2006/main" noGrp="1"/>
          </p:cNvSpPr>
          <p:nvPr/>
        </p:nvSpPr>
        <p:spPr>
          <a:xfrm xmlns:a="http://schemas.openxmlformats.org/drawingml/2006/main">
            <a:off x="7029450" y="2000250"/>
            <a:ext cx="2066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3F7FA"/>
                </a:solidFill>
                <a:latin typeface="Arial"/>
                <a:ea typeface="Arial"/>
                <a:cs typeface="Arial"/>
              </a:defRPr>
            </a:defPPr>
          </a:lstStyle>
          <a:p xmlns:a="http://schemas.openxmlformats.org/drawingml/2006/main">
            <a:pPr algn="l">
              <a:defRPr sz="1425" b="1">
                <a:solidFill>
                  <a:srgbClr val="F3F7FA"/>
                </a:solidFill>
                <a:latin typeface="Arial"/>
                <a:ea typeface="Arial"/>
                <a:cs typeface="Arial"/>
              </a:defRPr>
            </a:pPr>
            <a:r>
              <a:rPr sz="1425" b="1">
                <a:solidFill>
                  <a:srgbClr val="F3F7FA"/>
                </a:solidFill>
                <a:latin typeface="Arial"/>
                <a:ea typeface="Arial"/>
                <a:cs typeface="Arial"/>
              </a:rPr>
              <a:t>Frontend</a:t>
            </a:r>
          </a:p>
        </p:txBody>
      </p:sp>
      <p:sp>
        <p:nvSpPr>
          <p:cNvPr id="20" name="">
            <a:extLst xmlns:a="http://schemas.openxmlformats.org/drawingml/2006/main">
              <a:ext uri="{FF2B5EF4-FFF2-40B4-BE49-F238E27FC236}">
                <a16:creationId xmlns:a16="http://schemas.microsoft.com/office/drawing/2014/main" id="{088B4738-9162-4BE6-99C7-E723B66F7088}"/>
              </a:ext>
            </a:extLst>
          </p:cNvPr>
          <p:cNvSpPr>
            <a:spLocks xmlns:a="http://schemas.openxmlformats.org/drawingml/2006/main" noGrp="1"/>
          </p:cNvSpPr>
          <p:nvPr/>
        </p:nvSpPr>
        <p:spPr>
          <a:xfrm xmlns:a="http://schemas.openxmlformats.org/drawingml/2006/main">
            <a:off x="9525000" y="2009775"/>
            <a:ext cx="1695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75" b="0">
                <a:solidFill>
                  <a:srgbClr val="A8BDCC"/>
                </a:solidFill>
                <a:latin typeface="Arial"/>
                <a:ea typeface="Arial"/>
                <a:cs typeface="Arial"/>
              </a:defRPr>
            </a:defPPr>
          </a:lstStyle>
          <a:p xmlns:a="http://schemas.openxmlformats.org/drawingml/2006/main">
            <a:pPr algn="r">
              <a:defRPr sz="1275" b="0">
                <a:solidFill>
                  <a:srgbClr val="A8BDCC"/>
                </a:solidFill>
                <a:latin typeface="Arial"/>
                <a:ea typeface="Arial"/>
                <a:cs typeface="Arial"/>
              </a:defRPr>
            </a:pPr>
            <a:r>
              <a:rPr sz="1275" b="0">
                <a:solidFill>
                  <a:srgbClr val="A8BDCC"/>
                </a:solidFill>
                <a:latin typeface="Arial"/>
                <a:ea typeface="Arial"/>
                <a:cs typeface="Arial"/>
              </a:rPr>
              <a:t>3000</a:t>
            </a:r>
          </a:p>
        </p:txBody>
      </p:sp>
      <p:sp>
        <p:nvSpPr>
          <p:cNvPr id="21" name="">
            <a:extLst xmlns:a="http://schemas.openxmlformats.org/drawingml/2006/main">
              <a:ext uri="{FF2B5EF4-FFF2-40B4-BE49-F238E27FC236}">
                <a16:creationId xmlns:a16="http://schemas.microsoft.com/office/drawing/2014/main" id="{8582B100-F20A-42D9-B272-366EC627C766}"/>
              </a:ext>
            </a:extLst>
          </p:cNvPr>
          <p:cNvSpPr>
            <a:spLocks xmlns:a="http://schemas.openxmlformats.org/drawingml/2006/main" noGrp="1"/>
          </p:cNvSpPr>
          <p:nvPr/>
        </p:nvSpPr>
        <p:spPr>
          <a:xfrm xmlns:a="http://schemas.openxmlformats.org/drawingml/2006/main">
            <a:off x="6810375" y="2619375"/>
            <a:ext cx="57150" cy="352425"/>
          </a:xfrm>
          <a:prstGeom xmlns:a="http://schemas.openxmlformats.org/drawingml/2006/main" prst="roundRect">
            <a:avLst>
              <a:gd name="adj" fmla="val 33333"/>
            </a:avLst>
          </a:prstGeom>
          <a:solidFill xmlns:a="http://schemas.openxmlformats.org/drawingml/2006/main">
            <a:srgbClr val="F4B860"/>
          </a:solidFill>
          <a:ln xmlns:a="http://schemas.openxmlformats.org/drawingml/2006/main" w="9525">
            <a:solidFill>
              <a:srgbClr val="F4B860"/>
            </a:solidFill>
            <a:prstDash val="solid"/>
          </a:ln>
        </p:spPr>
      </p:sp>
      <p:sp>
        <p:nvSpPr>
          <p:cNvPr id="22" name="">
            <a:extLst xmlns:a="http://schemas.openxmlformats.org/drawingml/2006/main">
              <a:ext uri="{FF2B5EF4-FFF2-40B4-BE49-F238E27FC236}">
                <a16:creationId xmlns:a16="http://schemas.microsoft.com/office/drawing/2014/main" id="{956676F3-7BD1-44D5-8B03-7A8C91E20220}"/>
              </a:ext>
            </a:extLst>
          </p:cNvPr>
          <p:cNvSpPr>
            <a:spLocks xmlns:a="http://schemas.openxmlformats.org/drawingml/2006/main" noGrp="1"/>
          </p:cNvSpPr>
          <p:nvPr/>
        </p:nvSpPr>
        <p:spPr>
          <a:xfrm xmlns:a="http://schemas.openxmlformats.org/drawingml/2006/main">
            <a:off x="7029450" y="2590800"/>
            <a:ext cx="2066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3F7FA"/>
                </a:solidFill>
                <a:latin typeface="Arial"/>
                <a:ea typeface="Arial"/>
                <a:cs typeface="Arial"/>
              </a:defRPr>
            </a:defPPr>
          </a:lstStyle>
          <a:p xmlns:a="http://schemas.openxmlformats.org/drawingml/2006/main">
            <a:pPr algn="l">
              <a:defRPr sz="1425" b="1">
                <a:solidFill>
                  <a:srgbClr val="F3F7FA"/>
                </a:solidFill>
                <a:latin typeface="Arial"/>
                <a:ea typeface="Arial"/>
                <a:cs typeface="Arial"/>
              </a:defRPr>
            </a:pPr>
            <a:r>
              <a:rPr sz="1425" b="1">
                <a:solidFill>
                  <a:srgbClr val="F3F7FA"/>
                </a:solidFill>
                <a:latin typeface="Arial"/>
                <a:ea typeface="Arial"/>
                <a:cs typeface="Arial"/>
              </a:rPr>
              <a:t>Coordinator</a:t>
            </a:r>
          </a:p>
        </p:txBody>
      </p:sp>
      <p:sp>
        <p:nvSpPr>
          <p:cNvPr id="23" name="">
            <a:extLst xmlns:a="http://schemas.openxmlformats.org/drawingml/2006/main">
              <a:ext uri="{FF2B5EF4-FFF2-40B4-BE49-F238E27FC236}">
                <a16:creationId xmlns:a16="http://schemas.microsoft.com/office/drawing/2014/main" id="{3D7F0D2F-224E-41EA-929E-25F3CB4D7C36}"/>
              </a:ext>
            </a:extLst>
          </p:cNvPr>
          <p:cNvSpPr>
            <a:spLocks xmlns:a="http://schemas.openxmlformats.org/drawingml/2006/main" noGrp="1"/>
          </p:cNvSpPr>
          <p:nvPr/>
        </p:nvSpPr>
        <p:spPr>
          <a:xfrm xmlns:a="http://schemas.openxmlformats.org/drawingml/2006/main">
            <a:off x="9525000" y="2600325"/>
            <a:ext cx="1695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75" b="0">
                <a:solidFill>
                  <a:srgbClr val="A8BDCC"/>
                </a:solidFill>
                <a:latin typeface="Arial"/>
                <a:ea typeface="Arial"/>
                <a:cs typeface="Arial"/>
              </a:defRPr>
            </a:defPPr>
          </a:lstStyle>
          <a:p xmlns:a="http://schemas.openxmlformats.org/drawingml/2006/main">
            <a:pPr algn="r">
              <a:defRPr sz="1275" b="0">
                <a:solidFill>
                  <a:srgbClr val="A8BDCC"/>
                </a:solidFill>
                <a:latin typeface="Arial"/>
                <a:ea typeface="Arial"/>
                <a:cs typeface="Arial"/>
              </a:defRPr>
            </a:pPr>
            <a:r>
              <a:rPr sz="1275" b="0">
                <a:solidFill>
                  <a:srgbClr val="A8BDCC"/>
                </a:solidFill>
                <a:latin typeface="Arial"/>
                <a:ea typeface="Arial"/>
                <a:cs typeface="Arial"/>
              </a:rPr>
              <a:t>4000</a:t>
            </a:r>
          </a:p>
        </p:txBody>
      </p:sp>
      <p:sp>
        <p:nvSpPr>
          <p:cNvPr id="24" name="">
            <a:extLst xmlns:a="http://schemas.openxmlformats.org/drawingml/2006/main">
              <a:ext uri="{FF2B5EF4-FFF2-40B4-BE49-F238E27FC236}">
                <a16:creationId xmlns:a16="http://schemas.microsoft.com/office/drawing/2014/main" id="{26D4244F-3902-4DD8-9639-00A7C60039BC}"/>
              </a:ext>
            </a:extLst>
          </p:cNvPr>
          <p:cNvSpPr>
            <a:spLocks xmlns:a="http://schemas.openxmlformats.org/drawingml/2006/main" noGrp="1"/>
          </p:cNvSpPr>
          <p:nvPr/>
        </p:nvSpPr>
        <p:spPr>
          <a:xfrm xmlns:a="http://schemas.openxmlformats.org/drawingml/2006/main">
            <a:off x="6810375" y="3209925"/>
            <a:ext cx="57150" cy="352425"/>
          </a:xfrm>
          <a:prstGeom xmlns:a="http://schemas.openxmlformats.org/drawingml/2006/main" prst="roundRect">
            <a:avLst>
              <a:gd name="adj" fmla="val 33333"/>
            </a:avLst>
          </a:prstGeom>
          <a:solidFill xmlns:a="http://schemas.openxmlformats.org/drawingml/2006/main">
            <a:srgbClr val="27D3B2"/>
          </a:solidFill>
          <a:ln xmlns:a="http://schemas.openxmlformats.org/drawingml/2006/main" w="9525">
            <a:solidFill>
              <a:srgbClr val="27D3B2"/>
            </a:solidFill>
            <a:prstDash val="solid"/>
          </a:ln>
        </p:spPr>
      </p:sp>
      <p:sp>
        <p:nvSpPr>
          <p:cNvPr id="25" name="">
            <a:extLst xmlns:a="http://schemas.openxmlformats.org/drawingml/2006/main">
              <a:ext uri="{FF2B5EF4-FFF2-40B4-BE49-F238E27FC236}">
                <a16:creationId xmlns:a16="http://schemas.microsoft.com/office/drawing/2014/main" id="{325BA299-EB73-493D-A541-F2755C50BF13}"/>
              </a:ext>
            </a:extLst>
          </p:cNvPr>
          <p:cNvSpPr>
            <a:spLocks xmlns:a="http://schemas.openxmlformats.org/drawingml/2006/main" noGrp="1"/>
          </p:cNvSpPr>
          <p:nvPr/>
        </p:nvSpPr>
        <p:spPr>
          <a:xfrm xmlns:a="http://schemas.openxmlformats.org/drawingml/2006/main">
            <a:off x="7029450" y="3181350"/>
            <a:ext cx="2066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3F7FA"/>
                </a:solidFill>
                <a:latin typeface="Arial"/>
                <a:ea typeface="Arial"/>
                <a:cs typeface="Arial"/>
              </a:defRPr>
            </a:defPPr>
          </a:lstStyle>
          <a:p xmlns:a="http://schemas.openxmlformats.org/drawingml/2006/main">
            <a:pPr algn="l">
              <a:defRPr sz="1425" b="1">
                <a:solidFill>
                  <a:srgbClr val="F3F7FA"/>
                </a:solidFill>
                <a:latin typeface="Arial"/>
                <a:ea typeface="Arial"/>
                <a:cs typeface="Arial"/>
              </a:defRPr>
            </a:pPr>
            <a:r>
              <a:rPr sz="1425" b="1">
                <a:solidFill>
                  <a:srgbClr val="F3F7FA"/>
                </a:solidFill>
                <a:latin typeface="Arial"/>
                <a:ea typeface="Arial"/>
                <a:cs typeface="Arial"/>
              </a:rPr>
              <a:t>Storage nodes</a:t>
            </a:r>
          </a:p>
        </p:txBody>
      </p:sp>
      <p:sp>
        <p:nvSpPr>
          <p:cNvPr id="26" name="">
            <a:extLst xmlns:a="http://schemas.openxmlformats.org/drawingml/2006/main">
              <a:ext uri="{FF2B5EF4-FFF2-40B4-BE49-F238E27FC236}">
                <a16:creationId xmlns:a16="http://schemas.microsoft.com/office/drawing/2014/main" id="{1E3CB2AA-BCDB-470D-BCFA-AF0C8A80665F}"/>
              </a:ext>
            </a:extLst>
          </p:cNvPr>
          <p:cNvSpPr>
            <a:spLocks xmlns:a="http://schemas.openxmlformats.org/drawingml/2006/main" noGrp="1"/>
          </p:cNvSpPr>
          <p:nvPr/>
        </p:nvSpPr>
        <p:spPr>
          <a:xfrm xmlns:a="http://schemas.openxmlformats.org/drawingml/2006/main">
            <a:off x="9525000" y="3190875"/>
            <a:ext cx="1695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75" b="0">
                <a:solidFill>
                  <a:srgbClr val="A8BDCC"/>
                </a:solidFill>
                <a:latin typeface="Arial"/>
                <a:ea typeface="Arial"/>
                <a:cs typeface="Arial"/>
              </a:defRPr>
            </a:defPPr>
          </a:lstStyle>
          <a:p xmlns:a="http://schemas.openxmlformats.org/drawingml/2006/main">
            <a:pPr algn="r">
              <a:defRPr sz="1275" b="0">
                <a:solidFill>
                  <a:srgbClr val="A8BDCC"/>
                </a:solidFill>
                <a:latin typeface="Arial"/>
                <a:ea typeface="Arial"/>
                <a:cs typeface="Arial"/>
              </a:defRPr>
            </a:pPr>
            <a:r>
              <a:rPr sz="1275" b="0">
                <a:solidFill>
                  <a:srgbClr val="A8BDCC"/>
                </a:solidFill>
                <a:latin typeface="Arial"/>
                <a:ea typeface="Arial"/>
                <a:cs typeface="Arial"/>
              </a:rPr>
              <a:t>5001–5003</a:t>
            </a:r>
          </a:p>
        </p:txBody>
      </p:sp>
      <p:sp>
        <p:nvSpPr>
          <p:cNvPr id="27" name="">
            <a:extLst xmlns:a="http://schemas.openxmlformats.org/drawingml/2006/main">
              <a:ext uri="{FF2B5EF4-FFF2-40B4-BE49-F238E27FC236}">
                <a16:creationId xmlns:a16="http://schemas.microsoft.com/office/drawing/2014/main" id="{565D612C-1DC4-4F00-865D-0EB70A905CBA}"/>
              </a:ext>
            </a:extLst>
          </p:cNvPr>
          <p:cNvSpPr>
            <a:spLocks xmlns:a="http://schemas.openxmlformats.org/drawingml/2006/main" noGrp="1"/>
          </p:cNvSpPr>
          <p:nvPr/>
        </p:nvSpPr>
        <p:spPr>
          <a:xfrm xmlns:a="http://schemas.openxmlformats.org/drawingml/2006/main">
            <a:off x="6810375" y="3800475"/>
            <a:ext cx="57150" cy="352425"/>
          </a:xfrm>
          <a:prstGeom xmlns:a="http://schemas.openxmlformats.org/drawingml/2006/main" prst="roundRect">
            <a:avLst>
              <a:gd name="adj" fmla="val 33333"/>
            </a:avLst>
          </a:prstGeom>
          <a:solidFill xmlns:a="http://schemas.openxmlformats.org/drawingml/2006/main">
            <a:srgbClr val="B5A2FF"/>
          </a:solidFill>
          <a:ln xmlns:a="http://schemas.openxmlformats.org/drawingml/2006/main" w="9525">
            <a:solidFill>
              <a:srgbClr val="B5A2FF"/>
            </a:solidFill>
            <a:prstDash val="solid"/>
          </a:ln>
        </p:spPr>
      </p:sp>
      <p:sp>
        <p:nvSpPr>
          <p:cNvPr id="28" name="">
            <a:extLst xmlns:a="http://schemas.openxmlformats.org/drawingml/2006/main">
              <a:ext uri="{FF2B5EF4-FFF2-40B4-BE49-F238E27FC236}">
                <a16:creationId xmlns:a16="http://schemas.microsoft.com/office/drawing/2014/main" id="{F6A03D23-5CDC-40F4-B43A-3A0926FDB259}"/>
              </a:ext>
            </a:extLst>
          </p:cNvPr>
          <p:cNvSpPr>
            <a:spLocks xmlns:a="http://schemas.openxmlformats.org/drawingml/2006/main" noGrp="1"/>
          </p:cNvSpPr>
          <p:nvPr/>
        </p:nvSpPr>
        <p:spPr>
          <a:xfrm xmlns:a="http://schemas.openxmlformats.org/drawingml/2006/main">
            <a:off x="7029450" y="3771900"/>
            <a:ext cx="2066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3F7FA"/>
                </a:solidFill>
                <a:latin typeface="Arial"/>
                <a:ea typeface="Arial"/>
                <a:cs typeface="Arial"/>
              </a:defRPr>
            </a:defPPr>
          </a:lstStyle>
          <a:p xmlns:a="http://schemas.openxmlformats.org/drawingml/2006/main">
            <a:pPr algn="l">
              <a:defRPr sz="1425" b="1">
                <a:solidFill>
                  <a:srgbClr val="F3F7FA"/>
                </a:solidFill>
                <a:latin typeface="Arial"/>
                <a:ea typeface="Arial"/>
                <a:cs typeface="Arial"/>
              </a:defRPr>
            </a:pPr>
            <a:r>
              <a:rPr sz="1425" b="1">
                <a:solidFill>
                  <a:srgbClr val="F3F7FA"/>
                </a:solidFill>
                <a:latin typeface="Arial"/>
                <a:ea typeface="Arial"/>
                <a:cs typeface="Arial"/>
              </a:rPr>
              <a:t>NATS</a:t>
            </a:r>
          </a:p>
        </p:txBody>
      </p:sp>
      <p:sp>
        <p:nvSpPr>
          <p:cNvPr id="29" name="">
            <a:extLst xmlns:a="http://schemas.openxmlformats.org/drawingml/2006/main">
              <a:ext uri="{FF2B5EF4-FFF2-40B4-BE49-F238E27FC236}">
                <a16:creationId xmlns:a16="http://schemas.microsoft.com/office/drawing/2014/main" id="{8FE43290-6CBF-4F94-AC3F-A201AE24AD88}"/>
              </a:ext>
            </a:extLst>
          </p:cNvPr>
          <p:cNvSpPr>
            <a:spLocks xmlns:a="http://schemas.openxmlformats.org/drawingml/2006/main" noGrp="1"/>
          </p:cNvSpPr>
          <p:nvPr/>
        </p:nvSpPr>
        <p:spPr>
          <a:xfrm xmlns:a="http://schemas.openxmlformats.org/drawingml/2006/main">
            <a:off x="9525000" y="3781425"/>
            <a:ext cx="1695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75" b="0">
                <a:solidFill>
                  <a:srgbClr val="A8BDCC"/>
                </a:solidFill>
                <a:latin typeface="Arial"/>
                <a:ea typeface="Arial"/>
                <a:cs typeface="Arial"/>
              </a:defRPr>
            </a:defPPr>
          </a:lstStyle>
          <a:p xmlns:a="http://schemas.openxmlformats.org/drawingml/2006/main">
            <a:pPr algn="r">
              <a:defRPr sz="1275" b="0">
                <a:solidFill>
                  <a:srgbClr val="A8BDCC"/>
                </a:solidFill>
                <a:latin typeface="Arial"/>
                <a:ea typeface="Arial"/>
                <a:cs typeface="Arial"/>
              </a:defRPr>
            </a:pPr>
            <a:r>
              <a:rPr sz="1275" b="0">
                <a:solidFill>
                  <a:srgbClr val="A8BDCC"/>
                </a:solidFill>
                <a:latin typeface="Arial"/>
                <a:ea typeface="Arial"/>
                <a:cs typeface="Arial"/>
              </a:rPr>
              <a:t>4222 / 8222</a:t>
            </a:r>
          </a:p>
        </p:txBody>
      </p:sp>
      <p:sp>
        <p:nvSpPr>
          <p:cNvPr id="30" name="">
            <a:extLst xmlns:a="http://schemas.openxmlformats.org/drawingml/2006/main">
              <a:ext uri="{FF2B5EF4-FFF2-40B4-BE49-F238E27FC236}">
                <a16:creationId xmlns:a16="http://schemas.microsoft.com/office/drawing/2014/main" id="{128A99F7-ED63-4762-AEB0-36D3125E8469}"/>
              </a:ext>
            </a:extLst>
          </p:cNvPr>
          <p:cNvSpPr>
            <a:spLocks xmlns:a="http://schemas.openxmlformats.org/drawingml/2006/main" noGrp="1"/>
          </p:cNvSpPr>
          <p:nvPr/>
        </p:nvSpPr>
        <p:spPr>
          <a:xfrm xmlns:a="http://schemas.openxmlformats.org/drawingml/2006/main">
            <a:off x="6810375" y="4391025"/>
            <a:ext cx="57150" cy="352425"/>
          </a:xfrm>
          <a:prstGeom xmlns:a="http://schemas.openxmlformats.org/drawingml/2006/main" prst="roundRect">
            <a:avLst>
              <a:gd name="adj" fmla="val 33333"/>
            </a:avLst>
          </a:prstGeom>
          <a:solidFill xmlns:a="http://schemas.openxmlformats.org/drawingml/2006/main">
            <a:srgbClr val="F17676"/>
          </a:solidFill>
          <a:ln xmlns:a="http://schemas.openxmlformats.org/drawingml/2006/main" w="9525">
            <a:solidFill>
              <a:srgbClr val="F17676"/>
            </a:solidFill>
            <a:prstDash val="solid"/>
          </a:ln>
        </p:spPr>
      </p:sp>
      <p:sp>
        <p:nvSpPr>
          <p:cNvPr id="31" name="">
            <a:extLst xmlns:a="http://schemas.openxmlformats.org/drawingml/2006/main">
              <a:ext uri="{FF2B5EF4-FFF2-40B4-BE49-F238E27FC236}">
                <a16:creationId xmlns:a16="http://schemas.microsoft.com/office/drawing/2014/main" id="{3AD9F928-115E-476F-AA76-E9387F39E9F0}"/>
              </a:ext>
            </a:extLst>
          </p:cNvPr>
          <p:cNvSpPr>
            <a:spLocks xmlns:a="http://schemas.openxmlformats.org/drawingml/2006/main" noGrp="1"/>
          </p:cNvSpPr>
          <p:nvPr/>
        </p:nvSpPr>
        <p:spPr>
          <a:xfrm xmlns:a="http://schemas.openxmlformats.org/drawingml/2006/main">
            <a:off x="7029450" y="4362450"/>
            <a:ext cx="2066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3F7FA"/>
                </a:solidFill>
                <a:latin typeface="Arial"/>
                <a:ea typeface="Arial"/>
                <a:cs typeface="Arial"/>
              </a:defRPr>
            </a:defPPr>
          </a:lstStyle>
          <a:p xmlns:a="http://schemas.openxmlformats.org/drawingml/2006/main">
            <a:pPr algn="l">
              <a:defRPr sz="1425" b="1">
                <a:solidFill>
                  <a:srgbClr val="F3F7FA"/>
                </a:solidFill>
                <a:latin typeface="Arial"/>
                <a:ea typeface="Arial"/>
                <a:cs typeface="Arial"/>
              </a:defRPr>
            </a:pPr>
            <a:r>
              <a:rPr sz="1425" b="1">
                <a:solidFill>
                  <a:srgbClr val="F3F7FA"/>
                </a:solidFill>
                <a:latin typeface="Arial"/>
                <a:ea typeface="Arial"/>
                <a:cs typeface="Arial"/>
              </a:rPr>
              <a:t>PostgreSQL</a:t>
            </a:r>
          </a:p>
        </p:txBody>
      </p:sp>
      <p:sp>
        <p:nvSpPr>
          <p:cNvPr id="32" name="">
            <a:extLst xmlns:a="http://schemas.openxmlformats.org/drawingml/2006/main">
              <a:ext uri="{FF2B5EF4-FFF2-40B4-BE49-F238E27FC236}">
                <a16:creationId xmlns:a16="http://schemas.microsoft.com/office/drawing/2014/main" id="{8416C8FA-493D-45AD-90F7-DFE27CDB1637}"/>
              </a:ext>
            </a:extLst>
          </p:cNvPr>
          <p:cNvSpPr>
            <a:spLocks xmlns:a="http://schemas.openxmlformats.org/drawingml/2006/main" noGrp="1"/>
          </p:cNvSpPr>
          <p:nvPr/>
        </p:nvSpPr>
        <p:spPr>
          <a:xfrm xmlns:a="http://schemas.openxmlformats.org/drawingml/2006/main">
            <a:off x="9525000" y="4371975"/>
            <a:ext cx="1695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75" b="0">
                <a:solidFill>
                  <a:srgbClr val="A8BDCC"/>
                </a:solidFill>
                <a:latin typeface="Arial"/>
                <a:ea typeface="Arial"/>
                <a:cs typeface="Arial"/>
              </a:defRPr>
            </a:defPPr>
          </a:lstStyle>
          <a:p xmlns:a="http://schemas.openxmlformats.org/drawingml/2006/main">
            <a:pPr algn="r">
              <a:defRPr sz="1275" b="0">
                <a:solidFill>
                  <a:srgbClr val="A8BDCC"/>
                </a:solidFill>
                <a:latin typeface="Arial"/>
                <a:ea typeface="Arial"/>
                <a:cs typeface="Arial"/>
              </a:defRPr>
            </a:pPr>
            <a:r>
              <a:rPr sz="1275" b="0">
                <a:solidFill>
                  <a:srgbClr val="A8BDCC"/>
                </a:solidFill>
                <a:latin typeface="Arial"/>
                <a:ea typeface="Arial"/>
                <a:cs typeface="Arial"/>
              </a:rPr>
              <a:t>5432</a:t>
            </a:r>
          </a:p>
        </p:txBody>
      </p:sp>
      <p:sp>
        <p:nvSpPr>
          <p:cNvPr id="33" name="">
            <a:extLst xmlns:a="http://schemas.openxmlformats.org/drawingml/2006/main">
              <a:ext uri="{FF2B5EF4-FFF2-40B4-BE49-F238E27FC236}">
                <a16:creationId xmlns:a16="http://schemas.microsoft.com/office/drawing/2014/main" id="{815D500C-5DE5-44D9-AC91-67964A4A8733}"/>
              </a:ext>
            </a:extLst>
          </p:cNvPr>
          <p:cNvSpPr>
            <a:spLocks xmlns:a="http://schemas.openxmlformats.org/drawingml/2006/main" noGrp="1"/>
          </p:cNvSpPr>
          <p:nvPr/>
        </p:nvSpPr>
        <p:spPr>
          <a:xfrm xmlns:a="http://schemas.openxmlformats.org/drawingml/2006/main">
            <a:off x="6800850" y="5029200"/>
            <a:ext cx="445770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34" name="">
            <a:extLst xmlns:a="http://schemas.openxmlformats.org/drawingml/2006/main">
              <a:ext uri="{FF2B5EF4-FFF2-40B4-BE49-F238E27FC236}">
                <a16:creationId xmlns:a16="http://schemas.microsoft.com/office/drawing/2014/main" id="{838D88E3-2609-4A1B-A930-71119C3F63FF}"/>
              </a:ext>
            </a:extLst>
          </p:cNvPr>
          <p:cNvSpPr>
            <a:spLocks xmlns:a="http://schemas.openxmlformats.org/drawingml/2006/main" noGrp="1"/>
          </p:cNvSpPr>
          <p:nvPr/>
        </p:nvSpPr>
        <p:spPr>
          <a:xfrm xmlns:a="http://schemas.openxmlformats.org/drawingml/2006/main">
            <a:off x="6810375" y="5229225"/>
            <a:ext cx="4429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Named PostgreSQL volume + per-node storage mounts persist data.</a:t>
            </a:r>
          </a:p>
        </p:txBody>
      </p:sp>
      <p:sp>
        <p:nvSpPr>
          <p:cNvPr id="35" name="">
            <a:extLst xmlns:a="http://schemas.openxmlformats.org/drawingml/2006/main">
              <a:ext uri="{FF2B5EF4-FFF2-40B4-BE49-F238E27FC236}">
                <a16:creationId xmlns:a16="http://schemas.microsoft.com/office/drawing/2014/main" id="{42E3BFEE-3F2E-4D2D-87FB-EA2984CB37FB}"/>
              </a:ext>
            </a:extLst>
          </p:cNvPr>
          <p:cNvSpPr>
            <a:spLocks xmlns:a="http://schemas.openxmlformats.org/drawingml/2006/main" noGrp="1"/>
          </p:cNvSpPr>
          <p:nvPr/>
        </p:nvSpPr>
        <p:spPr>
          <a:xfrm xmlns:a="http://schemas.openxmlformats.org/drawingml/2006/main">
            <a:off x="752475" y="5724525"/>
            <a:ext cx="1038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4B860"/>
                </a:solidFill>
                <a:latin typeface="Arial"/>
                <a:ea typeface="Arial"/>
                <a:cs typeface="Arial"/>
              </a:defRPr>
            </a:defPPr>
          </a:lstStyle>
          <a:p xmlns:a="http://schemas.openxmlformats.org/drawingml/2006/main">
            <a:pPr algn="l">
              <a:defRPr sz="1350" b="1">
                <a:solidFill>
                  <a:srgbClr val="F4B860"/>
                </a:solidFill>
                <a:latin typeface="Arial"/>
                <a:ea typeface="Arial"/>
                <a:cs typeface="Arial"/>
              </a:defRPr>
            </a:pPr>
            <a:r>
              <a:rPr sz="1350" b="1">
                <a:solidFill>
                  <a:srgbClr val="F4B860"/>
                </a:solidFill>
                <a:latin typeface="Arial"/>
                <a:ea typeface="Arial"/>
                <a:cs typeface="Arial"/>
              </a:rPr>
              <a:t>In this repository, Compose is the documented deployment path; no Kubernetes manifests are included.</a:t>
            </a:r>
          </a:p>
        </p:txBody>
      </p:sp>
    </p:spTree>
    <p:extLst>
      <p:ext uri="{BB962C8B-B14F-4D97-AF65-F5344CB8AC3E}">
        <p14:creationId xmlns:p14="http://schemas.microsoft.com/office/powerpoint/2010/main" val="1241319054"/>
      </p:ext>
    </p:extLst>
  </p:cSld>
</p:sld>
</file>

<file path=ppt/slides/slide10.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3" name="title-10">
            <a:extLst xmlns:a="http://schemas.openxmlformats.org/drawingml/2006/main">
              <a:ext uri="{FF2B5EF4-FFF2-40B4-BE49-F238E27FC236}">
                <a16:creationId xmlns:a16="http://schemas.microsoft.com/office/drawing/2014/main" id="{E18BDF94-7C06-4A68-8C05-8A6E292E4FE4}"/>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3F7FA"/>
                </a:solidFill>
                <a:latin typeface="Arial"/>
                <a:ea typeface="Arial"/>
                <a:cs typeface="Arial"/>
              </a:defRPr>
            </a:defPPr>
          </a:lstStyle>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Demo path and evidence</a:t>
            </a:r>
          </a:p>
        </p:txBody>
      </p:sp>
      <p:sp>
        <p:nvSpPr>
          <p:cNvPr id="2" name="">
            <a:extLst xmlns:a="http://schemas.openxmlformats.org/drawingml/2006/main">
              <a:ext uri="{FF2B5EF4-FFF2-40B4-BE49-F238E27FC236}">
                <a16:creationId xmlns:a16="http://schemas.microsoft.com/office/drawing/2014/main" id="{EC82C29D-C3F5-4F1E-AB92-8E89C6CB4C11}"/>
              </a:ext>
            </a:extLst>
          </p:cNvPr>
          <p:cNvSpPr>
            <a:spLocks xmlns:a="http://schemas.openxmlformats.org/drawingml/2006/main" noGrp="1"/>
          </p:cNvSpPr>
          <p:nvPr/>
        </p:nvSpPr>
        <p:spPr>
          <a:xfrm xmlns:a="http://schemas.openxmlformats.org/drawingml/2006/main">
            <a:off x="704850" y="962025"/>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A8BDCC"/>
                </a:solidFill>
                <a:latin typeface="Arial"/>
                <a:ea typeface="Arial"/>
                <a:cs typeface="Arial"/>
              </a:defRPr>
            </a:defPPr>
          </a:lstStyle>
          <a:p xmlns:a="http://schemas.openxmlformats.org/drawingml/2006/main">
            <a:pPr algn="l">
              <a:defRPr sz="1425" b="0">
                <a:solidFill>
                  <a:srgbClr val="A8BDCC"/>
                </a:solidFill>
                <a:latin typeface="Arial"/>
                <a:ea typeface="Arial"/>
                <a:cs typeface="Arial"/>
              </a:defRPr>
            </a:pPr>
            <a:r>
              <a:rPr sz="1425" b="0">
                <a:solidFill>
                  <a:srgbClr val="A8BDCC"/>
                </a:solidFill>
                <a:latin typeface="Arial"/>
                <a:ea typeface="Arial"/>
                <a:cs typeface="Arial"/>
              </a:rPr>
              <a:t>A small deterministic upload demonstrates placement, integrity and replicated copies.</a:t>
            </a:r>
          </a:p>
        </p:txBody>
      </p:sp>
      <p:sp>
        <p:nvSpPr>
          <p:cNvPr id="3" name="">
            <a:extLst xmlns:a="http://schemas.openxmlformats.org/drawingml/2006/main">
              <a:ext uri="{FF2B5EF4-FFF2-40B4-BE49-F238E27FC236}">
                <a16:creationId xmlns:a16="http://schemas.microsoft.com/office/drawing/2014/main" id="{FFA42B75-ABE7-4906-83DF-19134C15DD3F}"/>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0374A"/>
            </a:solidFill>
            <a:prstDash val="solid"/>
          </a:ln>
        </p:spPr>
      </p:sp>
      <p:sp>
        <p:nvSpPr>
          <p:cNvPr id="4" name="">
            <a:extLst xmlns:a="http://schemas.openxmlformats.org/drawingml/2006/main">
              <a:ext uri="{FF2B5EF4-FFF2-40B4-BE49-F238E27FC236}">
                <a16:creationId xmlns:a16="http://schemas.microsoft.com/office/drawing/2014/main" id="{F95E589B-5066-4626-99AE-FD73BA7BC9BB}"/>
              </a:ext>
            </a:extLst>
          </p:cNvPr>
          <p:cNvSpPr>
            <a:spLocks xmlns:a="http://schemas.openxmlformats.org/drawingml/2006/main" noGrp="1"/>
          </p:cNvSpPr>
          <p:nvPr/>
        </p:nvSpPr>
        <p:spPr>
          <a:xfrm xmlns:a="http://schemas.openxmlformats.org/drawingml/2006/main">
            <a:off x="704850" y="64960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892A6"/>
                </a:solidFill>
                <a:latin typeface="Arial"/>
                <a:ea typeface="Arial"/>
                <a:cs typeface="Arial"/>
              </a:defRPr>
            </a:defPPr>
          </a:lstStyle>
          <a:p xmlns:a="http://schemas.openxmlformats.org/drawingml/2006/main">
            <a:pPr algn="l">
              <a:defRPr sz="900" b="0">
                <a:solidFill>
                  <a:srgbClr val="7892A6"/>
                </a:solidFill>
                <a:latin typeface="Arial"/>
                <a:ea typeface="Arial"/>
                <a:cs typeface="Arial"/>
              </a:defRPr>
            </a:pPr>
            <a:r>
              <a:rPr sz="900" b="0">
                <a:solidFill>
                  <a:srgbClr val="7892A6"/>
                </a:solidFill>
                <a:latin typeface="Arial"/>
                <a:ea typeface="Arial"/>
                <a:cs typeface="Arial"/>
              </a:rPr>
              <a:t>DISTRIBUTED MODEL REPOSITORY  /  PROJECT WALKTHROUGH</a:t>
            </a:r>
          </a:p>
        </p:txBody>
      </p:sp>
      <p:sp>
        <p:nvSpPr>
          <p:cNvPr id="5" name="">
            <a:extLst xmlns:a="http://schemas.openxmlformats.org/drawingml/2006/main">
              <a:ext uri="{FF2B5EF4-FFF2-40B4-BE49-F238E27FC236}">
                <a16:creationId xmlns:a16="http://schemas.microsoft.com/office/drawing/2014/main" id="{13493123-72C4-40F6-A57B-50F046EDA66D}"/>
              </a:ext>
            </a:extLst>
          </p:cNvPr>
          <p:cNvSpPr>
            <a:spLocks xmlns:a="http://schemas.openxmlformats.org/drawingml/2006/main" noGrp="1"/>
          </p:cNvSpPr>
          <p:nvPr/>
        </p:nvSpPr>
        <p:spPr>
          <a:xfrm xmlns:a="http://schemas.openxmlformats.org/drawingml/2006/main">
            <a:off x="11049000" y="64865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7892A6"/>
                </a:solidFill>
                <a:latin typeface="Arial"/>
                <a:ea typeface="Arial"/>
                <a:cs typeface="Arial"/>
              </a:defRPr>
            </a:defPPr>
          </a:lstStyle>
          <a:p xmlns:a="http://schemas.openxmlformats.org/drawingml/2006/main">
            <a:pPr algn="r">
              <a:defRPr sz="975" b="0">
                <a:solidFill>
                  <a:srgbClr val="7892A6"/>
                </a:solidFill>
                <a:latin typeface="Arial"/>
                <a:ea typeface="Arial"/>
                <a:cs typeface="Arial"/>
              </a:defRPr>
            </a:pPr>
            <a:r>
              <a:rPr sz="975" b="0">
                <a:solidFill>
                  <a:srgbClr val="7892A6"/>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2A81BCE0-0E4D-4EFB-A530-5FA93744C7C2}"/>
              </a:ext>
            </a:extLst>
          </p:cNvPr>
          <p:cNvSpPr>
            <a:spLocks xmlns:a="http://schemas.openxmlformats.org/drawingml/2006/main" noGrp="1"/>
          </p:cNvSpPr>
          <p:nvPr/>
        </p:nvSpPr>
        <p:spPr>
          <a:xfrm xmlns:a="http://schemas.openxmlformats.org/drawingml/2006/main">
            <a:off x="771525" y="1695450"/>
            <a:ext cx="42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27D3B2"/>
                </a:solidFill>
                <a:latin typeface="Arial"/>
                <a:ea typeface="Arial"/>
                <a:cs typeface="Arial"/>
              </a:defRPr>
            </a:defPPr>
          </a:lstStyle>
          <a:p xmlns:a="http://schemas.openxmlformats.org/drawingml/2006/main">
            <a:pPr algn="l">
              <a:defRPr sz="2850" b="1">
                <a:solidFill>
                  <a:srgbClr val="27D3B2"/>
                </a:solidFill>
                <a:latin typeface="Arial"/>
                <a:ea typeface="Arial"/>
                <a:cs typeface="Arial"/>
              </a:defRPr>
            </a:pPr>
            <a:r>
              <a:rPr sz="2850" b="1">
                <a:solidFill>
                  <a:srgbClr val="27D3B2"/>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E624D897-AACC-45EA-8BED-A0514C5B0720}"/>
              </a:ext>
            </a:extLst>
          </p:cNvPr>
          <p:cNvSpPr>
            <a:spLocks xmlns:a="http://schemas.openxmlformats.org/drawingml/2006/main" noGrp="1"/>
          </p:cNvSpPr>
          <p:nvPr/>
        </p:nvSpPr>
        <p:spPr>
          <a:xfrm xmlns:a="http://schemas.openxmlformats.org/drawingml/2006/main">
            <a:off x="1323975" y="1743075"/>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F3F7FA"/>
                </a:solidFill>
                <a:latin typeface="Arial"/>
                <a:ea typeface="Arial"/>
                <a:cs typeface="Arial"/>
              </a:defRPr>
            </a:defPPr>
          </a:lstStyle>
          <a:p xmlns:a="http://schemas.openxmlformats.org/drawingml/2006/main">
            <a:pPr algn="l">
              <a:defRPr sz="1725" b="1">
                <a:solidFill>
                  <a:srgbClr val="F3F7FA"/>
                </a:solidFill>
                <a:latin typeface="Arial"/>
                <a:ea typeface="Arial"/>
                <a:cs typeface="Arial"/>
              </a:defRPr>
            </a:pPr>
            <a:r>
              <a:rPr sz="1725" b="1">
                <a:solidFill>
                  <a:srgbClr val="F3F7FA"/>
                </a:solidFill>
                <a:latin typeface="Arial"/>
                <a:ea typeface="Arial"/>
                <a:cs typeface="Arial"/>
              </a:rPr>
              <a:t>Start the Compose stack</a:t>
            </a:r>
          </a:p>
        </p:txBody>
      </p:sp>
      <p:sp>
        <p:nvSpPr>
          <p:cNvPr id="8" name="">
            <a:extLst xmlns:a="http://schemas.openxmlformats.org/drawingml/2006/main">
              <a:ext uri="{FF2B5EF4-FFF2-40B4-BE49-F238E27FC236}">
                <a16:creationId xmlns:a16="http://schemas.microsoft.com/office/drawing/2014/main" id="{2F40925D-7113-4208-93EA-F5E1A08281F9}"/>
              </a:ext>
            </a:extLst>
          </p:cNvPr>
          <p:cNvSpPr>
            <a:spLocks xmlns:a="http://schemas.openxmlformats.org/drawingml/2006/main" noGrp="1"/>
          </p:cNvSpPr>
          <p:nvPr/>
        </p:nvSpPr>
        <p:spPr>
          <a:xfrm xmlns:a="http://schemas.openxmlformats.org/drawingml/2006/main">
            <a:off x="1323975" y="2105025"/>
            <a:ext cx="5048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Wait for services to report healthy in Docker Desktop or docker compose ps.</a:t>
            </a:r>
          </a:p>
        </p:txBody>
      </p:sp>
      <p:sp>
        <p:nvSpPr>
          <p:cNvPr id="9" name="">
            <a:extLst xmlns:a="http://schemas.openxmlformats.org/drawingml/2006/main">
              <a:ext uri="{FF2B5EF4-FFF2-40B4-BE49-F238E27FC236}">
                <a16:creationId xmlns:a16="http://schemas.microsoft.com/office/drawing/2014/main" id="{946CD8FD-D5E6-4159-A5C0-A25BF1DE5A63}"/>
              </a:ext>
            </a:extLst>
          </p:cNvPr>
          <p:cNvSpPr>
            <a:spLocks xmlns:a="http://schemas.openxmlformats.org/drawingml/2006/main" noGrp="1"/>
          </p:cNvSpPr>
          <p:nvPr/>
        </p:nvSpPr>
        <p:spPr>
          <a:xfrm xmlns:a="http://schemas.openxmlformats.org/drawingml/2006/main">
            <a:off x="771525" y="2819400"/>
            <a:ext cx="42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4B860"/>
                </a:solidFill>
                <a:latin typeface="Arial"/>
                <a:ea typeface="Arial"/>
                <a:cs typeface="Arial"/>
              </a:defRPr>
            </a:defPPr>
          </a:lstStyle>
          <a:p xmlns:a="http://schemas.openxmlformats.org/drawingml/2006/main">
            <a:pPr algn="l">
              <a:defRPr sz="2850" b="1">
                <a:solidFill>
                  <a:srgbClr val="F4B860"/>
                </a:solidFill>
                <a:latin typeface="Arial"/>
                <a:ea typeface="Arial"/>
                <a:cs typeface="Arial"/>
              </a:defRPr>
            </a:pPr>
            <a:r>
              <a:rPr sz="2850" b="1">
                <a:solidFill>
                  <a:srgbClr val="F4B860"/>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B3E9AF86-EACE-4693-966C-C0A85E2A4493}"/>
              </a:ext>
            </a:extLst>
          </p:cNvPr>
          <p:cNvSpPr>
            <a:spLocks xmlns:a="http://schemas.openxmlformats.org/drawingml/2006/main" noGrp="1"/>
          </p:cNvSpPr>
          <p:nvPr/>
        </p:nvSpPr>
        <p:spPr>
          <a:xfrm xmlns:a="http://schemas.openxmlformats.org/drawingml/2006/main">
            <a:off x="1323975" y="2867025"/>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F3F7FA"/>
                </a:solidFill>
                <a:latin typeface="Arial"/>
                <a:ea typeface="Arial"/>
                <a:cs typeface="Arial"/>
              </a:defRPr>
            </a:defPPr>
          </a:lstStyle>
          <a:p xmlns:a="http://schemas.openxmlformats.org/drawingml/2006/main">
            <a:pPr algn="l">
              <a:defRPr sz="1725" b="1">
                <a:solidFill>
                  <a:srgbClr val="F3F7FA"/>
                </a:solidFill>
                <a:latin typeface="Arial"/>
                <a:ea typeface="Arial"/>
                <a:cs typeface="Arial"/>
              </a:defRPr>
            </a:pPr>
            <a:r>
              <a:rPr sz="1725" b="1">
                <a:solidFill>
                  <a:srgbClr val="F3F7FA"/>
                </a:solidFill>
                <a:latin typeface="Arial"/>
                <a:ea typeface="Arial"/>
                <a:cs typeface="Arial"/>
              </a:rPr>
              <a:t>Upload a test model</a:t>
            </a:r>
          </a:p>
        </p:txBody>
      </p:sp>
      <p:sp>
        <p:nvSpPr>
          <p:cNvPr id="11" name="">
            <a:extLst xmlns:a="http://schemas.openxmlformats.org/drawingml/2006/main">
              <a:ext uri="{FF2B5EF4-FFF2-40B4-BE49-F238E27FC236}">
                <a16:creationId xmlns:a16="http://schemas.microsoft.com/office/drawing/2014/main" id="{0C123ADD-1EA0-4779-A174-DFEC92A7D1D3}"/>
              </a:ext>
            </a:extLst>
          </p:cNvPr>
          <p:cNvSpPr>
            <a:spLocks xmlns:a="http://schemas.openxmlformats.org/drawingml/2006/main" noGrp="1"/>
          </p:cNvSpPr>
          <p:nvPr/>
        </p:nvSpPr>
        <p:spPr>
          <a:xfrm xmlns:a="http://schemas.openxmlformats.org/drawingml/2006/main">
            <a:off x="1323975" y="3228975"/>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Use the Upload page or run the included seed script.</a:t>
            </a:r>
          </a:p>
        </p:txBody>
      </p:sp>
      <p:sp>
        <p:nvSpPr>
          <p:cNvPr id="12" name="">
            <a:extLst xmlns:a="http://schemas.openxmlformats.org/drawingml/2006/main">
              <a:ext uri="{FF2B5EF4-FFF2-40B4-BE49-F238E27FC236}">
                <a16:creationId xmlns:a16="http://schemas.microsoft.com/office/drawing/2014/main" id="{8C57DFEB-8012-4162-9F3D-DFDA8EA43B33}"/>
              </a:ext>
            </a:extLst>
          </p:cNvPr>
          <p:cNvSpPr>
            <a:spLocks xmlns:a="http://schemas.openxmlformats.org/drawingml/2006/main" noGrp="1"/>
          </p:cNvSpPr>
          <p:nvPr/>
        </p:nvSpPr>
        <p:spPr>
          <a:xfrm xmlns:a="http://schemas.openxmlformats.org/drawingml/2006/main">
            <a:off x="771525" y="3943350"/>
            <a:ext cx="42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6FB7FF"/>
                </a:solidFill>
                <a:latin typeface="Arial"/>
                <a:ea typeface="Arial"/>
                <a:cs typeface="Arial"/>
              </a:defRPr>
            </a:defPPr>
          </a:lstStyle>
          <a:p xmlns:a="http://schemas.openxmlformats.org/drawingml/2006/main">
            <a:pPr algn="l">
              <a:defRPr sz="2850" b="1">
                <a:solidFill>
                  <a:srgbClr val="6FB7FF"/>
                </a:solidFill>
                <a:latin typeface="Arial"/>
                <a:ea typeface="Arial"/>
                <a:cs typeface="Arial"/>
              </a:defRPr>
            </a:pPr>
            <a:r>
              <a:rPr sz="2850" b="1">
                <a:solidFill>
                  <a:srgbClr val="6FB7FF"/>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EB8445BC-9DEC-40D8-9534-F9CF3F33199A}"/>
              </a:ext>
            </a:extLst>
          </p:cNvPr>
          <p:cNvSpPr>
            <a:spLocks xmlns:a="http://schemas.openxmlformats.org/drawingml/2006/main" noGrp="1"/>
          </p:cNvSpPr>
          <p:nvPr/>
        </p:nvSpPr>
        <p:spPr>
          <a:xfrm xmlns:a="http://schemas.openxmlformats.org/drawingml/2006/main">
            <a:off x="1323975" y="3990975"/>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F3F7FA"/>
                </a:solidFill>
                <a:latin typeface="Arial"/>
                <a:ea typeface="Arial"/>
                <a:cs typeface="Arial"/>
              </a:defRPr>
            </a:defPPr>
          </a:lstStyle>
          <a:p xmlns:a="http://schemas.openxmlformats.org/drawingml/2006/main">
            <a:pPr algn="l">
              <a:defRPr sz="1725" b="1">
                <a:solidFill>
                  <a:srgbClr val="F3F7FA"/>
                </a:solidFill>
                <a:latin typeface="Arial"/>
                <a:ea typeface="Arial"/>
                <a:cs typeface="Arial"/>
              </a:defRPr>
            </a:pPr>
            <a:r>
              <a:rPr sz="1725" b="1">
                <a:solidFill>
                  <a:srgbClr val="F3F7FA"/>
                </a:solidFill>
                <a:latin typeface="Arial"/>
                <a:ea typeface="Arial"/>
                <a:cs typeface="Arial"/>
              </a:rPr>
              <a:t>Inspect the result</a:t>
            </a:r>
          </a:p>
        </p:txBody>
      </p:sp>
      <p:sp>
        <p:nvSpPr>
          <p:cNvPr id="14" name="">
            <a:extLst xmlns:a="http://schemas.openxmlformats.org/drawingml/2006/main">
              <a:ext uri="{FF2B5EF4-FFF2-40B4-BE49-F238E27FC236}">
                <a16:creationId xmlns:a16="http://schemas.microsoft.com/office/drawing/2014/main" id="{DC12D50E-C6A4-498B-B0A7-F52B049B753A}"/>
              </a:ext>
            </a:extLst>
          </p:cNvPr>
          <p:cNvSpPr>
            <a:spLocks xmlns:a="http://schemas.openxmlformats.org/drawingml/2006/main" noGrp="1"/>
          </p:cNvSpPr>
          <p:nvPr/>
        </p:nvSpPr>
        <p:spPr>
          <a:xfrm xmlns:a="http://schemas.openxmlformats.org/drawingml/2006/main">
            <a:off x="1323975" y="4352925"/>
            <a:ext cx="5048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8BDCC"/>
                </a:solidFill>
                <a:latin typeface="Arial"/>
                <a:ea typeface="Arial"/>
                <a:cs typeface="Arial"/>
              </a:defRPr>
            </a:defPPr>
          </a:lstStyle>
          <a:p xmlns:a="http://schemas.openxmlformats.org/drawingml/2006/main">
            <a:pPr algn="l">
              <a:defRPr sz="1275" b="0">
                <a:solidFill>
                  <a:srgbClr val="A8BDCC"/>
                </a:solidFill>
                <a:latin typeface="Arial"/>
                <a:ea typeface="Arial"/>
                <a:cs typeface="Arial"/>
              </a:defRPr>
            </a:pPr>
            <a:r>
              <a:rPr sz="1275" b="0">
                <a:solidFill>
                  <a:srgbClr val="A8BDCC"/>
                </a:solidFill>
                <a:latin typeface="Arial"/>
                <a:ea typeface="Arial"/>
                <a:cs typeface="Arial"/>
              </a:rPr>
              <a:t>Check model metadata, three replica states, node storage and request traces.</a:t>
            </a:r>
          </a:p>
        </p:txBody>
      </p:sp>
      <p:sp>
        <p:nvSpPr>
          <p:cNvPr id="15" name="">
            <a:extLst xmlns:a="http://schemas.openxmlformats.org/drawingml/2006/main">
              <a:ext uri="{FF2B5EF4-FFF2-40B4-BE49-F238E27FC236}">
                <a16:creationId xmlns:a16="http://schemas.microsoft.com/office/drawing/2014/main" id="{ADB2B808-61F3-486E-964E-234125C0C2A9}"/>
              </a:ext>
            </a:extLst>
          </p:cNvPr>
          <p:cNvSpPr>
            <a:spLocks xmlns:a="http://schemas.openxmlformats.org/drawingml/2006/main" noGrp="1"/>
          </p:cNvSpPr>
          <p:nvPr/>
        </p:nvSpPr>
        <p:spPr>
          <a:xfrm xmlns:a="http://schemas.openxmlformats.org/drawingml/2006/main">
            <a:off x="6858000" y="1619250"/>
            <a:ext cx="0" cy="361950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6" name="">
            <a:extLst xmlns:a="http://schemas.openxmlformats.org/drawingml/2006/main">
              <a:ext uri="{FF2B5EF4-FFF2-40B4-BE49-F238E27FC236}">
                <a16:creationId xmlns:a16="http://schemas.microsoft.com/office/drawing/2014/main" id="{9CDA36AC-8597-46DC-BB9C-8FF3EFDDC7FC}"/>
              </a:ext>
            </a:extLst>
          </p:cNvPr>
          <p:cNvSpPr>
            <a:spLocks xmlns:a="http://schemas.openxmlformats.org/drawingml/2006/main" noGrp="1"/>
          </p:cNvSpPr>
          <p:nvPr/>
        </p:nvSpPr>
        <p:spPr>
          <a:xfrm xmlns:a="http://schemas.openxmlformats.org/drawingml/2006/main">
            <a:off x="7362825" y="1752600"/>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7D3B2"/>
                </a:solidFill>
                <a:latin typeface="Arial"/>
                <a:ea typeface="Arial"/>
                <a:cs typeface="Arial"/>
              </a:defRPr>
            </a:defPPr>
          </a:lstStyle>
          <a:p xmlns:a="http://schemas.openxmlformats.org/drawingml/2006/main">
            <a:pPr algn="l">
              <a:defRPr sz="1050" b="1">
                <a:solidFill>
                  <a:srgbClr val="27D3B2"/>
                </a:solidFill>
                <a:latin typeface="Arial"/>
                <a:ea typeface="Arial"/>
                <a:cs typeface="Arial"/>
              </a:defRPr>
            </a:pPr>
            <a:r>
              <a:rPr sz="1050" b="1">
                <a:solidFill>
                  <a:srgbClr val="27D3B2"/>
                </a:solidFill>
                <a:latin typeface="Arial"/>
                <a:ea typeface="Arial"/>
                <a:cs typeface="Arial"/>
              </a:rPr>
              <a:t>SAMPLE GENERATOR</a:t>
            </a:r>
          </a:p>
        </p:txBody>
      </p:sp>
      <p:sp>
        <p:nvSpPr>
          <p:cNvPr id="17" name="">
            <a:extLst xmlns:a="http://schemas.openxmlformats.org/drawingml/2006/main">
              <a:ext uri="{FF2B5EF4-FFF2-40B4-BE49-F238E27FC236}">
                <a16:creationId xmlns:a16="http://schemas.microsoft.com/office/drawing/2014/main" id="{06E3E8CF-1367-4FED-8C16-42B3B8911FE1}"/>
              </a:ext>
            </a:extLst>
          </p:cNvPr>
          <p:cNvSpPr>
            <a:spLocks xmlns:a="http://schemas.openxmlformats.org/drawingml/2006/main" noGrp="1"/>
          </p:cNvSpPr>
          <p:nvPr/>
        </p:nvSpPr>
        <p:spPr>
          <a:xfrm xmlns:a="http://schemas.openxmlformats.org/drawingml/2006/main">
            <a:off x="7362825" y="224790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1">
                <a:solidFill>
                  <a:srgbClr val="F4B860"/>
                </a:solidFill>
                <a:latin typeface="Arial"/>
                <a:ea typeface="Arial"/>
                <a:cs typeface="Arial"/>
              </a:defRPr>
            </a:defPPr>
          </a:lstStyle>
          <a:p xmlns:a="http://schemas.openxmlformats.org/drawingml/2006/main">
            <a:pPr algn="l">
              <a:defRPr sz="4800" b="1">
                <a:solidFill>
                  <a:srgbClr val="F4B860"/>
                </a:solidFill>
                <a:latin typeface="Arial"/>
                <a:ea typeface="Arial"/>
                <a:cs typeface="Arial"/>
              </a:defRPr>
            </a:pPr>
            <a:r>
              <a:rPr sz="4800" b="1">
                <a:solidFill>
                  <a:srgbClr val="F4B860"/>
                </a:solidFill>
                <a:latin typeface="Arial"/>
                <a:ea typeface="Arial"/>
                <a:cs typeface="Arial"/>
              </a:rPr>
              <a:t>5 MB</a:t>
            </a:r>
          </a:p>
        </p:txBody>
      </p:sp>
      <p:sp>
        <p:nvSpPr>
          <p:cNvPr id="18" name="">
            <a:extLst xmlns:a="http://schemas.openxmlformats.org/drawingml/2006/main">
              <a:ext uri="{FF2B5EF4-FFF2-40B4-BE49-F238E27FC236}">
                <a16:creationId xmlns:a16="http://schemas.microsoft.com/office/drawing/2014/main" id="{615E8C69-0EC1-440C-91B7-A6A8264DB531}"/>
              </a:ext>
            </a:extLst>
          </p:cNvPr>
          <p:cNvSpPr>
            <a:spLocks xmlns:a="http://schemas.openxmlformats.org/drawingml/2006/main" noGrp="1"/>
          </p:cNvSpPr>
          <p:nvPr/>
        </p:nvSpPr>
        <p:spPr>
          <a:xfrm xmlns:a="http://schemas.openxmlformats.org/drawingml/2006/main">
            <a:off x="7400925" y="29527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A8BDCC"/>
                </a:solidFill>
                <a:latin typeface="Arial"/>
                <a:ea typeface="Arial"/>
                <a:cs typeface="Arial"/>
              </a:defRPr>
            </a:defPPr>
          </a:lstStyle>
          <a:p xmlns:a="http://schemas.openxmlformats.org/drawingml/2006/main">
            <a:pPr algn="l">
              <a:defRPr sz="1500" b="0">
                <a:solidFill>
                  <a:srgbClr val="A8BDCC"/>
                </a:solidFill>
                <a:latin typeface="Arial"/>
                <a:ea typeface="Arial"/>
                <a:cs typeface="Arial"/>
              </a:defRPr>
            </a:pPr>
            <a:r>
              <a:rPr sz="1500" b="0">
                <a:solidFill>
                  <a:srgbClr val="A8BDCC"/>
                </a:solidFill>
                <a:latin typeface="Arial"/>
                <a:ea typeface="Arial"/>
                <a:cs typeface="Arial"/>
              </a:rPr>
              <a:t>synthetic test payload</a:t>
            </a:r>
          </a:p>
        </p:txBody>
      </p:sp>
      <p:sp>
        <p:nvSpPr>
          <p:cNvPr id="19" name="">
            <a:extLst xmlns:a="http://schemas.openxmlformats.org/drawingml/2006/main">
              <a:ext uri="{FF2B5EF4-FFF2-40B4-BE49-F238E27FC236}">
                <a16:creationId xmlns:a16="http://schemas.microsoft.com/office/drawing/2014/main" id="{FBCC10C7-34C4-483E-AF82-CF78FA8134C2}"/>
              </a:ext>
            </a:extLst>
          </p:cNvPr>
          <p:cNvSpPr>
            <a:spLocks xmlns:a="http://schemas.openxmlformats.org/drawingml/2006/main" noGrp="1"/>
          </p:cNvSpPr>
          <p:nvPr/>
        </p:nvSpPr>
        <p:spPr>
          <a:xfrm xmlns:a="http://schemas.openxmlformats.org/drawingml/2006/main">
            <a:off x="7400925" y="360997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3F7FA"/>
                </a:solidFill>
                <a:latin typeface="Arial"/>
                <a:ea typeface="Arial"/>
                <a:cs typeface="Arial"/>
              </a:defRPr>
            </a:defPPr>
          </a:lstStyle>
          <a:p xmlns:a="http://schemas.openxmlformats.org/drawingml/2006/main">
            <a:pPr algn="l">
              <a:defRPr sz="1500" b="1">
                <a:solidFill>
                  <a:srgbClr val="F3F7FA"/>
                </a:solidFill>
                <a:latin typeface="Arial"/>
                <a:ea typeface="Arial"/>
                <a:cs typeface="Arial"/>
              </a:defRPr>
            </a:pPr>
            <a:r>
              <a:rPr sz="1500" b="1">
                <a:solidFill>
                  <a:srgbClr val="F3F7FA"/>
                </a:solidFill>
                <a:latin typeface="Arial"/>
                <a:ea typeface="Arial"/>
                <a:cs typeface="Arial"/>
              </a:rPr>
              <a:t>seed-sample-model.js</a:t>
            </a:r>
          </a:p>
        </p:txBody>
      </p:sp>
      <p:sp>
        <p:nvSpPr>
          <p:cNvPr id="20" name="">
            <a:extLst xmlns:a="http://schemas.openxmlformats.org/drawingml/2006/main">
              <a:ext uri="{FF2B5EF4-FFF2-40B4-BE49-F238E27FC236}">
                <a16:creationId xmlns:a16="http://schemas.microsoft.com/office/drawing/2014/main" id="{B2B74FFD-14BF-40A7-96E0-78CA194528D4}"/>
              </a:ext>
            </a:extLst>
          </p:cNvPr>
          <p:cNvSpPr>
            <a:spLocks xmlns:a="http://schemas.openxmlformats.org/drawingml/2006/main" noGrp="1"/>
          </p:cNvSpPr>
          <p:nvPr/>
        </p:nvSpPr>
        <p:spPr>
          <a:xfrm xmlns:a="http://schemas.openxmlformats.org/drawingml/2006/main">
            <a:off x="7400925" y="400050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8BDCC"/>
                </a:solidFill>
                <a:latin typeface="Arial"/>
                <a:ea typeface="Arial"/>
                <a:cs typeface="Arial"/>
              </a:defRPr>
            </a:defPPr>
          </a:lstStyle>
          <a:p xmlns:a="http://schemas.openxmlformats.org/drawingml/2006/main">
            <a:pPr algn="l">
              <a:defRPr sz="1350" b="0">
                <a:solidFill>
                  <a:srgbClr val="A8BDCC"/>
                </a:solidFill>
                <a:latin typeface="Arial"/>
                <a:ea typeface="Arial"/>
                <a:cs typeface="Arial"/>
              </a:defRPr>
            </a:pPr>
            <a:r>
              <a:rPr sz="1350" b="0">
                <a:solidFill>
                  <a:srgbClr val="A8BDCC"/>
                </a:solidFill>
                <a:latin typeface="Arial"/>
                <a:ea typeface="Arial"/>
                <a:cs typeface="Arial"/>
              </a:rPr>
              <a:t>It creates random bytes with a test header. It is not a real pretrained model.</a:t>
            </a:r>
          </a:p>
        </p:txBody>
      </p:sp>
      <p:sp>
        <p:nvSpPr>
          <p:cNvPr id="21" name="">
            <a:extLst xmlns:a="http://schemas.openxmlformats.org/drawingml/2006/main">
              <a:ext uri="{FF2B5EF4-FFF2-40B4-BE49-F238E27FC236}">
                <a16:creationId xmlns:a16="http://schemas.microsoft.com/office/drawing/2014/main" id="{7E8E039D-C7DB-4050-ACBD-F393EF7DF118}"/>
              </a:ext>
            </a:extLst>
          </p:cNvPr>
          <p:cNvSpPr>
            <a:spLocks xmlns:a="http://schemas.openxmlformats.org/drawingml/2006/main" noGrp="1"/>
          </p:cNvSpPr>
          <p:nvPr/>
        </p:nvSpPr>
        <p:spPr>
          <a:xfrm xmlns:a="http://schemas.openxmlformats.org/drawingml/2006/main">
            <a:off x="742950" y="5372100"/>
            <a:ext cx="10639425" cy="523875"/>
          </a:xfrm>
          <a:prstGeom xmlns:a="http://schemas.openxmlformats.org/drawingml/2006/main" prst="roundRect">
            <a:avLst>
              <a:gd name="adj" fmla="val 14545"/>
            </a:avLst>
          </a:prstGeom>
          <a:solidFill xmlns:a="http://schemas.openxmlformats.org/drawingml/2006/main">
            <a:srgbClr val="102C2B"/>
          </a:solidFill>
          <a:ln xmlns:a="http://schemas.openxmlformats.org/drawingml/2006/main" w="9525">
            <a:solidFill>
              <a:srgbClr val="246655"/>
            </a:solidFill>
            <a:prstDash val="solid"/>
          </a:ln>
        </p:spPr>
      </p:sp>
      <p:sp>
        <p:nvSpPr>
          <p:cNvPr id="22" name="">
            <a:extLst xmlns:a="http://schemas.openxmlformats.org/drawingml/2006/main">
              <a:ext uri="{FF2B5EF4-FFF2-40B4-BE49-F238E27FC236}">
                <a16:creationId xmlns:a16="http://schemas.microsoft.com/office/drawing/2014/main" id="{742AE58A-9708-4AC7-8F91-F85775134F58}"/>
              </a:ext>
            </a:extLst>
          </p:cNvPr>
          <p:cNvSpPr>
            <a:spLocks xmlns:a="http://schemas.openxmlformats.org/drawingml/2006/main" noGrp="1"/>
          </p:cNvSpPr>
          <p:nvPr/>
        </p:nvSpPr>
        <p:spPr>
          <a:xfrm xmlns:a="http://schemas.openxmlformats.org/drawingml/2006/main">
            <a:off x="933450" y="55054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a:solidFill>
                  <a:srgbClr val="27D3B2"/>
                </a:solidFill>
                <a:latin typeface="Arial"/>
                <a:ea typeface="Arial"/>
                <a:cs typeface="Arial"/>
              </a:defRPr>
            </a:defPPr>
          </a:lstStyle>
          <a:p xmlns:a="http://schemas.openxmlformats.org/drawingml/2006/main">
            <a:pPr algn="ctr">
              <a:defRPr sz="1350" b="1">
                <a:solidFill>
                  <a:srgbClr val="27D3B2"/>
                </a:solidFill>
                <a:latin typeface="Arial"/>
                <a:ea typeface="Arial"/>
                <a:cs typeface="Arial"/>
              </a:defRPr>
            </a:pPr>
            <a:r>
              <a:rPr sz="1350" b="1">
                <a:solidFill>
                  <a:srgbClr val="27D3B2"/>
                </a:solidFill>
                <a:latin typeface="Arial"/>
                <a:ea typeface="Arial"/>
                <a:cs typeface="Arial"/>
              </a:rPr>
              <a:t>Expected proof: one primary + synced replicas, stored SHA-256 values, visible gRPC replication traces.</a:t>
            </a:r>
          </a:p>
        </p:txBody>
      </p:sp>
    </p:spTree>
    <p:extLst>
      <p:ext uri="{BB962C8B-B14F-4D97-AF65-F5344CB8AC3E}">
        <p14:creationId xmlns:p14="http://schemas.microsoft.com/office/powerpoint/2010/main" val="816314766"/>
      </p:ext>
    </p:extLst>
  </p:cSld>
</p:sld>
</file>

<file path=ppt/slides/slide11.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29" name="title-11">
            <a:extLst xmlns:a="http://schemas.openxmlformats.org/drawingml/2006/main">
              <a:ext uri="{FF2B5EF4-FFF2-40B4-BE49-F238E27FC236}">
                <a16:creationId xmlns:a16="http://schemas.microsoft.com/office/drawing/2014/main" id="{F35130B1-F454-4302-ADFD-028013FFE749}"/>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3F7FA"/>
                </a:solidFill>
                <a:latin typeface="Arial"/>
                <a:ea typeface="Arial"/>
                <a:cs typeface="Arial"/>
              </a:defRPr>
            </a:defPPr>
          </a:lstStyle>
          <a:p xmlns:a="http://schemas.openxmlformats.org/drawingml/2006/main">
            <a:pPr algn="l">
              <a:defRPr sz="3225" b="1">
                <a:solidFill>
                  <a:srgbClr val="F3F7FA"/>
                </a:solidFill>
                <a:latin typeface="Arial"/>
                <a:ea typeface="Arial"/>
                <a:cs typeface="Arial"/>
              </a:defRPr>
            </a:pPr>
            <a:r>
              <a:rPr sz="3225" b="1">
                <a:solidFill>
                  <a:srgbClr val="F3F7FA"/>
                </a:solidFill>
                <a:latin typeface="Arial"/>
                <a:ea typeface="Arial"/>
                <a:cs typeface="Arial"/>
              </a:rPr>
              <a:t>Current scope and next steps</a:t>
            </a:r>
          </a:p>
        </p:txBody>
      </p:sp>
      <p:sp>
        <p:nvSpPr>
          <p:cNvPr id="2" name="">
            <a:extLst xmlns:a="http://schemas.openxmlformats.org/drawingml/2006/main">
              <a:ext uri="{FF2B5EF4-FFF2-40B4-BE49-F238E27FC236}">
                <a16:creationId xmlns:a16="http://schemas.microsoft.com/office/drawing/2014/main" id="{4A94C4D9-B2EB-457F-AFA7-D587B69CF2FF}"/>
              </a:ext>
            </a:extLst>
          </p:cNvPr>
          <p:cNvSpPr>
            <a:spLocks xmlns:a="http://schemas.openxmlformats.org/drawingml/2006/main" noGrp="1"/>
          </p:cNvSpPr>
          <p:nvPr/>
        </p:nvSpPr>
        <p:spPr>
          <a:xfrm xmlns:a="http://schemas.openxmlformats.org/drawingml/2006/main">
            <a:off x="704850" y="962025"/>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A8BDCC"/>
                </a:solidFill>
                <a:latin typeface="Arial"/>
                <a:ea typeface="Arial"/>
                <a:cs typeface="Arial"/>
              </a:defRPr>
            </a:defPPr>
          </a:lstStyle>
          <a:p xmlns:a="http://schemas.openxmlformats.org/drawingml/2006/main">
            <a:pPr algn="l">
              <a:defRPr sz="1425" b="0">
                <a:solidFill>
                  <a:srgbClr val="A8BDCC"/>
                </a:solidFill>
                <a:latin typeface="Arial"/>
                <a:ea typeface="Arial"/>
                <a:cs typeface="Arial"/>
              </a:defRPr>
            </a:pPr>
            <a:r>
              <a:rPr sz="1425" b="0">
                <a:solidFill>
                  <a:srgbClr val="A8BDCC"/>
                </a:solidFill>
                <a:latin typeface="Arial"/>
                <a:ea typeface="Arial"/>
                <a:cs typeface="Arial"/>
              </a:rPr>
              <a:t>A clear prototype boundary makes the next engineering work measurable.</a:t>
            </a:r>
          </a:p>
        </p:txBody>
      </p:sp>
      <p:sp>
        <p:nvSpPr>
          <p:cNvPr id="3" name="">
            <a:extLst xmlns:a="http://schemas.openxmlformats.org/drawingml/2006/main">
              <a:ext uri="{FF2B5EF4-FFF2-40B4-BE49-F238E27FC236}">
                <a16:creationId xmlns:a16="http://schemas.microsoft.com/office/drawing/2014/main" id="{476329B9-FBD4-4E0A-B7CC-B57A9C243148}"/>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0374A"/>
            </a:solidFill>
            <a:prstDash val="solid"/>
          </a:ln>
        </p:spPr>
      </p:sp>
      <p:sp>
        <p:nvSpPr>
          <p:cNvPr id="4" name="">
            <a:extLst xmlns:a="http://schemas.openxmlformats.org/drawingml/2006/main">
              <a:ext uri="{FF2B5EF4-FFF2-40B4-BE49-F238E27FC236}">
                <a16:creationId xmlns:a16="http://schemas.microsoft.com/office/drawing/2014/main" id="{89FBD82A-5A11-4FC1-851D-BC20C22516E1}"/>
              </a:ext>
            </a:extLst>
          </p:cNvPr>
          <p:cNvSpPr>
            <a:spLocks xmlns:a="http://schemas.openxmlformats.org/drawingml/2006/main" noGrp="1"/>
          </p:cNvSpPr>
          <p:nvPr/>
        </p:nvSpPr>
        <p:spPr>
          <a:xfrm xmlns:a="http://schemas.openxmlformats.org/drawingml/2006/main">
            <a:off x="704850" y="64960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892A6"/>
                </a:solidFill>
                <a:latin typeface="Arial"/>
                <a:ea typeface="Arial"/>
                <a:cs typeface="Arial"/>
              </a:defRPr>
            </a:defPPr>
          </a:lstStyle>
          <a:p xmlns:a="http://schemas.openxmlformats.org/drawingml/2006/main">
            <a:pPr algn="l">
              <a:defRPr sz="900" b="0">
                <a:solidFill>
                  <a:srgbClr val="7892A6"/>
                </a:solidFill>
                <a:latin typeface="Arial"/>
                <a:ea typeface="Arial"/>
                <a:cs typeface="Arial"/>
              </a:defRPr>
            </a:pPr>
            <a:r>
              <a:rPr sz="900" b="0">
                <a:solidFill>
                  <a:srgbClr val="7892A6"/>
                </a:solidFill>
                <a:latin typeface="Arial"/>
                <a:ea typeface="Arial"/>
                <a:cs typeface="Arial"/>
              </a:rPr>
              <a:t>DISTRIBUTED MODEL REPOSITORY  /  PROJECT WALKTHROUGH</a:t>
            </a:r>
          </a:p>
        </p:txBody>
      </p:sp>
      <p:sp>
        <p:nvSpPr>
          <p:cNvPr id="5" name="">
            <a:extLst xmlns:a="http://schemas.openxmlformats.org/drawingml/2006/main">
              <a:ext uri="{FF2B5EF4-FFF2-40B4-BE49-F238E27FC236}">
                <a16:creationId xmlns:a16="http://schemas.microsoft.com/office/drawing/2014/main" id="{94789323-3E4A-449E-9B5C-CAF12E712F5B}"/>
              </a:ext>
            </a:extLst>
          </p:cNvPr>
          <p:cNvSpPr>
            <a:spLocks xmlns:a="http://schemas.openxmlformats.org/drawingml/2006/main" noGrp="1"/>
          </p:cNvSpPr>
          <p:nvPr/>
        </p:nvSpPr>
        <p:spPr>
          <a:xfrm xmlns:a="http://schemas.openxmlformats.org/drawingml/2006/main">
            <a:off x="11049000" y="64865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7892A6"/>
                </a:solidFill>
                <a:latin typeface="Arial"/>
                <a:ea typeface="Arial"/>
                <a:cs typeface="Arial"/>
              </a:defRPr>
            </a:defPPr>
          </a:lstStyle>
          <a:p xmlns:a="http://schemas.openxmlformats.org/drawingml/2006/main">
            <a:pPr algn="r">
              <a:defRPr sz="975" b="0">
                <a:solidFill>
                  <a:srgbClr val="7892A6"/>
                </a:solidFill>
                <a:latin typeface="Arial"/>
                <a:ea typeface="Arial"/>
                <a:cs typeface="Arial"/>
              </a:defRPr>
            </a:pPr>
            <a:r>
              <a:rPr sz="975" b="0">
                <a:solidFill>
                  <a:srgbClr val="7892A6"/>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120026DF-E585-4158-B503-0D8460AD32D4}"/>
              </a:ext>
            </a:extLst>
          </p:cNvPr>
          <p:cNvSpPr>
            <a:spLocks xmlns:a="http://schemas.openxmlformats.org/drawingml/2006/main" noGrp="1"/>
          </p:cNvSpPr>
          <p:nvPr/>
        </p:nvSpPr>
        <p:spPr>
          <a:xfrm xmlns:a="http://schemas.openxmlformats.org/drawingml/2006/main">
            <a:off x="781050" y="1628775"/>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4B860"/>
                </a:solidFill>
                <a:latin typeface="Arial"/>
                <a:ea typeface="Arial"/>
                <a:cs typeface="Arial"/>
              </a:defRPr>
            </a:defPPr>
          </a:lstStyle>
          <a:p xmlns:a="http://schemas.openxmlformats.org/drawingml/2006/main">
            <a:pPr algn="l">
              <a:defRPr sz="975" b="1">
                <a:solidFill>
                  <a:srgbClr val="F4B860"/>
                </a:solidFill>
                <a:latin typeface="Arial"/>
                <a:ea typeface="Arial"/>
                <a:cs typeface="Arial"/>
              </a:defRPr>
            </a:pPr>
            <a:r>
              <a:rPr sz="975" b="1">
                <a:solidFill>
                  <a:srgbClr val="F4B860"/>
                </a:solidFill>
                <a:latin typeface="Arial"/>
                <a:ea typeface="Arial"/>
                <a:cs typeface="Arial"/>
              </a:rPr>
              <a:t>NEXT ENGINEERING WORK</a:t>
            </a:r>
          </a:p>
        </p:txBody>
      </p:sp>
      <p:sp>
        <p:nvSpPr>
          <p:cNvPr id="7" name="">
            <a:extLst xmlns:a="http://schemas.openxmlformats.org/drawingml/2006/main">
              <a:ext uri="{FF2B5EF4-FFF2-40B4-BE49-F238E27FC236}">
                <a16:creationId xmlns:a16="http://schemas.microsoft.com/office/drawing/2014/main" id="{8A14B789-54F3-4373-9848-25912489EE94}"/>
              </a:ext>
            </a:extLst>
          </p:cNvPr>
          <p:cNvSpPr>
            <a:spLocks xmlns:a="http://schemas.openxmlformats.org/drawingml/2006/main" noGrp="1"/>
          </p:cNvSpPr>
          <p:nvPr/>
        </p:nvSpPr>
        <p:spPr>
          <a:xfrm xmlns:a="http://schemas.openxmlformats.org/drawingml/2006/main">
            <a:off x="809625" y="19335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3F7FA"/>
                </a:solidFill>
                <a:latin typeface="Arial"/>
                <a:ea typeface="Arial"/>
                <a:cs typeface="Arial"/>
              </a:defRPr>
            </a:defPPr>
          </a:lstStyle>
          <a:p xmlns:a="http://schemas.openxmlformats.org/drawingml/2006/main">
            <a:pPr algn="l">
              <a:defRPr sz="1425" b="1">
                <a:solidFill>
                  <a:srgbClr val="F3F7FA"/>
                </a:solidFill>
                <a:latin typeface="Arial"/>
                <a:ea typeface="Arial"/>
                <a:cs typeface="Arial"/>
              </a:defRPr>
            </a:pPr>
            <a:r>
              <a:rPr sz="1425" b="1">
                <a:solidFill>
                  <a:srgbClr val="F3F7FA"/>
                </a:solidFill>
                <a:latin typeface="Arial"/>
                <a:ea typeface="Arial"/>
                <a:cs typeface="Arial"/>
              </a:rPr>
              <a:t>Integrity enforcement</a:t>
            </a:r>
          </a:p>
        </p:txBody>
      </p:sp>
      <p:sp>
        <p:nvSpPr>
          <p:cNvPr id="8" name="">
            <a:extLst xmlns:a="http://schemas.openxmlformats.org/drawingml/2006/main">
              <a:ext uri="{FF2B5EF4-FFF2-40B4-BE49-F238E27FC236}">
                <a16:creationId xmlns:a16="http://schemas.microsoft.com/office/drawing/2014/main" id="{433EADEB-F696-4547-A087-F8703BDFACFA}"/>
              </a:ext>
            </a:extLst>
          </p:cNvPr>
          <p:cNvSpPr>
            <a:spLocks xmlns:a="http://schemas.openxmlformats.org/drawingml/2006/main" noGrp="1"/>
          </p:cNvSpPr>
          <p:nvPr/>
        </p:nvSpPr>
        <p:spPr>
          <a:xfrm xmlns:a="http://schemas.openxmlformats.org/drawingml/2006/main">
            <a:off x="3333750" y="1933575"/>
            <a:ext cx="32766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Compare hashes and reject a corrupt or inconsistent replica.</a:t>
            </a:r>
          </a:p>
        </p:txBody>
      </p:sp>
      <p:sp>
        <p:nvSpPr>
          <p:cNvPr id="9" name="">
            <a:extLst xmlns:a="http://schemas.openxmlformats.org/drawingml/2006/main">
              <a:ext uri="{FF2B5EF4-FFF2-40B4-BE49-F238E27FC236}">
                <a16:creationId xmlns:a16="http://schemas.microsoft.com/office/drawing/2014/main" id="{FD78A989-5C04-4968-A661-9BC185BAFB56}"/>
              </a:ext>
            </a:extLst>
          </p:cNvPr>
          <p:cNvSpPr>
            <a:spLocks xmlns:a="http://schemas.openxmlformats.org/drawingml/2006/main" noGrp="1"/>
          </p:cNvSpPr>
          <p:nvPr/>
        </p:nvSpPr>
        <p:spPr>
          <a:xfrm xmlns:a="http://schemas.openxmlformats.org/drawingml/2006/main">
            <a:off x="800100" y="2638425"/>
            <a:ext cx="581025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0" name="">
            <a:extLst xmlns:a="http://schemas.openxmlformats.org/drawingml/2006/main">
              <a:ext uri="{FF2B5EF4-FFF2-40B4-BE49-F238E27FC236}">
                <a16:creationId xmlns:a16="http://schemas.microsoft.com/office/drawing/2014/main" id="{269FFA93-55BA-4C75-BD56-5D811A096643}"/>
              </a:ext>
            </a:extLst>
          </p:cNvPr>
          <p:cNvSpPr>
            <a:spLocks xmlns:a="http://schemas.openxmlformats.org/drawingml/2006/main" noGrp="1"/>
          </p:cNvSpPr>
          <p:nvPr/>
        </p:nvSpPr>
        <p:spPr>
          <a:xfrm xmlns:a="http://schemas.openxmlformats.org/drawingml/2006/main">
            <a:off x="809625" y="28765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3F7FA"/>
                </a:solidFill>
                <a:latin typeface="Arial"/>
                <a:ea typeface="Arial"/>
                <a:cs typeface="Arial"/>
              </a:defRPr>
            </a:defPPr>
          </a:lstStyle>
          <a:p xmlns:a="http://schemas.openxmlformats.org/drawingml/2006/main">
            <a:pPr algn="l">
              <a:defRPr sz="1425" b="1">
                <a:solidFill>
                  <a:srgbClr val="F3F7FA"/>
                </a:solidFill>
                <a:latin typeface="Arial"/>
                <a:ea typeface="Arial"/>
                <a:cs typeface="Arial"/>
              </a:defRPr>
            </a:pPr>
            <a:r>
              <a:rPr sz="1425" b="1">
                <a:solidFill>
                  <a:srgbClr val="F3F7FA"/>
                </a:solidFill>
                <a:latin typeface="Arial"/>
                <a:ea typeface="Arial"/>
                <a:cs typeface="Arial"/>
              </a:rPr>
              <a:t>Automatic repair</a:t>
            </a:r>
          </a:p>
        </p:txBody>
      </p:sp>
      <p:sp>
        <p:nvSpPr>
          <p:cNvPr id="11" name="">
            <a:extLst xmlns:a="http://schemas.openxmlformats.org/drawingml/2006/main">
              <a:ext uri="{FF2B5EF4-FFF2-40B4-BE49-F238E27FC236}">
                <a16:creationId xmlns:a16="http://schemas.microsoft.com/office/drawing/2014/main" id="{20BCDE3C-D659-4640-9327-67E1F8978B82}"/>
              </a:ext>
            </a:extLst>
          </p:cNvPr>
          <p:cNvSpPr>
            <a:spLocks xmlns:a="http://schemas.openxmlformats.org/drawingml/2006/main" noGrp="1"/>
          </p:cNvSpPr>
          <p:nvPr/>
        </p:nvSpPr>
        <p:spPr>
          <a:xfrm xmlns:a="http://schemas.openxmlformats.org/drawingml/2006/main">
            <a:off x="3333750" y="2876550"/>
            <a:ext cx="32766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Recreate replicas after permanent node loss.</a:t>
            </a:r>
          </a:p>
        </p:txBody>
      </p:sp>
      <p:sp>
        <p:nvSpPr>
          <p:cNvPr id="12" name="">
            <a:extLst xmlns:a="http://schemas.openxmlformats.org/drawingml/2006/main">
              <a:ext uri="{FF2B5EF4-FFF2-40B4-BE49-F238E27FC236}">
                <a16:creationId xmlns:a16="http://schemas.microsoft.com/office/drawing/2014/main" id="{CC876BEB-33AE-4533-BADE-03B9854B4481}"/>
              </a:ext>
            </a:extLst>
          </p:cNvPr>
          <p:cNvSpPr>
            <a:spLocks xmlns:a="http://schemas.openxmlformats.org/drawingml/2006/main" noGrp="1"/>
          </p:cNvSpPr>
          <p:nvPr/>
        </p:nvSpPr>
        <p:spPr>
          <a:xfrm xmlns:a="http://schemas.openxmlformats.org/drawingml/2006/main">
            <a:off x="800100" y="3581400"/>
            <a:ext cx="581025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3" name="">
            <a:extLst xmlns:a="http://schemas.openxmlformats.org/drawingml/2006/main">
              <a:ext uri="{FF2B5EF4-FFF2-40B4-BE49-F238E27FC236}">
                <a16:creationId xmlns:a16="http://schemas.microsoft.com/office/drawing/2014/main" id="{0CB670E9-D897-4985-8B05-9DA55B981814}"/>
              </a:ext>
            </a:extLst>
          </p:cNvPr>
          <p:cNvSpPr>
            <a:spLocks xmlns:a="http://schemas.openxmlformats.org/drawingml/2006/main" noGrp="1"/>
          </p:cNvSpPr>
          <p:nvPr/>
        </p:nvSpPr>
        <p:spPr>
          <a:xfrm xmlns:a="http://schemas.openxmlformats.org/drawingml/2006/main">
            <a:off x="809625" y="38195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3F7FA"/>
                </a:solidFill>
                <a:latin typeface="Arial"/>
                <a:ea typeface="Arial"/>
                <a:cs typeface="Arial"/>
              </a:defRPr>
            </a:defPPr>
          </a:lstStyle>
          <a:p xmlns:a="http://schemas.openxmlformats.org/drawingml/2006/main">
            <a:pPr algn="l">
              <a:defRPr sz="1425" b="1">
                <a:solidFill>
                  <a:srgbClr val="F3F7FA"/>
                </a:solidFill>
                <a:latin typeface="Arial"/>
                <a:ea typeface="Arial"/>
                <a:cs typeface="Arial"/>
              </a:defRPr>
            </a:pPr>
            <a:r>
              <a:rPr sz="1425" b="1">
                <a:solidFill>
                  <a:srgbClr val="F3F7FA"/>
                </a:solidFill>
                <a:latin typeface="Arial"/>
                <a:ea typeface="Arial"/>
                <a:cs typeface="Arial"/>
              </a:rPr>
              <a:t>Cluster high availability</a:t>
            </a:r>
          </a:p>
        </p:txBody>
      </p:sp>
      <p:sp>
        <p:nvSpPr>
          <p:cNvPr id="14" name="">
            <a:extLst xmlns:a="http://schemas.openxmlformats.org/drawingml/2006/main">
              <a:ext uri="{FF2B5EF4-FFF2-40B4-BE49-F238E27FC236}">
                <a16:creationId xmlns:a16="http://schemas.microsoft.com/office/drawing/2014/main" id="{65504685-79BC-4FDF-B30D-81A5751113A5}"/>
              </a:ext>
            </a:extLst>
          </p:cNvPr>
          <p:cNvSpPr>
            <a:spLocks xmlns:a="http://schemas.openxmlformats.org/drawingml/2006/main" noGrp="1"/>
          </p:cNvSpPr>
          <p:nvPr/>
        </p:nvSpPr>
        <p:spPr>
          <a:xfrm xmlns:a="http://schemas.openxmlformats.org/drawingml/2006/main">
            <a:off x="3333750" y="3819525"/>
            <a:ext cx="32766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Run redundant metadata and event services.</a:t>
            </a:r>
          </a:p>
        </p:txBody>
      </p:sp>
      <p:sp>
        <p:nvSpPr>
          <p:cNvPr id="15" name="">
            <a:extLst xmlns:a="http://schemas.openxmlformats.org/drawingml/2006/main">
              <a:ext uri="{FF2B5EF4-FFF2-40B4-BE49-F238E27FC236}">
                <a16:creationId xmlns:a16="http://schemas.microsoft.com/office/drawing/2014/main" id="{F990D8FC-E6D9-4636-A29F-C88DD1426CE2}"/>
              </a:ext>
            </a:extLst>
          </p:cNvPr>
          <p:cNvSpPr>
            <a:spLocks xmlns:a="http://schemas.openxmlformats.org/drawingml/2006/main" noGrp="1"/>
          </p:cNvSpPr>
          <p:nvPr/>
        </p:nvSpPr>
        <p:spPr>
          <a:xfrm xmlns:a="http://schemas.openxmlformats.org/drawingml/2006/main">
            <a:off x="800100" y="4524375"/>
            <a:ext cx="581025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6" name="">
            <a:extLst xmlns:a="http://schemas.openxmlformats.org/drawingml/2006/main">
              <a:ext uri="{FF2B5EF4-FFF2-40B4-BE49-F238E27FC236}">
                <a16:creationId xmlns:a16="http://schemas.microsoft.com/office/drawing/2014/main" id="{2AFA0A2E-D4B5-41D6-A6F4-29A22FCBFA79}"/>
              </a:ext>
            </a:extLst>
          </p:cNvPr>
          <p:cNvSpPr>
            <a:spLocks xmlns:a="http://schemas.openxmlformats.org/drawingml/2006/main" noGrp="1"/>
          </p:cNvSpPr>
          <p:nvPr/>
        </p:nvSpPr>
        <p:spPr>
          <a:xfrm xmlns:a="http://schemas.openxmlformats.org/drawingml/2006/main">
            <a:off x="809625" y="4762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3F7FA"/>
                </a:solidFill>
                <a:latin typeface="Arial"/>
                <a:ea typeface="Arial"/>
                <a:cs typeface="Arial"/>
              </a:defRPr>
            </a:defPPr>
          </a:lstStyle>
          <a:p xmlns:a="http://schemas.openxmlformats.org/drawingml/2006/main">
            <a:pPr algn="l">
              <a:defRPr sz="1425" b="1">
                <a:solidFill>
                  <a:srgbClr val="F3F7FA"/>
                </a:solidFill>
                <a:latin typeface="Arial"/>
                <a:ea typeface="Arial"/>
                <a:cs typeface="Arial"/>
              </a:defRPr>
            </a:pPr>
            <a:r>
              <a:rPr sz="1425" b="1">
                <a:solidFill>
                  <a:srgbClr val="F3F7FA"/>
                </a:solidFill>
                <a:latin typeface="Arial"/>
                <a:ea typeface="Arial"/>
                <a:cs typeface="Arial"/>
              </a:rPr>
              <a:t>Discovery + security</a:t>
            </a:r>
          </a:p>
        </p:txBody>
      </p:sp>
      <p:sp>
        <p:nvSpPr>
          <p:cNvPr id="17" name="">
            <a:extLst xmlns:a="http://schemas.openxmlformats.org/drawingml/2006/main">
              <a:ext uri="{FF2B5EF4-FFF2-40B4-BE49-F238E27FC236}">
                <a16:creationId xmlns:a16="http://schemas.microsoft.com/office/drawing/2014/main" id="{B8A1364D-5824-47CF-A3F8-D727E6478038}"/>
              </a:ext>
            </a:extLst>
          </p:cNvPr>
          <p:cNvSpPr>
            <a:spLocks xmlns:a="http://schemas.openxmlformats.org/drawingml/2006/main" noGrp="1"/>
          </p:cNvSpPr>
          <p:nvPr/>
        </p:nvSpPr>
        <p:spPr>
          <a:xfrm xmlns:a="http://schemas.openxmlformats.org/drawingml/2006/main">
            <a:off x="3333750" y="4762500"/>
            <a:ext cx="32766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Replace static peer addresses; add auth and encrypted transport.</a:t>
            </a:r>
          </a:p>
        </p:txBody>
      </p:sp>
      <p:sp>
        <p:nvSpPr>
          <p:cNvPr id="18" name="">
            <a:extLst xmlns:a="http://schemas.openxmlformats.org/drawingml/2006/main">
              <a:ext uri="{FF2B5EF4-FFF2-40B4-BE49-F238E27FC236}">
                <a16:creationId xmlns:a16="http://schemas.microsoft.com/office/drawing/2014/main" id="{9D969C31-3442-4F8C-8351-21ACD07039FA}"/>
              </a:ext>
            </a:extLst>
          </p:cNvPr>
          <p:cNvSpPr>
            <a:spLocks xmlns:a="http://schemas.openxmlformats.org/drawingml/2006/main" noGrp="1"/>
          </p:cNvSpPr>
          <p:nvPr/>
        </p:nvSpPr>
        <p:spPr>
          <a:xfrm xmlns:a="http://schemas.openxmlformats.org/drawingml/2006/main">
            <a:off x="800100" y="5467350"/>
            <a:ext cx="5810250" cy="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19" name="">
            <a:extLst xmlns:a="http://schemas.openxmlformats.org/drawingml/2006/main">
              <a:ext uri="{FF2B5EF4-FFF2-40B4-BE49-F238E27FC236}">
                <a16:creationId xmlns:a16="http://schemas.microsoft.com/office/drawing/2014/main" id="{89B74D99-74A4-46E4-8ADF-CAC6D6A832FB}"/>
              </a:ext>
            </a:extLst>
          </p:cNvPr>
          <p:cNvSpPr>
            <a:spLocks xmlns:a="http://schemas.openxmlformats.org/drawingml/2006/main" noGrp="1"/>
          </p:cNvSpPr>
          <p:nvPr/>
        </p:nvSpPr>
        <p:spPr>
          <a:xfrm xmlns:a="http://schemas.openxmlformats.org/drawingml/2006/main">
            <a:off x="6991350" y="1600200"/>
            <a:ext cx="0" cy="4114800"/>
          </a:xfrm>
          <a:prstGeom xmlns:a="http://schemas.openxmlformats.org/drawingml/2006/main" prst="line">
            <a:avLst/>
          </a:prstGeom>
          <a:noFill xmlns:a="http://schemas.openxmlformats.org/drawingml/2006/main"/>
          <a:ln xmlns:a="http://schemas.openxmlformats.org/drawingml/2006/main" w="9525">
            <a:solidFill>
              <a:srgbClr val="29465B"/>
            </a:solidFill>
            <a:prstDash val="solid"/>
          </a:ln>
        </p:spPr>
      </p:sp>
      <p:sp>
        <p:nvSpPr>
          <p:cNvPr id="20" name="">
            <a:extLst xmlns:a="http://schemas.openxmlformats.org/drawingml/2006/main">
              <a:ext uri="{FF2B5EF4-FFF2-40B4-BE49-F238E27FC236}">
                <a16:creationId xmlns:a16="http://schemas.microsoft.com/office/drawing/2014/main" id="{0518F56A-69B7-4FE2-B6D2-6A83C6C9E32D}"/>
              </a:ext>
            </a:extLst>
          </p:cNvPr>
          <p:cNvSpPr>
            <a:spLocks xmlns:a="http://schemas.openxmlformats.org/drawingml/2006/main" noGrp="1"/>
          </p:cNvSpPr>
          <p:nvPr/>
        </p:nvSpPr>
        <p:spPr>
          <a:xfrm xmlns:a="http://schemas.openxmlformats.org/drawingml/2006/main">
            <a:off x="7477125" y="1628775"/>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7D3B2"/>
                </a:solidFill>
                <a:latin typeface="Arial"/>
                <a:ea typeface="Arial"/>
                <a:cs typeface="Arial"/>
              </a:defRPr>
            </a:defPPr>
          </a:lstStyle>
          <a:p xmlns:a="http://schemas.openxmlformats.org/drawingml/2006/main">
            <a:pPr algn="l">
              <a:defRPr sz="975" b="1">
                <a:solidFill>
                  <a:srgbClr val="27D3B2"/>
                </a:solidFill>
                <a:latin typeface="Arial"/>
                <a:ea typeface="Arial"/>
                <a:cs typeface="Arial"/>
              </a:defRPr>
            </a:pPr>
            <a:r>
              <a:rPr sz="975" b="1">
                <a:solidFill>
                  <a:srgbClr val="27D3B2"/>
                </a:solidFill>
                <a:latin typeface="Arial"/>
                <a:ea typeface="Arial"/>
                <a:cs typeface="Arial"/>
              </a:rPr>
              <a:t>VERIFIED PROJECT SCOPE</a:t>
            </a:r>
          </a:p>
        </p:txBody>
      </p:sp>
      <p:sp>
        <p:nvSpPr>
          <p:cNvPr id="21" name="">
            <a:extLst xmlns:a="http://schemas.openxmlformats.org/drawingml/2006/main">
              <a:ext uri="{FF2B5EF4-FFF2-40B4-BE49-F238E27FC236}">
                <a16:creationId xmlns:a16="http://schemas.microsoft.com/office/drawing/2014/main" id="{BABB1240-0B44-4FF9-9611-633660C7205C}"/>
              </a:ext>
            </a:extLst>
          </p:cNvPr>
          <p:cNvSpPr>
            <a:spLocks xmlns:a="http://schemas.openxmlformats.org/drawingml/2006/main" noGrp="1"/>
          </p:cNvSpPr>
          <p:nvPr/>
        </p:nvSpPr>
        <p:spPr>
          <a:xfrm xmlns:a="http://schemas.openxmlformats.org/drawingml/2006/main">
            <a:off x="7505700" y="193357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7D3B2"/>
                </a:solidFill>
                <a:latin typeface="Arial"/>
                <a:ea typeface="Arial"/>
                <a:cs typeface="Arial"/>
              </a:defRPr>
            </a:defPPr>
          </a:lstStyle>
          <a:p xmlns:a="http://schemas.openxmlformats.org/drawingml/2006/main">
            <a:pPr algn="l">
              <a:defRPr sz="1125" b="1">
                <a:solidFill>
                  <a:srgbClr val="27D3B2"/>
                </a:solidFill>
                <a:latin typeface="Arial"/>
                <a:ea typeface="Arial"/>
                <a:cs typeface="Arial"/>
              </a:defRPr>
            </a:pPr>
            <a:r>
              <a:rPr sz="1125" b="1">
                <a:solidFill>
                  <a:srgbClr val="27D3B2"/>
                </a:solidFill>
                <a:latin typeface="Arial"/>
                <a:ea typeface="Arial"/>
                <a:cs typeface="Arial"/>
              </a:rPr>
              <a:t>Today</a:t>
            </a:r>
          </a:p>
        </p:txBody>
      </p:sp>
      <p:sp>
        <p:nvSpPr>
          <p:cNvPr id="22" name="">
            <a:extLst xmlns:a="http://schemas.openxmlformats.org/drawingml/2006/main">
              <a:ext uri="{FF2B5EF4-FFF2-40B4-BE49-F238E27FC236}">
                <a16:creationId xmlns:a16="http://schemas.microsoft.com/office/drawing/2014/main" id="{7F4F6654-E43E-41A9-BC14-B10DA21BECF0}"/>
              </a:ext>
            </a:extLst>
          </p:cNvPr>
          <p:cNvSpPr>
            <a:spLocks xmlns:a="http://schemas.openxmlformats.org/drawingml/2006/main" noGrp="1"/>
          </p:cNvSpPr>
          <p:nvPr/>
        </p:nvSpPr>
        <p:spPr>
          <a:xfrm xmlns:a="http://schemas.openxmlformats.org/drawingml/2006/main">
            <a:off x="9029700" y="1933575"/>
            <a:ext cx="24193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Load-aware placement, 3 storage nodes and replica-aware downloads.</a:t>
            </a:r>
          </a:p>
        </p:txBody>
      </p:sp>
      <p:sp>
        <p:nvSpPr>
          <p:cNvPr id="23" name="">
            <a:extLst xmlns:a="http://schemas.openxmlformats.org/drawingml/2006/main">
              <a:ext uri="{FF2B5EF4-FFF2-40B4-BE49-F238E27FC236}">
                <a16:creationId xmlns:a16="http://schemas.microsoft.com/office/drawing/2014/main" id="{FD62C13D-2933-4367-821E-EA5EBE65918D}"/>
              </a:ext>
            </a:extLst>
          </p:cNvPr>
          <p:cNvSpPr>
            <a:spLocks xmlns:a="http://schemas.openxmlformats.org/drawingml/2006/main" noGrp="1"/>
          </p:cNvSpPr>
          <p:nvPr/>
        </p:nvSpPr>
        <p:spPr>
          <a:xfrm xmlns:a="http://schemas.openxmlformats.org/drawingml/2006/main">
            <a:off x="7505700" y="28765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7D3B2"/>
                </a:solidFill>
                <a:latin typeface="Arial"/>
                <a:ea typeface="Arial"/>
                <a:cs typeface="Arial"/>
              </a:defRPr>
            </a:defPPr>
          </a:lstStyle>
          <a:p xmlns:a="http://schemas.openxmlformats.org/drawingml/2006/main">
            <a:pPr algn="l">
              <a:defRPr sz="1125" b="1">
                <a:solidFill>
                  <a:srgbClr val="27D3B2"/>
                </a:solidFill>
                <a:latin typeface="Arial"/>
                <a:ea typeface="Arial"/>
                <a:cs typeface="Arial"/>
              </a:defRPr>
            </a:pPr>
            <a:r>
              <a:rPr sz="1125" b="1">
                <a:solidFill>
                  <a:srgbClr val="27D3B2"/>
                </a:solidFill>
                <a:latin typeface="Arial"/>
                <a:ea typeface="Arial"/>
                <a:cs typeface="Arial"/>
              </a:rPr>
              <a:t>Today</a:t>
            </a:r>
          </a:p>
        </p:txBody>
      </p:sp>
      <p:sp>
        <p:nvSpPr>
          <p:cNvPr id="24" name="">
            <a:extLst xmlns:a="http://schemas.openxmlformats.org/drawingml/2006/main">
              <a:ext uri="{FF2B5EF4-FFF2-40B4-BE49-F238E27FC236}">
                <a16:creationId xmlns:a16="http://schemas.microsoft.com/office/drawing/2014/main" id="{33E66F22-7E5D-4336-A46F-9212BE6A0009}"/>
              </a:ext>
            </a:extLst>
          </p:cNvPr>
          <p:cNvSpPr>
            <a:spLocks xmlns:a="http://schemas.openxmlformats.org/drawingml/2006/main" noGrp="1"/>
          </p:cNvSpPr>
          <p:nvPr/>
        </p:nvSpPr>
        <p:spPr>
          <a:xfrm xmlns:a="http://schemas.openxmlformats.org/drawingml/2006/main">
            <a:off x="9029700" y="2876550"/>
            <a:ext cx="24193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Chunked gRPC streams; SHA-256 values are calculated and stored.</a:t>
            </a:r>
          </a:p>
        </p:txBody>
      </p:sp>
      <p:sp>
        <p:nvSpPr>
          <p:cNvPr id="25" name="">
            <a:extLst xmlns:a="http://schemas.openxmlformats.org/drawingml/2006/main">
              <a:ext uri="{FF2B5EF4-FFF2-40B4-BE49-F238E27FC236}">
                <a16:creationId xmlns:a16="http://schemas.microsoft.com/office/drawing/2014/main" id="{E4BFAFB3-2402-4DAB-806B-F3C05B997106}"/>
              </a:ext>
            </a:extLst>
          </p:cNvPr>
          <p:cNvSpPr>
            <a:spLocks xmlns:a="http://schemas.openxmlformats.org/drawingml/2006/main" noGrp="1"/>
          </p:cNvSpPr>
          <p:nvPr/>
        </p:nvSpPr>
        <p:spPr>
          <a:xfrm xmlns:a="http://schemas.openxmlformats.org/drawingml/2006/main">
            <a:off x="7505700" y="381952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F17676"/>
                </a:solidFill>
                <a:latin typeface="Arial"/>
                <a:ea typeface="Arial"/>
                <a:cs typeface="Arial"/>
              </a:defRPr>
            </a:defPPr>
          </a:lstStyle>
          <a:p xmlns:a="http://schemas.openxmlformats.org/drawingml/2006/main">
            <a:pPr algn="l">
              <a:defRPr sz="1125" b="1">
                <a:solidFill>
                  <a:srgbClr val="F17676"/>
                </a:solidFill>
                <a:latin typeface="Arial"/>
                <a:ea typeface="Arial"/>
                <a:cs typeface="Arial"/>
              </a:defRPr>
            </a:pPr>
            <a:r>
              <a:rPr sz="1125" b="1">
                <a:solidFill>
                  <a:srgbClr val="F17676"/>
                </a:solidFill>
                <a:latin typeface="Arial"/>
                <a:ea typeface="Arial"/>
                <a:cs typeface="Arial"/>
              </a:rPr>
              <a:t>Not implemented</a:t>
            </a:r>
          </a:p>
        </p:txBody>
      </p:sp>
      <p:sp>
        <p:nvSpPr>
          <p:cNvPr id="26" name="">
            <a:extLst xmlns:a="http://schemas.openxmlformats.org/drawingml/2006/main">
              <a:ext uri="{FF2B5EF4-FFF2-40B4-BE49-F238E27FC236}">
                <a16:creationId xmlns:a16="http://schemas.microsoft.com/office/drawing/2014/main" id="{92AD7A12-0A76-4CC2-8EC4-D7FACC9E8891}"/>
              </a:ext>
            </a:extLst>
          </p:cNvPr>
          <p:cNvSpPr>
            <a:spLocks xmlns:a="http://schemas.openxmlformats.org/drawingml/2006/main" noGrp="1"/>
          </p:cNvSpPr>
          <p:nvPr/>
        </p:nvSpPr>
        <p:spPr>
          <a:xfrm xmlns:a="http://schemas.openxmlformats.org/drawingml/2006/main">
            <a:off x="9029700" y="3819525"/>
            <a:ext cx="24193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Hash mismatches are not rejected; replica repair is not automatic.</a:t>
            </a:r>
          </a:p>
        </p:txBody>
      </p:sp>
      <p:sp>
        <p:nvSpPr>
          <p:cNvPr id="27" name="">
            <a:extLst xmlns:a="http://schemas.openxmlformats.org/drawingml/2006/main">
              <a:ext uri="{FF2B5EF4-FFF2-40B4-BE49-F238E27FC236}">
                <a16:creationId xmlns:a16="http://schemas.microsoft.com/office/drawing/2014/main" id="{1CC9A87D-8971-4351-9083-37F9D54327D5}"/>
              </a:ext>
            </a:extLst>
          </p:cNvPr>
          <p:cNvSpPr>
            <a:spLocks xmlns:a="http://schemas.openxmlformats.org/drawingml/2006/main" noGrp="1"/>
          </p:cNvSpPr>
          <p:nvPr/>
        </p:nvSpPr>
        <p:spPr>
          <a:xfrm xmlns:a="http://schemas.openxmlformats.org/drawingml/2006/main">
            <a:off x="7505700" y="4762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F17676"/>
                </a:solidFill>
                <a:latin typeface="Arial"/>
                <a:ea typeface="Arial"/>
                <a:cs typeface="Arial"/>
              </a:defRPr>
            </a:defPPr>
          </a:lstStyle>
          <a:p xmlns:a="http://schemas.openxmlformats.org/drawingml/2006/main">
            <a:pPr algn="l">
              <a:defRPr sz="1125" b="1">
                <a:solidFill>
                  <a:srgbClr val="F17676"/>
                </a:solidFill>
                <a:latin typeface="Arial"/>
                <a:ea typeface="Arial"/>
                <a:cs typeface="Arial"/>
              </a:defRPr>
            </a:pPr>
            <a:r>
              <a:rPr sz="1125" b="1">
                <a:solidFill>
                  <a:srgbClr val="F17676"/>
                </a:solidFill>
                <a:latin typeface="Arial"/>
                <a:ea typeface="Arial"/>
                <a:cs typeface="Arial"/>
              </a:rPr>
              <a:t>Not included</a:t>
            </a:r>
          </a:p>
        </p:txBody>
      </p:sp>
      <p:sp>
        <p:nvSpPr>
          <p:cNvPr id="28" name="">
            <a:extLst xmlns:a="http://schemas.openxmlformats.org/drawingml/2006/main">
              <a:ext uri="{FF2B5EF4-FFF2-40B4-BE49-F238E27FC236}">
                <a16:creationId xmlns:a16="http://schemas.microsoft.com/office/drawing/2014/main" id="{B210A02D-308E-469B-BFA0-4A6E87200C88}"/>
              </a:ext>
            </a:extLst>
          </p:cNvPr>
          <p:cNvSpPr>
            <a:spLocks xmlns:a="http://schemas.openxmlformats.org/drawingml/2006/main" noGrp="1"/>
          </p:cNvSpPr>
          <p:nvPr/>
        </p:nvSpPr>
        <p:spPr>
          <a:xfrm xmlns:a="http://schemas.openxmlformats.org/drawingml/2006/main">
            <a:off x="9029700" y="4762500"/>
            <a:ext cx="24193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8BDCC"/>
                </a:solidFill>
                <a:latin typeface="Arial"/>
                <a:ea typeface="Arial"/>
                <a:cs typeface="Arial"/>
              </a:defRPr>
            </a:defPPr>
          </a:lstStyle>
          <a:p xmlns:a="http://schemas.openxmlformats.org/drawingml/2006/main">
            <a:pPr algn="l">
              <a:defRPr sz="1200" b="0">
                <a:solidFill>
                  <a:srgbClr val="A8BDCC"/>
                </a:solidFill>
                <a:latin typeface="Arial"/>
                <a:ea typeface="Arial"/>
                <a:cs typeface="Arial"/>
              </a:defRPr>
            </a:pPr>
            <a:r>
              <a:rPr sz="1200" b="0">
                <a:solidFill>
                  <a:srgbClr val="A8BDCC"/>
                </a:solidFill>
                <a:latin typeface="Arial"/>
                <a:ea typeface="Arial"/>
                <a:cs typeface="Arial"/>
              </a:rPr>
              <a:t>No HA cluster or Kubernetes manifests in this repository.</a:t>
            </a:r>
          </a:p>
        </p:txBody>
      </p:sp>
    </p:spTree>
    <p:extLst>
      <p:ext uri="{BB962C8B-B14F-4D97-AF65-F5344CB8AC3E}">
        <p14:creationId xmlns:p14="http://schemas.microsoft.com/office/powerpoint/2010/main" val="222961128"/>
      </p:ext>
    </p:extLst>
  </p:cSld>
</p:sld>
</file>

<file path=ppt/theme/theme1.xml><?xml version="1.0" encoding="utf-8"?>
<a:theme xmlns:a="http://schemas.openxmlformats.org/drawingml/2006/main" name="ChatGPT">
  <a:themeElements>
    <a:clrScheme name="Model Repository">
      <a:dk1>
        <a:srgbClr val="000000"/>
      </a:dk1>
      <a:lt1>
        <a:srgbClr val="FFFFFF"/>
      </a:lt1>
      <a:dk2>
        <a:srgbClr val="0A1220"/>
      </a:dk2>
      <a:lt2>
        <a:srgbClr val="E5EEF4"/>
      </a:lt2>
      <a:accent1>
        <a:srgbClr val="27D3B2"/>
      </a:accent1>
      <a:accent2>
        <a:srgbClr val="F4B860"/>
      </a:accent2>
      <a:accent3>
        <a:srgbClr val="6FB7FF"/>
      </a:accent3>
      <a:accent4>
        <a:srgbClr val="B5A2FF"/>
      </a:accent4>
      <a:accent5>
        <a:srgbClr val="F17676"/>
      </a:accent5>
      <a:accent6>
        <a:srgbClr val="FFFFFF"/>
      </a:accent6>
      <a:hlink>
        <a:srgbClr val="27D3B2"/>
      </a:hlink>
      <a:folHlink>
        <a:srgbClr val="B5A2FF"/>
      </a:folHlink>
    </a:clrScheme>
    <a:fontScheme name="">
      <a:majorFont>
        <a:latin typeface="Aptos"/>
        <a:ea typeface=""/>
        <a:cs typeface=""/>
      </a:majorFont>
      <a:minorFont>
        <a:latin typeface="Aptos"/>
        <a:ea typeface=""/>
        <a:cs typeface=""/>
      </a:minorFont>
    </a:fontScheme>
    <a:fmtScheme name="Model Repositor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2026-10-12T17:46:59.4250000Z</dcterms:created>
  <dcterms:modified xsi:type="dcterms:W3CDTF">2026-10-12T17:46:59.4250000Z</dcterms:modified>
</coreProperties>
</file>